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1C"/>
                </a:solidFill>
                <a:latin typeface="Calibri"/>
              </a:defRPr>
            </a:pPr>
            <a:r>
              <a:rPr sz="1400" b="0" i="0" u="none" strike="noStrike">
                <a:solidFill>
                  <a:srgbClr val="15231C"/>
                </a:solidFill>
                <a:latin typeface="Calibri"/>
              </a:rPr>
              <a:t>NDVI distribution across plots</a:t>
            </a:r>
          </a:p>
        </c:rich>
      </c:tx>
      <c:layout/>
      <c:overlay val="0"/>
    </c:title>
    <c:autoTitleDeleted val="0"/>
    <c:plotArea>
      <c:layout/>
      <c:barChart>
        <c:barDir val="col"/>
        <c:grouping val="clustered"/>
        <c:varyColors val="0"/>
        <c:ser>
          <c:idx val="0"/>
          <c:order val="0"/>
          <c:tx>
            <c:strRef>
              <c:f>Sheet1!$B$1</c:f>
              <c:strCache>
                <c:ptCount val="1"/>
                <c:pt idx="0">
                  <c:v>Plots</c:v>
                </c:pt>
              </c:strCache>
            </c:strRef>
          </c:tx>
          <c:spPr>
            <a:solidFill>
              <a:srgbClr val="1F8A5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0.25</c:v>
                  </c:pt>
                  <c:pt idx="1">
                    <c:v>0.30</c:v>
                  </c:pt>
                  <c:pt idx="2">
                    <c:v>0.34</c:v>
                  </c:pt>
                  <c:pt idx="3">
                    <c:v>0.39</c:v>
                  </c:pt>
                  <c:pt idx="4">
                    <c:v>0.43</c:v>
                  </c:pt>
                  <c:pt idx="5">
                    <c:v>0.48</c:v>
                  </c:pt>
                  <c:pt idx="6">
                    <c:v>0.53</c:v>
                  </c:pt>
                  <c:pt idx="7">
                    <c:v>0.57</c:v>
                  </c:pt>
                  <c:pt idx="8">
                    <c:v>0.62</c:v>
                  </c:pt>
                  <c:pt idx="9">
                    <c:v>0.66</c:v>
                  </c:pt>
                  <c:pt idx="10">
                    <c:v>0.71</c:v>
                  </c:pt>
                  <c:pt idx="11">
                    <c:v>0.75</c:v>
                  </c:pt>
                </c:lvl>
              </c:multiLvlStrCache>
            </c:multiLvlStrRef>
          </c:cat>
          <c:val>
            <c:numRef>
              <c:f>Sheet1!$B$2:$B$13</c:f>
              <c:numCache>
                <c:formatCode>General</c:formatCode>
                <c:ptCount val="12"/>
                <c:pt idx="0">
                  <c:v>3</c:v>
                </c:pt>
                <c:pt idx="1">
                  <c:v>9</c:v>
                </c:pt>
                <c:pt idx="2">
                  <c:v>9</c:v>
                </c:pt>
                <c:pt idx="3">
                  <c:v>35</c:v>
                </c:pt>
                <c:pt idx="4">
                  <c:v>70</c:v>
                </c:pt>
                <c:pt idx="5">
                  <c:v>101</c:v>
                </c:pt>
                <c:pt idx="6">
                  <c:v>199</c:v>
                </c:pt>
                <c:pt idx="7">
                  <c:v>209</c:v>
                </c:pt>
                <c:pt idx="8">
                  <c:v>158</c:v>
                </c:pt>
                <c:pt idx="9">
                  <c:v>152</c:v>
                </c:pt>
                <c:pt idx="10">
                  <c:v>44</c:v>
                </c:pt>
                <c:pt idx="11">
                  <c:v>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E6B64"/>
                    </a:solidFill>
                    <a:latin typeface="Arial"/>
                  </a:defRPr>
                </a:pPr>
                <a:r>
                  <a:rPr sz="1100" b="0" i="0" u="none" strike="noStrike">
                    <a:solidFill>
                      <a:srgbClr val="5E6B64"/>
                    </a:solidFill>
                    <a:latin typeface="Arial"/>
                  </a:rPr>
                  <a:t>NDVI (crop vigour)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B6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A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B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1C"/>
                </a:solidFill>
                <a:latin typeface="Calibri"/>
              </a:defRPr>
            </a:pPr>
            <a:r>
              <a:rPr sz="1400" b="0" i="0" u="none" strike="noStrike">
                <a:solidFill>
                  <a:srgbClr val="15231C"/>
                </a:solidFill>
                <a:latin typeface="Calibri"/>
              </a:rPr>
              <a:t>R² on unseen plots (higher is better)</a:t>
            </a:r>
          </a:p>
        </c:rich>
      </c:tx>
      <c:layout/>
      <c:overlay val="0"/>
    </c:title>
    <c:autoTitleDeleted val="0"/>
    <c:plotArea>
      <c:layout/>
      <c:barChart>
        <c:barDir val="bar"/>
        <c:grouping val="clustered"/>
        <c:varyColors val="0"/>
        <c:ser>
          <c:idx val="0"/>
          <c:order val="0"/>
          <c:tx>
            <c:strRef>
              <c:f>Sheet1!$B$1</c:f>
              <c:strCache>
                <c:ptCount val="1"/>
                <c:pt idx="0">
                  <c:v>SMA model</c:v>
                </c:pt>
              </c:strCache>
            </c:strRef>
          </c:tx>
          <c:spPr>
            <a:solidFill>
              <a:srgbClr val="1F8A58"/>
            </a:solidFill>
            <a:effectLst/>
          </c:spPr>
          <c:invertIfNegative val="0"/>
          <c:dLbls>
            <c:numFmt formatCode="0.00" sourceLinked="0"/>
            <c:txPr>
              <a:bodyPr/>
              <a:lstStyle/>
              <a:p>
                <a:pPr>
                  <a:defRPr b="0" i="0" strike="noStrike" sz="1000" u="none">
                    <a:solidFill>
                      <a:srgbClr val="15231C"/>
                    </a:solidFill>
                    <a:latin typeface="Arial"/>
                  </a:defRPr>
                </a:pPr>
              </a:p>
            </c:txPr>
            <c:showLegendKey val="0"/>
            <c:showVal val="1"/>
            <c:showCatName val="0"/>
            <c:showSerName val="0"/>
            <c:showPercent val="0"/>
            <c:showBubbleSize val="0"/>
            <c:showLeaderLines val="0"/>
          </c:dLbls>
          <c:cat>
            <c:multiLvlStrRef>
              <c:f>Sheet1!$A$2:$A$6</c:f>
              <c:multiLvlStrCache>
                <c:ptCount val="5"/>
                <c:lvl>
                  <c:pt idx="0">
                    <c:v>Next irrigation</c:v>
                  </c:pt>
                  <c:pt idx="1">
                    <c:v>Water requirement</c:v>
                  </c:pt>
                  <c:pt idx="2">
                    <c:v>Irrigation depth</c:v>
                  </c:pt>
                  <c:pt idx="3">
                    <c:v>Cane yield</c:v>
                  </c:pt>
                  <c:pt idx="4">
                    <c:v>Yield loss (delay)</c:v>
                  </c:pt>
                </c:lvl>
              </c:multiLvlStrCache>
            </c:multiLvlStrRef>
          </c:cat>
          <c:val>
            <c:numRef>
              <c:f>Sheet1!$B$2:$B$6</c:f>
              <c:numCache>
                <c:formatCode>General</c:formatCode>
                <c:ptCount val="5"/>
                <c:pt idx="0">
                  <c:v>0.9646</c:v>
                </c:pt>
                <c:pt idx="1">
                  <c:v>0.9768</c:v>
                </c:pt>
                <c:pt idx="2">
                  <c:v>0.9745</c:v>
                </c:pt>
                <c:pt idx="3">
                  <c:v>0.8918</c:v>
                </c:pt>
                <c:pt idx="4">
                  <c:v>0.9755</c:v>
                </c:pt>
              </c:numCache>
            </c:numRef>
          </c:val>
        </c:ser>
        <c:ser>
          <c:idx val="1"/>
          <c:order val="1"/>
          <c:tx>
            <c:strRef>
              <c:f>Sheet1!$C$1</c:f>
              <c:strCache>
                <c:ptCount val="1"/>
                <c:pt idx="0">
                  <c:v>Linear baseline</c:v>
                </c:pt>
              </c:strCache>
            </c:strRef>
          </c:tx>
          <c:spPr>
            <a:solidFill>
              <a:srgbClr val="B9C4BE"/>
            </a:solidFill>
            <a:effectLst/>
          </c:spPr>
          <c:invertIfNegative val="0"/>
          <c:dLbls>
            <c:numFmt formatCode="0.00" sourceLinked="0"/>
            <c:txPr>
              <a:bodyPr/>
              <a:lstStyle/>
              <a:p>
                <a:pPr>
                  <a:defRPr b="0" i="0" strike="noStrike" sz="1000" u="none">
                    <a:solidFill>
                      <a:srgbClr val="15231C"/>
                    </a:solidFill>
                    <a:latin typeface="Arial"/>
                  </a:defRPr>
                </a:pPr>
              </a:p>
            </c:txPr>
            <c:showLegendKey val="0"/>
            <c:showVal val="1"/>
            <c:showCatName val="0"/>
            <c:showSerName val="0"/>
            <c:showPercent val="0"/>
            <c:showBubbleSize val="0"/>
            <c:showLeaderLines val="0"/>
          </c:dLbls>
          <c:cat>
            <c:multiLvlStrRef>
              <c:f>Sheet1!$A$2:$A$6</c:f>
              <c:multiLvlStrCache>
                <c:ptCount val="5"/>
                <c:lvl>
                  <c:pt idx="0">
                    <c:v>Next irrigation</c:v>
                  </c:pt>
                  <c:pt idx="1">
                    <c:v>Water requirement</c:v>
                  </c:pt>
                  <c:pt idx="2">
                    <c:v>Irrigation depth</c:v>
                  </c:pt>
                  <c:pt idx="3">
                    <c:v>Cane yield</c:v>
                  </c:pt>
                  <c:pt idx="4">
                    <c:v>Yield loss (delay)</c:v>
                  </c:pt>
                </c:lvl>
              </c:multiLvlStrCache>
            </c:multiLvlStrRef>
          </c:cat>
          <c:val>
            <c:numRef>
              <c:f>Sheet1!$C$2:$C$6</c:f>
              <c:numCache>
                <c:formatCode>General</c:formatCode>
                <c:ptCount val="5"/>
                <c:pt idx="0">
                  <c:v>0.7444</c:v>
                </c:pt>
                <c:pt idx="1">
                  <c:v>0.8843</c:v>
                </c:pt>
                <c:pt idx="2">
                  <c:v>0.6206</c:v>
                </c:pt>
                <c:pt idx="3">
                  <c:v>0.5709</c:v>
                </c:pt>
                <c:pt idx="4">
                  <c:v>0.499</c:v>
                </c:pt>
              </c:numCache>
            </c:numRef>
          </c:val>
        </c:ser>
        <c:dLbls>
          <c:numFmt formatCode="0.00" sourceLinked="0"/>
          <c:txPr>
            <a:bodyPr/>
            <a:lstStyle/>
            <a:p>
              <a:pPr>
                <a:defRPr b="0" i="0" strike="noStrike" sz="1000" u="none">
                  <a:solidFill>
                    <a:srgbClr val="15231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5231C"/>
                </a:solidFill>
                <a:latin typeface="Arial"/>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E6B6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Good morning, Professor. We are Kartik Verma and Kushal Soni. Our project is SMA, the Smart Moisture Advisor. It is our solution to use case KJS-AGR-01, an irrigation advisory system for sugarcane.
In one line: SMA takes satellite, soil and weather data for every geofenced plot and tells the farmer when to irrigate, how long to run the pump, how much fertiliser to give, and what they lose if they wait. It speaks the farmer's own language.
We will cover the problem, our data and machine-learning approach, a live demo of the web platform, the results,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The problem statement from KIAAR and Godavari Biorefineries is simple. Between 18 and 25 thousand farmers grow sugarcane in this network. One sugarcane crop needs 1,500 to 2,500 millimetres of water, and today farmers decide when to irrigate from experience.
That leads to two opposite mistakes. Over-irrigation wastes water, electricity and fertiliser. Delayed irrigation causes moisture stress and lost yield. With thousands of scattered plots, no field team can watch every farm.
So the question we set out to answer was: can we give every plot its own scientific irrigation decision, automatically,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SMA answers four practical questions for every plot. When should I irrigate? How long should the pump run? How much fertiliser should I apply this week? And what will it cost me if I wait?
The pipeline underneath is shown at the bottom. Satellite and soil data go into seven machine-learning models. A decision engine adds rain adjustment, fertigation rules and pump scheduling. The output is a plain-language advisory in English, Kannada, Hindi or Marathi.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The dataset has 1,000 geofenced sugarcane plots across 6 taluks and 10 villages of Mandya district. For each plot we get NDVI, leaf area index, soil moisture, pH, organic carbon, rainfall, temperature, humidity and the plot boundary polygon.
Before modelling we audited the data. The most important finding: there are no labels. Nothing tells us when a plot was irrigated or what it yielded, so plain supervised learning is impossible. We also found 6 NDVI values missing because of cloud, which we filled with the village median. Three columns are constant, and the weather variables are strongly correlated with each other. The chart shows NDVI is fairly normal, centred around 0.58.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This is the key idea of the project. Since there are no labels, we used agronomic science to create them. This approach is called physics-informed machine learning.
We took every real plot and generated 12 seasonal scenarios: different crop ages, heat waves, dry spells and rain forecasts. That gives 12,000 training rows. For each row we computed the ground truth with FAO-56, the international standard for crop water balance, and FAO-33 for how yield responds to water stress. Then we added realistic noise, so the models learn patterns and not just the formula.
Why not use the formula directly? Three reasons. First, when KIAAR provides real irrigation logs, we retrain on real labels with one command and no code changes. Second, the ensembles give us uncertainty and explanations. Third, they cope better with noisy and missing sensor data.
We split train and test by plot, so the model is always tested on plots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Here are the results on 200 plots the models never saw. The chart compares R-squared of our models, in green, against a linear-regression baseline, in grey. Every model clearly beats its baseline. The biggest gains are for irrigation depth and yield loss, which are strongly non-linear. That is exactly why we chose tree ensembles.
Next irrigation date: R-squared 0.96, an average error of 0.7 days. The two classifiers, water stress and disease risk, reach about 87 to 88 percent accuracy, and most of their errors are between neighbouring classes such as mild versus moderate.
One engineering point: we export the trained trees to JSON and run them natively in Node.js. Automated tests confirm the JavaScript gives exactly the same predictions as Python. The whole region is scored in under a third of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The use-case document lists eleven AI models. This slide maps each one to what we built. Seven are machine-learning models. Pump scheduling is an optimisation algorithm. Fertigation and advisory generation are decision engines on top of the model outputs.
For the LLM-based advisory, we deliberately used templates in four languages for now. Every sentence is predictable and auditable, and the same structured output can be handed to an LLM later. We also added management zones, which group similar plots so agronomists can plan by zone.
Now Kushal will show you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[Kushal] This is the SMA web platform. It is built with Node.js and runs entirely on a laptop. On the overview page, the supervisor sees the whole region at a glance.
We selected the "Summer dry spell" scenario: seven dry days after the satellite pass and eight degrees hotter. The models now say 637 plots must irrigate today and 212 tomorrow. 204 plots are under moderate or severe stress, and about 790 tonnes of cane are at risk if irrigation slips by five days.
The irrigation calendar shows the water demand for the next 14 days, which helps the factory and the electricity department plan. At the top, these weather presets let us change conditions live. I will use them in the demo.
[DEMO: click "Satellite snapshot", then "Summer dry spell", and point at the KPI cards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[Kushal] Clicking any plot opens the Farm Advisor. For plot MM-MD-0110 the banner says: irrigate today, about 22 hours of pumping, 1,120 cubic metres of water.
Below that is the farmer advisory. The same content appears in Kannada, Hindi or Marathi, and it can be read aloud or copied as an SMS or WhatsApp message. On the right are the probabilities. We show the full distribution, not just a label, so the farmer sees how confident the model is.
Further down are the 14-day root-zone moisture projection, the yield-loss curve if irrigation is delayed, the fertigation plan and a "Why this advice?" panel. For example, it says soil moisture is the main reason irrigation came 4.8 days earlier.
Finally, farmers and supervisors can accept or override the advice. Every override is logged as training data. This is the human-in-the-loop design the use case asks for.
[DEMO: switch language to Kannada, press Read aloud, scroll to the charts, click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[Kushal] This is my favourite part of the demo. We keep the same dry spell, but the forecast now shows 40 millimetres of rain in the next three days.
Immediately, the 637 "irrigate today" alerts drop to zero. 894 plots are told to skip, because the rain will do the job. Water to pump this week falls from 387 thousand cubic metres to 62 thousand. About 218 thousand cubic metres of rainwater is used instead of pumped groundwater.
Technically, forecast rain is an input to the model. We also run a "no-rain" counterfactual prediction. If the rain moves the irrigation date, the advice changes to "skip". In production, this input would come from the IMD forecast API every day.
[DEMO: click "Dry spell + rain forecast" and show the KPI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[Kushal] Knowing who needs water is not enough. In Karnataka, farm pumps get three-phase power only for about seven hours a day, and a feeder can only run a limited number of pumps at once. So who should pump first?
We treat it as a scheduling problem. Each plot is a job. Its weight is the tonnes of cane at risk, predicted by our yield-loss model, and its length is the pumping time. We order jobs by weight divided by length. This is the Weighted Shortest Processing Time rule, or Smith's rule, which is optimal for minimising weighted completion time on one machine. Then we pack the jobs into the power windows.
For Hosur village over three days, compared with a first-come rotation, the optimised plan avoids about 5.4 tonnes of cane loss. It serves 7 of the 14 high-stress plots instead of 2, and finishes them 34 hours earlier on average. The Gantt chart shows the actual pump timetable.
[DEMO: open Pump Scheduler, click Optimise, toggle between "SMA optimised" and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[Kushal] What could this mean at scale? Under normal satellite conditions, the recommended schedule uses about 38 percent less water than the fixed practice of roughly 70 millimetres every 8 days. With drip irrigation the saving rises to about 56 percent. Across these 1,000 plots that is about 172 thousand cubic metres of water and 12,900 kilowatt-hours of pump energy every week.
Please note these are model estimates against a documented baseline, not field-measured results. Validating them in the field is the first item on our roadmap.
Beyond water, SMA gives early stress and disease alerts, fair pump timetables, and a 14-day water-demand forecast the factory can plan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[Kushal] The use case puts strong emphasis on responsible AI, so we designed for it from day one. For privacy, plots are addressed only by anonymised IDs and we store no personal data. For explainability, every advice shows why, with probabilities and uncertainty. For human-in-the-loop, farmers and agronomists can override any recommendation, and those overrides become retraining data.
We evaluated on unseen plots across all taluks. The API validates and clamps every input. And we are honest about the limits: until real field data arrives, our labels come from agronomy, and the app states this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A quick look at the architecture. Python and scikit-learn are used only for training. The trained trees are exported to JSON, so at runtime everything is Node.js with Express. There is no Python dependency and no external service. The frontend is a lightweight single-page app with Chart.js and Leaflet maps.
Everything is exposed as a REST API, so the STEPS platform or a mobile app could use the same advisories. We have 23 automated tests, including tests that prove the JavaScript and Python predictions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[Kartik] We want to be upfront about the limitations. Our labels come from agronomy, not field records. Crop age is estimated, because the real planting dates live in the STEPS platform. We have one satellite snapshot rather than a time series. The translations should be reviewed by native speakers.
The roadmap follows from this. First, connect IoT soil sensors and real irrigation logs, and retrain the same pipeline on ground truth. Second, add daily weather and Sentinel-2 feeds. Third, add an LLM on top of our structured output for WhatsApp and voice advisories. Then a mobile app, STEPS integration and, finally, automatic pump control inside the optimised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Thank you for listening. SMA is about giving every sugarcane plot the right water, at the right time. We would be happy to take questions, and we would love the chance to test SMA on real KIAAR field data.
[Keep the app open on the Overview page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2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914400"/>
            <a:ext cx="6949440" cy="4343400"/>
          </a:xfrm>
          <a:prstGeom prst="rect">
            <a:avLst/>
          </a:prstGeom>
        </p:spPr>
      </p:pic>
      <p:sp>
        <p:nvSpPr>
          <p:cNvPr id="3" name="Shape 0"/>
          <p:cNvSpPr/>
          <p:nvPr/>
        </p:nvSpPr>
        <p:spPr>
          <a:xfrm>
            <a:off x="0" y="0"/>
            <a:ext cx="6583680" cy="6858000"/>
          </a:xfrm>
          <a:prstGeom prst="rect">
            <a:avLst/>
          </a:prstGeom>
          <a:solidFill>
            <a:srgbClr val="0F2F22"/>
          </a:solidFill>
          <a:ln w="12700">
            <a:solidFill>
              <a:srgbClr val="0F2F22"/>
            </a:solidFill>
            <a:prstDash val="solid"/>
          </a:ln>
        </p:spPr>
      </p:sp>
      <p:sp>
        <p:nvSpPr>
          <p:cNvPr id="4" name="Shape 1"/>
          <p:cNvSpPr/>
          <p:nvPr/>
        </p:nvSpPr>
        <p:spPr>
          <a:xfrm>
            <a:off x="640080" y="731520"/>
            <a:ext cx="822960" cy="822960"/>
          </a:xfrm>
          <a:prstGeom prst="ellipse">
            <a:avLst/>
          </a:prstGeom>
          <a:solidFill>
            <a:srgbClr val="5FD49A"/>
          </a:solidFill>
          <a:ln w="12700">
            <a:solidFill>
              <a:srgbClr val="5FD49A"/>
            </a:solidFill>
            <a:prstDash val="solid"/>
          </a:ln>
        </p:spPr>
      </p:sp>
      <p:pic>
        <p:nvPicPr>
          <p:cNvPr id="5" name="Image 1" descr="preencoded.png">    </p:cNvPr>
          <p:cNvPicPr>
            <a:picLocks noChangeAspect="1"/>
          </p:cNvPicPr>
          <p:nvPr/>
        </p:nvPicPr>
        <p:blipFill>
          <a:blip r:embed="rId2"/>
          <a:stretch>
            <a:fillRect/>
          </a:stretch>
        </p:blipFill>
        <p:spPr>
          <a:xfrm>
            <a:off x="821131" y="912571"/>
            <a:ext cx="460858" cy="460858"/>
          </a:xfrm>
          <a:prstGeom prst="rect">
            <a:avLst/>
          </a:prstGeom>
        </p:spPr>
      </p:pic>
      <p:sp>
        <p:nvSpPr>
          <p:cNvPr id="6" name="Text 2"/>
          <p:cNvSpPr txBox="1"/>
          <p:nvPr/>
        </p:nvSpPr>
        <p:spPr>
          <a:xfrm>
            <a:off x="640080" y="1828800"/>
            <a:ext cx="5486400" cy="1005840"/>
          </a:xfrm>
          <a:prstGeom prst="rect">
            <a:avLst/>
          </a:prstGeom>
          <a:noFill/>
          <a:ln/>
        </p:spPr>
        <p:txBody>
          <a:bodyPr wrap="square" lIns="0" tIns="0" rIns="0" bIns="0" rtlCol="0" anchor="ctr"/>
          <a:lstStyle/>
          <a:p>
            <a:pPr indent="0" marL="0">
              <a:buNone/>
            </a:pPr>
            <a:r>
              <a:rPr lang="en-US" sz="7200" b="1" spc="400" kern="0" dirty="0">
                <a:solidFill>
                  <a:srgbClr val="FFFFFF"/>
                </a:solidFill>
                <a:latin typeface="Calibri" pitchFamily="34" charset="0"/>
                <a:ea typeface="Calibri" pitchFamily="34" charset="-122"/>
                <a:cs typeface="Calibri" pitchFamily="34" charset="-120"/>
              </a:rPr>
              <a:t>SMA</a:t>
            </a:r>
            <a:endParaRPr lang="en-US" sz="7200" dirty="0"/>
          </a:p>
        </p:txBody>
      </p:sp>
      <p:sp>
        <p:nvSpPr>
          <p:cNvPr id="7" name="Text 3"/>
          <p:cNvSpPr txBox="1"/>
          <p:nvPr/>
        </p:nvSpPr>
        <p:spPr>
          <a:xfrm>
            <a:off x="640080" y="2788920"/>
            <a:ext cx="5760720" cy="548640"/>
          </a:xfrm>
          <a:prstGeom prst="rect">
            <a:avLst/>
          </a:prstGeom>
          <a:noFill/>
          <a:ln/>
        </p:spPr>
        <p:txBody>
          <a:bodyPr wrap="square" lIns="0" tIns="0" rIns="0" bIns="0" rtlCol="0" anchor="ctr"/>
          <a:lstStyle/>
          <a:p>
            <a:pPr indent="0" marL="0">
              <a:buNone/>
            </a:pPr>
            <a:r>
              <a:rPr lang="en-US" sz="2800" b="1" dirty="0">
                <a:solidFill>
                  <a:srgbClr val="5FD49A"/>
                </a:solidFill>
                <a:latin typeface="Calibri" pitchFamily="34" charset="0"/>
                <a:ea typeface="Calibri" pitchFamily="34" charset="-122"/>
                <a:cs typeface="Calibri" pitchFamily="34" charset="-120"/>
              </a:rPr>
              <a:t>Smart Moisture Advisor</a:t>
            </a:r>
            <a:endParaRPr lang="en-US" sz="2800" dirty="0"/>
          </a:p>
        </p:txBody>
      </p:sp>
      <p:sp>
        <p:nvSpPr>
          <p:cNvPr id="8" name="Text 4"/>
          <p:cNvSpPr txBox="1"/>
          <p:nvPr/>
        </p:nvSpPr>
        <p:spPr>
          <a:xfrm>
            <a:off x="640080" y="3474720"/>
            <a:ext cx="5577840" cy="914400"/>
          </a:xfrm>
          <a:prstGeom prst="rect">
            <a:avLst/>
          </a:prstGeom>
          <a:noFill/>
          <a:ln/>
        </p:spPr>
        <p:txBody>
          <a:bodyPr wrap="square" lIns="0" tIns="0" rIns="0" bIns="0" rtlCol="0" anchor="ctr"/>
          <a:lstStyle/>
          <a:p>
            <a:pPr indent="0" marL="0">
              <a:buNone/>
            </a:pPr>
            <a:r>
              <a:rPr lang="en-US" sz="1600" dirty="0">
                <a:solidFill>
                  <a:srgbClr val="D8EADF"/>
                </a:solidFill>
                <a:latin typeface="Calibri" pitchFamily="34" charset="0"/>
                <a:ea typeface="Calibri" pitchFamily="34" charset="-122"/>
                <a:cs typeface="Calibri" pitchFamily="34" charset="-120"/>
              </a:rPr>
              <a:t>AI-driven irrigation advisory for sugarcane - when to irrigate, how long, how much fertiliser, and what is at stake if you wait.</a:t>
            </a:r>
            <a:endParaRPr lang="en-US" sz="1600" dirty="0"/>
          </a:p>
        </p:txBody>
      </p:sp>
      <p:sp>
        <p:nvSpPr>
          <p:cNvPr id="9" name="Text 5"/>
          <p:cNvSpPr txBox="1"/>
          <p:nvPr/>
        </p:nvSpPr>
        <p:spPr>
          <a:xfrm>
            <a:off x="640080" y="4754880"/>
            <a:ext cx="5669280" cy="731520"/>
          </a:xfrm>
          <a:prstGeom prst="rect">
            <a:avLst/>
          </a:prstGeom>
          <a:noFill/>
          <a:ln/>
        </p:spPr>
        <p:txBody>
          <a:bodyPr wrap="square" lIns="0" tIns="0" rIns="0" bIns="0" rtlCol="0" anchor="ctr"/>
          <a:lstStyle/>
          <a:p>
            <a:pPr indent="0" marL="0">
              <a:buNone/>
            </a:pPr>
            <a:r>
              <a:rPr lang="en-US" sz="1200" dirty="0">
                <a:solidFill>
                  <a:srgbClr val="9FC2AE"/>
                </a:solidFill>
                <a:latin typeface="Calibri" pitchFamily="34" charset="0"/>
                <a:ea typeface="Calibri" pitchFamily="34" charset="-122"/>
                <a:cs typeface="Calibri" pitchFamily="34" charset="-120"/>
              </a:rPr>
              <a:t>Presented by</a:t>
            </a:r>
            <a:endParaRPr lang="en-US" sz="1200" dirty="0"/>
          </a:p>
          <a:p>
            <a:pPr indent="0" marL="0">
              <a:buNone/>
            </a:pPr>
            <a:r>
              <a:rPr lang="en-US" sz="2000" b="1" dirty="0">
                <a:solidFill>
                  <a:srgbClr val="FFFFFF"/>
                </a:solidFill>
                <a:latin typeface="Calibri" pitchFamily="34" charset="0"/>
                <a:ea typeface="Calibri" pitchFamily="34" charset="-122"/>
                <a:cs typeface="Calibri" pitchFamily="34" charset="-120"/>
              </a:rPr>
              <a:t>Kartik Verma  ·  Kushal Soni</a:t>
            </a:r>
            <a:endParaRPr lang="en-US" sz="1200" dirty="0"/>
          </a:p>
        </p:txBody>
      </p:sp>
      <p:sp>
        <p:nvSpPr>
          <p:cNvPr id="10" name="Text 6"/>
          <p:cNvSpPr txBox="1"/>
          <p:nvPr/>
        </p:nvSpPr>
        <p:spPr>
          <a:xfrm>
            <a:off x="640080" y="5989320"/>
            <a:ext cx="5760720" cy="457200"/>
          </a:xfrm>
          <a:prstGeom prst="rect">
            <a:avLst/>
          </a:prstGeom>
          <a:noFill/>
          <a:ln/>
        </p:spPr>
        <p:txBody>
          <a:bodyPr wrap="square" lIns="0" tIns="0" rIns="0" bIns="0" rtlCol="0" anchor="ctr"/>
          <a:lstStyle/>
          <a:p>
            <a:pPr indent="0" marL="0">
              <a:buNone/>
            </a:pPr>
            <a:r>
              <a:rPr lang="en-US" sz="1100" dirty="0">
                <a:solidFill>
                  <a:srgbClr val="9FC2AE"/>
                </a:solidFill>
                <a:latin typeface="Calibri" pitchFamily="34" charset="0"/>
                <a:ea typeface="Calibri" pitchFamily="34" charset="-122"/>
                <a:cs typeface="Calibri" pitchFamily="34" charset="-120"/>
              </a:rPr>
              <a:t>Use case KJS-AGR-01 · K J Somaiya Institute of Technology × KIAAR × Godavari Biorefineries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Irrigation today is guesswork</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Sugarcane is one of India's thirstiest crops, and most irrigation decisions come from habit, not data</a:t>
            </a:r>
            <a:endParaRPr lang="en-US" sz="1500" dirty="0"/>
          </a:p>
        </p:txBody>
      </p:sp>
      <p:sp>
        <p:nvSpPr>
          <p:cNvPr id="4" name="Shape 2"/>
          <p:cNvSpPr/>
          <p:nvPr/>
        </p:nvSpPr>
        <p:spPr>
          <a:xfrm>
            <a:off x="548640" y="1691640"/>
            <a:ext cx="3931920" cy="1280160"/>
          </a:xfrm>
          <a:prstGeom prst="roundRect">
            <a:avLst>
              <a:gd name="adj" fmla="val 8571"/>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777240" y="1856232"/>
            <a:ext cx="3566160" cy="640080"/>
          </a:xfrm>
          <a:prstGeom prst="rect">
            <a:avLst/>
          </a:prstGeom>
          <a:noFill/>
          <a:ln/>
        </p:spPr>
        <p:txBody>
          <a:bodyPr wrap="square" lIns="0" tIns="0" rIns="0" bIns="0" rtlCol="0" anchor="ctr"/>
          <a:lstStyle/>
          <a:p>
            <a:pPr indent="0" marL="0">
              <a:buNone/>
            </a:pPr>
            <a:r>
              <a:rPr lang="en-US" sz="3400" b="1" dirty="0">
                <a:solidFill>
                  <a:srgbClr val="1F8A58"/>
                </a:solidFill>
                <a:latin typeface="Calibri" pitchFamily="34" charset="0"/>
                <a:ea typeface="Calibri" pitchFamily="34" charset="-122"/>
                <a:cs typeface="Calibri" pitchFamily="34" charset="-120"/>
              </a:rPr>
              <a:t>18-25k</a:t>
            </a:r>
            <a:endParaRPr lang="en-US" sz="3400" dirty="0"/>
          </a:p>
        </p:txBody>
      </p:sp>
      <p:sp>
        <p:nvSpPr>
          <p:cNvPr id="6" name="Text 4"/>
          <p:cNvSpPr txBox="1"/>
          <p:nvPr/>
        </p:nvSpPr>
        <p:spPr>
          <a:xfrm>
            <a:off x="777240" y="2478024"/>
            <a:ext cx="3566160" cy="365760"/>
          </a:xfrm>
          <a:prstGeom prst="rect">
            <a:avLst/>
          </a:prstGeom>
          <a:noFill/>
          <a:ln/>
        </p:spPr>
        <p:txBody>
          <a:bodyPr wrap="square" lIns="0" tIns="0" rIns="0" bIns="0" rtlCol="0" anchor="ctr"/>
          <a:lstStyle/>
          <a:p>
            <a:pPr indent="0" marL="0">
              <a:buNone/>
            </a:pPr>
            <a:r>
              <a:rPr lang="en-US" sz="1300" dirty="0">
                <a:solidFill>
                  <a:srgbClr val="15231C"/>
                </a:solidFill>
                <a:latin typeface="Calibri" pitchFamily="34" charset="0"/>
                <a:ea typeface="Calibri" pitchFamily="34" charset="-122"/>
                <a:cs typeface="Calibri" pitchFamily="34" charset="-120"/>
              </a:rPr>
              <a:t>sugarcane farmers in the GBL / KIAAR network</a:t>
            </a:r>
            <a:endParaRPr lang="en-US" sz="1300" dirty="0"/>
          </a:p>
        </p:txBody>
      </p:sp>
      <p:sp>
        <p:nvSpPr>
          <p:cNvPr id="7" name="Shape 5"/>
          <p:cNvSpPr/>
          <p:nvPr/>
        </p:nvSpPr>
        <p:spPr>
          <a:xfrm>
            <a:off x="548640" y="3172968"/>
            <a:ext cx="3931920" cy="1280160"/>
          </a:xfrm>
          <a:prstGeom prst="roundRect">
            <a:avLst>
              <a:gd name="adj" fmla="val 8571"/>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777240" y="3337560"/>
            <a:ext cx="3566160" cy="640080"/>
          </a:xfrm>
          <a:prstGeom prst="rect">
            <a:avLst/>
          </a:prstGeom>
          <a:noFill/>
          <a:ln/>
        </p:spPr>
        <p:txBody>
          <a:bodyPr wrap="square" lIns="0" tIns="0" rIns="0" bIns="0" rtlCol="0" anchor="ctr"/>
          <a:lstStyle/>
          <a:p>
            <a:pPr indent="0" marL="0">
              <a:buNone/>
            </a:pPr>
            <a:r>
              <a:rPr lang="en-US" sz="2800" b="1" dirty="0">
                <a:solidFill>
                  <a:srgbClr val="1F8A58"/>
                </a:solidFill>
                <a:latin typeface="Calibri" pitchFamily="34" charset="0"/>
                <a:ea typeface="Calibri" pitchFamily="34" charset="-122"/>
                <a:cs typeface="Calibri" pitchFamily="34" charset="-120"/>
              </a:rPr>
              <a:t>1,500-2,500 mm</a:t>
            </a:r>
            <a:endParaRPr lang="en-US" sz="2800" dirty="0"/>
          </a:p>
        </p:txBody>
      </p:sp>
      <p:sp>
        <p:nvSpPr>
          <p:cNvPr id="9" name="Text 7"/>
          <p:cNvSpPr txBox="1"/>
          <p:nvPr/>
        </p:nvSpPr>
        <p:spPr>
          <a:xfrm>
            <a:off x="777240" y="3959352"/>
            <a:ext cx="3566160" cy="365760"/>
          </a:xfrm>
          <a:prstGeom prst="rect">
            <a:avLst/>
          </a:prstGeom>
          <a:noFill/>
          <a:ln/>
        </p:spPr>
        <p:txBody>
          <a:bodyPr wrap="square" lIns="0" tIns="0" rIns="0" bIns="0" rtlCol="0" anchor="ctr"/>
          <a:lstStyle/>
          <a:p>
            <a:pPr indent="0" marL="0">
              <a:buNone/>
            </a:pPr>
            <a:r>
              <a:rPr lang="en-US" sz="1300" dirty="0">
                <a:solidFill>
                  <a:srgbClr val="15231C"/>
                </a:solidFill>
                <a:latin typeface="Calibri" pitchFamily="34" charset="0"/>
                <a:ea typeface="Calibri" pitchFamily="34" charset="-122"/>
                <a:cs typeface="Calibri" pitchFamily="34" charset="-120"/>
              </a:rPr>
              <a:t>water needed by one sugarcane crop (FAO)</a:t>
            </a:r>
            <a:endParaRPr lang="en-US" sz="1300" dirty="0"/>
          </a:p>
        </p:txBody>
      </p:sp>
      <p:sp>
        <p:nvSpPr>
          <p:cNvPr id="10" name="Shape 8"/>
          <p:cNvSpPr/>
          <p:nvPr/>
        </p:nvSpPr>
        <p:spPr>
          <a:xfrm>
            <a:off x="548640" y="4654296"/>
            <a:ext cx="3931920" cy="1280160"/>
          </a:xfrm>
          <a:prstGeom prst="roundRect">
            <a:avLst>
              <a:gd name="adj" fmla="val 8571"/>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777240" y="4818888"/>
            <a:ext cx="3566160" cy="640080"/>
          </a:xfrm>
          <a:prstGeom prst="rect">
            <a:avLst/>
          </a:prstGeom>
          <a:noFill/>
          <a:ln/>
        </p:spPr>
        <p:txBody>
          <a:bodyPr wrap="square" lIns="0" tIns="0" rIns="0" bIns="0" rtlCol="0" anchor="ctr"/>
          <a:lstStyle/>
          <a:p>
            <a:pPr indent="0" marL="0">
              <a:buNone/>
            </a:pPr>
            <a:r>
              <a:rPr lang="en-US" sz="3400" b="1" dirty="0">
                <a:solidFill>
                  <a:srgbClr val="1F8A58"/>
                </a:solidFill>
                <a:latin typeface="Calibri" pitchFamily="34" charset="0"/>
                <a:ea typeface="Calibri" pitchFamily="34" charset="-122"/>
                <a:cs typeface="Calibri" pitchFamily="34" charset="-120"/>
              </a:rPr>
              <a:t>1000s</a:t>
            </a:r>
            <a:endParaRPr lang="en-US" sz="3400" dirty="0"/>
          </a:p>
        </p:txBody>
      </p:sp>
      <p:sp>
        <p:nvSpPr>
          <p:cNvPr id="12" name="Text 10"/>
          <p:cNvSpPr txBox="1"/>
          <p:nvPr/>
        </p:nvSpPr>
        <p:spPr>
          <a:xfrm>
            <a:off x="777240" y="5440680"/>
            <a:ext cx="3566160" cy="365760"/>
          </a:xfrm>
          <a:prstGeom prst="rect">
            <a:avLst/>
          </a:prstGeom>
          <a:noFill/>
          <a:ln/>
        </p:spPr>
        <p:txBody>
          <a:bodyPr wrap="square" lIns="0" tIns="0" rIns="0" bIns="0" rtlCol="0" anchor="ctr"/>
          <a:lstStyle/>
          <a:p>
            <a:pPr indent="0" marL="0">
              <a:buNone/>
            </a:pPr>
            <a:r>
              <a:rPr lang="en-US" sz="1300" dirty="0">
                <a:solidFill>
                  <a:srgbClr val="15231C"/>
                </a:solidFill>
                <a:latin typeface="Calibri" pitchFamily="34" charset="0"/>
                <a:ea typeface="Calibri" pitchFamily="34" charset="-122"/>
                <a:cs typeface="Calibri" pitchFamily="34" charset="-120"/>
              </a:rPr>
              <a:t>scattered plots - impossible to monitor by hand</a:t>
            </a:r>
            <a:endParaRPr lang="en-US" sz="1300" dirty="0"/>
          </a:p>
        </p:txBody>
      </p:sp>
      <p:sp>
        <p:nvSpPr>
          <p:cNvPr id="13" name="Shape 11"/>
          <p:cNvSpPr/>
          <p:nvPr/>
        </p:nvSpPr>
        <p:spPr>
          <a:xfrm>
            <a:off x="4846320" y="1691640"/>
            <a:ext cx="3200400" cy="1280160"/>
          </a:xfrm>
          <a:prstGeom prst="roundRect">
            <a:avLst>
              <a:gd name="adj" fmla="val 857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5047488" y="1892808"/>
            <a:ext cx="548640" cy="548640"/>
          </a:xfrm>
          <a:prstGeom prst="ellipse">
            <a:avLst/>
          </a:prstGeom>
          <a:solidFill>
            <a:srgbClr val="D03B3B"/>
          </a:solidFill>
          <a:ln w="12700">
            <a:solidFill>
              <a:srgbClr val="D03B3B"/>
            </a:solidFill>
            <a:prstDash val="solid"/>
          </a:ln>
        </p:spPr>
      </p:sp>
      <p:pic>
        <p:nvPicPr>
          <p:cNvPr id="15" name="Image 0" descr="preencoded.png">    </p:cNvPr>
          <p:cNvPicPr>
            <a:picLocks noChangeAspect="1"/>
          </p:cNvPicPr>
          <p:nvPr/>
        </p:nvPicPr>
        <p:blipFill>
          <a:blip r:embed="rId1"/>
          <a:stretch>
            <a:fillRect/>
          </a:stretch>
        </p:blipFill>
        <p:spPr>
          <a:xfrm>
            <a:off x="5168189" y="2013509"/>
            <a:ext cx="307238" cy="307238"/>
          </a:xfrm>
          <a:prstGeom prst="rect">
            <a:avLst/>
          </a:prstGeom>
        </p:spPr>
      </p:pic>
      <p:sp>
        <p:nvSpPr>
          <p:cNvPr id="16" name="Text 13"/>
          <p:cNvSpPr txBox="1"/>
          <p:nvPr/>
        </p:nvSpPr>
        <p:spPr>
          <a:xfrm>
            <a:off x="5760720" y="1892808"/>
            <a:ext cx="2148840" cy="36576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Water wastage</a:t>
            </a:r>
            <a:endParaRPr lang="en-US" sz="1600" dirty="0"/>
          </a:p>
        </p:txBody>
      </p:sp>
      <p:sp>
        <p:nvSpPr>
          <p:cNvPr id="17" name="Text 14"/>
          <p:cNvSpPr txBox="1"/>
          <p:nvPr/>
        </p:nvSpPr>
        <p:spPr>
          <a:xfrm>
            <a:off x="5760720" y="2295144"/>
            <a:ext cx="21488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Over-irrigation drains aquifers and canals</a:t>
            </a:r>
            <a:endParaRPr lang="en-US" sz="1200" dirty="0"/>
          </a:p>
        </p:txBody>
      </p:sp>
      <p:sp>
        <p:nvSpPr>
          <p:cNvPr id="18" name="Shape 15"/>
          <p:cNvSpPr/>
          <p:nvPr/>
        </p:nvSpPr>
        <p:spPr>
          <a:xfrm>
            <a:off x="8275320" y="1691640"/>
            <a:ext cx="3200400" cy="1280160"/>
          </a:xfrm>
          <a:prstGeom prst="roundRect">
            <a:avLst>
              <a:gd name="adj" fmla="val 857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8476488" y="1892808"/>
            <a:ext cx="548640" cy="548640"/>
          </a:xfrm>
          <a:prstGeom prst="ellipse">
            <a:avLst/>
          </a:prstGeom>
          <a:solidFill>
            <a:srgbClr val="D03B3B"/>
          </a:solidFill>
          <a:ln w="12700">
            <a:solidFill>
              <a:srgbClr val="D03B3B"/>
            </a:solidFill>
            <a:prstDash val="solid"/>
          </a:ln>
        </p:spPr>
      </p:sp>
      <p:pic>
        <p:nvPicPr>
          <p:cNvPr id="20" name="Image 1" descr="preencoded.png">    </p:cNvPr>
          <p:cNvPicPr>
            <a:picLocks noChangeAspect="1"/>
          </p:cNvPicPr>
          <p:nvPr/>
        </p:nvPicPr>
        <p:blipFill>
          <a:blip r:embed="rId2"/>
          <a:stretch>
            <a:fillRect/>
          </a:stretch>
        </p:blipFill>
        <p:spPr>
          <a:xfrm>
            <a:off x="8597189" y="2013509"/>
            <a:ext cx="307238" cy="307238"/>
          </a:xfrm>
          <a:prstGeom prst="rect">
            <a:avLst/>
          </a:prstGeom>
        </p:spPr>
      </p:pic>
      <p:sp>
        <p:nvSpPr>
          <p:cNvPr id="21" name="Text 17"/>
          <p:cNvSpPr txBox="1"/>
          <p:nvPr/>
        </p:nvSpPr>
        <p:spPr>
          <a:xfrm>
            <a:off x="9189720" y="1892808"/>
            <a:ext cx="2148840" cy="36576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Yield loss</a:t>
            </a:r>
            <a:endParaRPr lang="en-US" sz="1600" dirty="0"/>
          </a:p>
        </p:txBody>
      </p:sp>
      <p:sp>
        <p:nvSpPr>
          <p:cNvPr id="22" name="Text 18"/>
          <p:cNvSpPr txBox="1"/>
          <p:nvPr/>
        </p:nvSpPr>
        <p:spPr>
          <a:xfrm>
            <a:off x="9189720" y="2295144"/>
            <a:ext cx="21488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Delayed irrigation → moisture stress</a:t>
            </a:r>
            <a:endParaRPr lang="en-US" sz="1200" dirty="0"/>
          </a:p>
        </p:txBody>
      </p:sp>
      <p:sp>
        <p:nvSpPr>
          <p:cNvPr id="23" name="Shape 19"/>
          <p:cNvSpPr/>
          <p:nvPr/>
        </p:nvSpPr>
        <p:spPr>
          <a:xfrm>
            <a:off x="4846320" y="3172968"/>
            <a:ext cx="3200400" cy="1280160"/>
          </a:xfrm>
          <a:prstGeom prst="roundRect">
            <a:avLst>
              <a:gd name="adj" fmla="val 857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4" name="Shape 20"/>
          <p:cNvSpPr/>
          <p:nvPr/>
        </p:nvSpPr>
        <p:spPr>
          <a:xfrm>
            <a:off x="5047488" y="3374136"/>
            <a:ext cx="548640" cy="548640"/>
          </a:xfrm>
          <a:prstGeom prst="ellipse">
            <a:avLst/>
          </a:prstGeom>
          <a:solidFill>
            <a:srgbClr val="EB6834"/>
          </a:solidFill>
          <a:ln w="12700">
            <a:solidFill>
              <a:srgbClr val="EB6834"/>
            </a:solidFill>
            <a:prstDash val="solid"/>
          </a:ln>
        </p:spPr>
      </p:sp>
      <p:pic>
        <p:nvPicPr>
          <p:cNvPr id="25" name="Image 2" descr="preencoded.png">    </p:cNvPr>
          <p:cNvPicPr>
            <a:picLocks noChangeAspect="1"/>
          </p:cNvPicPr>
          <p:nvPr/>
        </p:nvPicPr>
        <p:blipFill>
          <a:blip r:embed="rId3"/>
          <a:stretch>
            <a:fillRect/>
          </a:stretch>
        </p:blipFill>
        <p:spPr>
          <a:xfrm>
            <a:off x="5168189" y="3494837"/>
            <a:ext cx="307238" cy="307238"/>
          </a:xfrm>
          <a:prstGeom prst="rect">
            <a:avLst/>
          </a:prstGeom>
        </p:spPr>
      </p:pic>
      <p:sp>
        <p:nvSpPr>
          <p:cNvPr id="26" name="Text 21"/>
          <p:cNvSpPr txBox="1"/>
          <p:nvPr/>
        </p:nvSpPr>
        <p:spPr>
          <a:xfrm>
            <a:off x="5760720" y="3374136"/>
            <a:ext cx="2148840" cy="36576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Wasted electricity</a:t>
            </a:r>
            <a:endParaRPr lang="en-US" sz="1600" dirty="0"/>
          </a:p>
        </p:txBody>
      </p:sp>
      <p:sp>
        <p:nvSpPr>
          <p:cNvPr id="27" name="Text 22"/>
          <p:cNvSpPr txBox="1"/>
          <p:nvPr/>
        </p:nvSpPr>
        <p:spPr>
          <a:xfrm>
            <a:off x="5760720" y="3776472"/>
            <a:ext cx="21488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Pumps run hours longer than needed</a:t>
            </a:r>
            <a:endParaRPr lang="en-US" sz="1200" dirty="0"/>
          </a:p>
        </p:txBody>
      </p:sp>
      <p:sp>
        <p:nvSpPr>
          <p:cNvPr id="28" name="Shape 23"/>
          <p:cNvSpPr/>
          <p:nvPr/>
        </p:nvSpPr>
        <p:spPr>
          <a:xfrm>
            <a:off x="8275320" y="3172968"/>
            <a:ext cx="3200400" cy="1280160"/>
          </a:xfrm>
          <a:prstGeom prst="roundRect">
            <a:avLst>
              <a:gd name="adj" fmla="val 857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9" name="Shape 24"/>
          <p:cNvSpPr/>
          <p:nvPr/>
        </p:nvSpPr>
        <p:spPr>
          <a:xfrm>
            <a:off x="8476488" y="3374136"/>
            <a:ext cx="548640" cy="548640"/>
          </a:xfrm>
          <a:prstGeom prst="ellipse">
            <a:avLst/>
          </a:prstGeom>
          <a:solidFill>
            <a:srgbClr val="EB6834"/>
          </a:solidFill>
          <a:ln w="12700">
            <a:solidFill>
              <a:srgbClr val="EB6834"/>
            </a:solidFill>
            <a:prstDash val="solid"/>
          </a:ln>
        </p:spPr>
      </p:sp>
      <p:pic>
        <p:nvPicPr>
          <p:cNvPr id="30" name="Image 3" descr="preencoded.png">    </p:cNvPr>
          <p:cNvPicPr>
            <a:picLocks noChangeAspect="1"/>
          </p:cNvPicPr>
          <p:nvPr/>
        </p:nvPicPr>
        <p:blipFill>
          <a:blip r:embed="rId4"/>
          <a:stretch>
            <a:fillRect/>
          </a:stretch>
        </p:blipFill>
        <p:spPr>
          <a:xfrm>
            <a:off x="8597189" y="3494837"/>
            <a:ext cx="307238" cy="307238"/>
          </a:xfrm>
          <a:prstGeom prst="rect">
            <a:avLst/>
          </a:prstGeom>
        </p:spPr>
      </p:pic>
      <p:sp>
        <p:nvSpPr>
          <p:cNvPr id="31" name="Text 25"/>
          <p:cNvSpPr txBox="1"/>
          <p:nvPr/>
        </p:nvSpPr>
        <p:spPr>
          <a:xfrm>
            <a:off x="9189720" y="3374136"/>
            <a:ext cx="2148840" cy="36576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Nutrient losses</a:t>
            </a:r>
            <a:endParaRPr lang="en-US" sz="1600" dirty="0"/>
          </a:p>
        </p:txBody>
      </p:sp>
      <p:sp>
        <p:nvSpPr>
          <p:cNvPr id="32" name="Text 26"/>
          <p:cNvSpPr txBox="1"/>
          <p:nvPr/>
        </p:nvSpPr>
        <p:spPr>
          <a:xfrm>
            <a:off x="9189720" y="3776472"/>
            <a:ext cx="21488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Fertiliser leaches with excess water</a:t>
            </a:r>
            <a:endParaRPr lang="en-US" sz="1200" dirty="0"/>
          </a:p>
        </p:txBody>
      </p:sp>
      <p:sp>
        <p:nvSpPr>
          <p:cNvPr id="33" name="Shape 27"/>
          <p:cNvSpPr/>
          <p:nvPr/>
        </p:nvSpPr>
        <p:spPr>
          <a:xfrm>
            <a:off x="4846320" y="4654296"/>
            <a:ext cx="3200400" cy="1280160"/>
          </a:xfrm>
          <a:prstGeom prst="roundRect">
            <a:avLst>
              <a:gd name="adj" fmla="val 857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34" name="Shape 28"/>
          <p:cNvSpPr/>
          <p:nvPr/>
        </p:nvSpPr>
        <p:spPr>
          <a:xfrm>
            <a:off x="5047488" y="4855464"/>
            <a:ext cx="548640" cy="548640"/>
          </a:xfrm>
          <a:prstGeom prst="ellipse">
            <a:avLst/>
          </a:prstGeom>
          <a:solidFill>
            <a:srgbClr val="EB6834"/>
          </a:solidFill>
          <a:ln w="12700">
            <a:solidFill>
              <a:srgbClr val="EB6834"/>
            </a:solidFill>
            <a:prstDash val="solid"/>
          </a:ln>
        </p:spPr>
      </p:sp>
      <p:pic>
        <p:nvPicPr>
          <p:cNvPr id="35" name="Image 4" descr="preencoded.png">    </p:cNvPr>
          <p:cNvPicPr>
            <a:picLocks noChangeAspect="1"/>
          </p:cNvPicPr>
          <p:nvPr/>
        </p:nvPicPr>
        <p:blipFill>
          <a:blip r:embed="rId5"/>
          <a:stretch>
            <a:fillRect/>
          </a:stretch>
        </p:blipFill>
        <p:spPr>
          <a:xfrm>
            <a:off x="5168189" y="4976165"/>
            <a:ext cx="307238" cy="307238"/>
          </a:xfrm>
          <a:prstGeom prst="rect">
            <a:avLst/>
          </a:prstGeom>
        </p:spPr>
      </p:pic>
      <p:sp>
        <p:nvSpPr>
          <p:cNvPr id="36" name="Text 29"/>
          <p:cNvSpPr txBox="1"/>
          <p:nvPr/>
        </p:nvSpPr>
        <p:spPr>
          <a:xfrm>
            <a:off x="5760720" y="4855464"/>
            <a:ext cx="2148840" cy="36576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Higher costs</a:t>
            </a:r>
            <a:endParaRPr lang="en-US" sz="1600" dirty="0"/>
          </a:p>
        </p:txBody>
      </p:sp>
      <p:sp>
        <p:nvSpPr>
          <p:cNvPr id="37" name="Text 30"/>
          <p:cNvSpPr txBox="1"/>
          <p:nvPr/>
        </p:nvSpPr>
        <p:spPr>
          <a:xfrm>
            <a:off x="5760720" y="5257800"/>
            <a:ext cx="21488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Water, power and fertiliser all add up</a:t>
            </a:r>
            <a:endParaRPr lang="en-US" sz="1200" dirty="0"/>
          </a:p>
        </p:txBody>
      </p:sp>
      <p:sp>
        <p:nvSpPr>
          <p:cNvPr id="38" name="Shape 31"/>
          <p:cNvSpPr/>
          <p:nvPr/>
        </p:nvSpPr>
        <p:spPr>
          <a:xfrm>
            <a:off x="8275320" y="4654296"/>
            <a:ext cx="3200400" cy="1280160"/>
          </a:xfrm>
          <a:prstGeom prst="roundRect">
            <a:avLst>
              <a:gd name="adj" fmla="val 857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39" name="Shape 32"/>
          <p:cNvSpPr/>
          <p:nvPr/>
        </p:nvSpPr>
        <p:spPr>
          <a:xfrm>
            <a:off x="8476488" y="4855464"/>
            <a:ext cx="548640" cy="548640"/>
          </a:xfrm>
          <a:prstGeom prst="ellipse">
            <a:avLst/>
          </a:prstGeom>
          <a:solidFill>
            <a:srgbClr val="EB6834"/>
          </a:solidFill>
          <a:ln w="12700">
            <a:solidFill>
              <a:srgbClr val="EB6834"/>
            </a:solidFill>
            <a:prstDash val="solid"/>
          </a:ln>
        </p:spPr>
      </p:sp>
      <p:pic>
        <p:nvPicPr>
          <p:cNvPr id="40" name="Image 5" descr="preencoded.png">    </p:cNvPr>
          <p:cNvPicPr>
            <a:picLocks noChangeAspect="1"/>
          </p:cNvPicPr>
          <p:nvPr/>
        </p:nvPicPr>
        <p:blipFill>
          <a:blip r:embed="rId6"/>
          <a:stretch>
            <a:fillRect/>
          </a:stretch>
        </p:blipFill>
        <p:spPr>
          <a:xfrm>
            <a:off x="8597189" y="4976165"/>
            <a:ext cx="307238" cy="307238"/>
          </a:xfrm>
          <a:prstGeom prst="rect">
            <a:avLst/>
          </a:prstGeom>
        </p:spPr>
      </p:pic>
      <p:sp>
        <p:nvSpPr>
          <p:cNvPr id="41" name="Text 33"/>
          <p:cNvSpPr txBox="1"/>
          <p:nvPr/>
        </p:nvSpPr>
        <p:spPr>
          <a:xfrm>
            <a:off x="9189720" y="4855464"/>
            <a:ext cx="2148840" cy="36576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No visibility</a:t>
            </a:r>
            <a:endParaRPr lang="en-US" sz="1600" dirty="0"/>
          </a:p>
        </p:txBody>
      </p:sp>
      <p:sp>
        <p:nvSpPr>
          <p:cNvPr id="42" name="Text 34"/>
          <p:cNvSpPr txBox="1"/>
          <p:nvPr/>
        </p:nvSpPr>
        <p:spPr>
          <a:xfrm>
            <a:off x="9189720" y="5257800"/>
            <a:ext cx="21488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Factories cannot see field stress early</a:t>
            </a:r>
            <a:endParaRPr lang="en-US" sz="1200" dirty="0"/>
          </a:p>
        </p:txBody>
      </p:sp>
      <p:sp>
        <p:nvSpPr>
          <p:cNvPr id="43" name="Text 35"/>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SMA answers four questions for every plot</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From satellite pixels to a one-line instruction a farmer can act on</a:t>
            </a:r>
            <a:endParaRPr lang="en-US" sz="1500" dirty="0"/>
          </a:p>
        </p:txBody>
      </p:sp>
      <p:sp>
        <p:nvSpPr>
          <p:cNvPr id="4" name="Shape 2"/>
          <p:cNvSpPr/>
          <p:nvPr/>
        </p:nvSpPr>
        <p:spPr>
          <a:xfrm>
            <a:off x="548640" y="1645920"/>
            <a:ext cx="26060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874520"/>
            <a:ext cx="640080" cy="640080"/>
          </a:xfrm>
          <a:prstGeom prst="ellipse">
            <a:avLst/>
          </a:prstGeom>
          <a:solidFill>
            <a:srgbClr val="1F8A58"/>
          </a:solidFill>
          <a:ln w="12700">
            <a:solidFill>
              <a:srgbClr val="1F8A58"/>
            </a:solidFill>
            <a:prstDash val="solid"/>
          </a:ln>
        </p:spPr>
      </p:sp>
      <p:pic>
        <p:nvPicPr>
          <p:cNvPr id="6" name="Image 0" descr="preencoded.png">    </p:cNvPr>
          <p:cNvPicPr>
            <a:picLocks noChangeAspect="1"/>
          </p:cNvPicPr>
          <p:nvPr/>
        </p:nvPicPr>
        <p:blipFill>
          <a:blip r:embed="rId1"/>
          <a:stretch>
            <a:fillRect/>
          </a:stretch>
        </p:blipFill>
        <p:spPr>
          <a:xfrm>
            <a:off x="918058" y="2015338"/>
            <a:ext cx="358445" cy="358445"/>
          </a:xfrm>
          <a:prstGeom prst="rect">
            <a:avLst/>
          </a:prstGeom>
        </p:spPr>
      </p:pic>
      <p:sp>
        <p:nvSpPr>
          <p:cNvPr id="7" name="Text 4"/>
          <p:cNvSpPr txBox="1"/>
          <p:nvPr/>
        </p:nvSpPr>
        <p:spPr>
          <a:xfrm>
            <a:off x="777240" y="2651760"/>
            <a:ext cx="2194560" cy="45720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When should I irrigate?</a:t>
            </a:r>
            <a:endParaRPr lang="en-US" sz="1600" dirty="0"/>
          </a:p>
        </p:txBody>
      </p:sp>
      <p:sp>
        <p:nvSpPr>
          <p:cNvPr id="8" name="Text 5"/>
          <p:cNvSpPr txBox="1"/>
          <p:nvPr/>
        </p:nvSpPr>
        <p:spPr>
          <a:xfrm>
            <a:off x="777240" y="3108960"/>
            <a:ext cx="219456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Next-irrigation date with uncertainty, rain-adjusted</a:t>
            </a:r>
            <a:endParaRPr lang="en-US" sz="1200" dirty="0"/>
          </a:p>
        </p:txBody>
      </p:sp>
      <p:sp>
        <p:nvSpPr>
          <p:cNvPr id="9" name="Shape 6"/>
          <p:cNvSpPr/>
          <p:nvPr/>
        </p:nvSpPr>
        <p:spPr>
          <a:xfrm>
            <a:off x="3364992" y="1645920"/>
            <a:ext cx="26060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3593592" y="1874520"/>
            <a:ext cx="640080" cy="640080"/>
          </a:xfrm>
          <a:prstGeom prst="ellipse">
            <a:avLst/>
          </a:prstGeom>
          <a:solidFill>
            <a:srgbClr val="1F8A58"/>
          </a:solidFill>
          <a:ln w="12700">
            <a:solidFill>
              <a:srgbClr val="1F8A58"/>
            </a:solidFill>
            <a:prstDash val="solid"/>
          </a:ln>
        </p:spPr>
      </p:sp>
      <p:pic>
        <p:nvPicPr>
          <p:cNvPr id="11" name="Image 1" descr="preencoded.png">    </p:cNvPr>
          <p:cNvPicPr>
            <a:picLocks noChangeAspect="1"/>
          </p:cNvPicPr>
          <p:nvPr/>
        </p:nvPicPr>
        <p:blipFill>
          <a:blip r:embed="rId2"/>
          <a:stretch>
            <a:fillRect/>
          </a:stretch>
        </p:blipFill>
        <p:spPr>
          <a:xfrm>
            <a:off x="3734410" y="2015338"/>
            <a:ext cx="358445" cy="358445"/>
          </a:xfrm>
          <a:prstGeom prst="rect">
            <a:avLst/>
          </a:prstGeom>
        </p:spPr>
      </p:pic>
      <p:sp>
        <p:nvSpPr>
          <p:cNvPr id="12" name="Text 8"/>
          <p:cNvSpPr txBox="1"/>
          <p:nvPr/>
        </p:nvSpPr>
        <p:spPr>
          <a:xfrm>
            <a:off x="3593592" y="2651760"/>
            <a:ext cx="2194560" cy="45720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How long do I run the pump?</a:t>
            </a:r>
            <a:endParaRPr lang="en-US" sz="1600" dirty="0"/>
          </a:p>
        </p:txBody>
      </p:sp>
      <p:sp>
        <p:nvSpPr>
          <p:cNvPr id="13" name="Text 9"/>
          <p:cNvSpPr txBox="1"/>
          <p:nvPr/>
        </p:nvSpPr>
        <p:spPr>
          <a:xfrm>
            <a:off x="3593592" y="3108960"/>
            <a:ext cx="219456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Depth → water volume → pump hours by method</a:t>
            </a:r>
            <a:endParaRPr lang="en-US" sz="1200" dirty="0"/>
          </a:p>
        </p:txBody>
      </p:sp>
      <p:sp>
        <p:nvSpPr>
          <p:cNvPr id="14" name="Shape 10"/>
          <p:cNvSpPr/>
          <p:nvPr/>
        </p:nvSpPr>
        <p:spPr>
          <a:xfrm>
            <a:off x="6181344" y="1645920"/>
            <a:ext cx="26060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6409944" y="1874520"/>
            <a:ext cx="640080" cy="640080"/>
          </a:xfrm>
          <a:prstGeom prst="ellipse">
            <a:avLst/>
          </a:prstGeom>
          <a:solidFill>
            <a:srgbClr val="1F8A58"/>
          </a:solidFill>
          <a:ln w="12700">
            <a:solidFill>
              <a:srgbClr val="1F8A58"/>
            </a:solidFill>
            <a:prstDash val="solid"/>
          </a:ln>
        </p:spPr>
      </p:sp>
      <p:pic>
        <p:nvPicPr>
          <p:cNvPr id="16" name="Image 2" descr="preencoded.png">    </p:cNvPr>
          <p:cNvPicPr>
            <a:picLocks noChangeAspect="1"/>
          </p:cNvPicPr>
          <p:nvPr/>
        </p:nvPicPr>
        <p:blipFill>
          <a:blip r:embed="rId3"/>
          <a:stretch>
            <a:fillRect/>
          </a:stretch>
        </p:blipFill>
        <p:spPr>
          <a:xfrm>
            <a:off x="6550762" y="2015338"/>
            <a:ext cx="358445" cy="358445"/>
          </a:xfrm>
          <a:prstGeom prst="rect">
            <a:avLst/>
          </a:prstGeom>
        </p:spPr>
      </p:pic>
      <p:sp>
        <p:nvSpPr>
          <p:cNvPr id="17" name="Text 12"/>
          <p:cNvSpPr txBox="1"/>
          <p:nvPr/>
        </p:nvSpPr>
        <p:spPr>
          <a:xfrm>
            <a:off x="6409944" y="2651760"/>
            <a:ext cx="2194560" cy="45720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How much fertiliser?</a:t>
            </a:r>
            <a:endParaRPr lang="en-US" sz="1600" dirty="0"/>
          </a:p>
        </p:txBody>
      </p:sp>
      <p:sp>
        <p:nvSpPr>
          <p:cNvPr id="18" name="Text 13"/>
          <p:cNvSpPr txBox="1"/>
          <p:nvPr/>
        </p:nvSpPr>
        <p:spPr>
          <a:xfrm>
            <a:off x="6409944" y="3108960"/>
            <a:ext cx="219456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Stage-wise NPK split into urea, 12-61-0, MOP</a:t>
            </a:r>
            <a:endParaRPr lang="en-US" sz="1200" dirty="0"/>
          </a:p>
        </p:txBody>
      </p:sp>
      <p:sp>
        <p:nvSpPr>
          <p:cNvPr id="19" name="Shape 14"/>
          <p:cNvSpPr/>
          <p:nvPr/>
        </p:nvSpPr>
        <p:spPr>
          <a:xfrm>
            <a:off x="8997696" y="1645920"/>
            <a:ext cx="26060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9226296" y="1874520"/>
            <a:ext cx="640080" cy="640080"/>
          </a:xfrm>
          <a:prstGeom prst="ellipse">
            <a:avLst/>
          </a:prstGeom>
          <a:solidFill>
            <a:srgbClr val="1F8A58"/>
          </a:solidFill>
          <a:ln w="12700">
            <a:solidFill>
              <a:srgbClr val="1F8A58"/>
            </a:solidFill>
            <a:prstDash val="solid"/>
          </a:ln>
        </p:spPr>
      </p:sp>
      <p:pic>
        <p:nvPicPr>
          <p:cNvPr id="21" name="Image 3" descr="preencoded.png">    </p:cNvPr>
          <p:cNvPicPr>
            <a:picLocks noChangeAspect="1"/>
          </p:cNvPicPr>
          <p:nvPr/>
        </p:nvPicPr>
        <p:blipFill>
          <a:blip r:embed="rId4"/>
          <a:stretch>
            <a:fillRect/>
          </a:stretch>
        </p:blipFill>
        <p:spPr>
          <a:xfrm>
            <a:off x="9367114" y="2015338"/>
            <a:ext cx="358445" cy="358445"/>
          </a:xfrm>
          <a:prstGeom prst="rect">
            <a:avLst/>
          </a:prstGeom>
        </p:spPr>
      </p:pic>
      <p:sp>
        <p:nvSpPr>
          <p:cNvPr id="22" name="Text 16"/>
          <p:cNvSpPr txBox="1"/>
          <p:nvPr/>
        </p:nvSpPr>
        <p:spPr>
          <a:xfrm>
            <a:off x="9226296" y="2651760"/>
            <a:ext cx="2194560" cy="45720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What if I wait?</a:t>
            </a:r>
            <a:endParaRPr lang="en-US" sz="1600" dirty="0"/>
          </a:p>
        </p:txBody>
      </p:sp>
      <p:sp>
        <p:nvSpPr>
          <p:cNvPr id="23" name="Text 17"/>
          <p:cNvSpPr txBox="1"/>
          <p:nvPr/>
        </p:nvSpPr>
        <p:spPr>
          <a:xfrm>
            <a:off x="9226296" y="3108960"/>
            <a:ext cx="219456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Yield loss curve for 0-14 days of delay</a:t>
            </a:r>
            <a:endParaRPr lang="en-US" sz="1200" dirty="0"/>
          </a:p>
        </p:txBody>
      </p:sp>
      <p:sp>
        <p:nvSpPr>
          <p:cNvPr id="24" name="Shape 18"/>
          <p:cNvSpPr/>
          <p:nvPr/>
        </p:nvSpPr>
        <p:spPr>
          <a:xfrm>
            <a:off x="548640" y="4160520"/>
            <a:ext cx="2606040" cy="1737360"/>
          </a:xfrm>
          <a:prstGeom prst="roundRect">
            <a:avLst>
              <a:gd name="adj" fmla="val 6316"/>
            </a:avLst>
          </a:prstGeom>
          <a:solidFill>
            <a:srgbClr val="0F2F22"/>
          </a:solidFill>
          <a:ln w="12700">
            <a:solidFill>
              <a:srgbClr val="0F2F22"/>
            </a:solidFill>
            <a:prstDash val="solid"/>
          </a:ln>
        </p:spPr>
      </p:sp>
      <p:pic>
        <p:nvPicPr>
          <p:cNvPr id="25" name="Image 4" descr="preencoded.png">    </p:cNvPr>
          <p:cNvPicPr>
            <a:picLocks noChangeAspect="1"/>
          </p:cNvPicPr>
          <p:nvPr/>
        </p:nvPicPr>
        <p:blipFill>
          <a:blip r:embed="rId5"/>
          <a:stretch>
            <a:fillRect/>
          </a:stretch>
        </p:blipFill>
        <p:spPr>
          <a:xfrm>
            <a:off x="777240" y="4370832"/>
            <a:ext cx="411480" cy="411480"/>
          </a:xfrm>
          <a:prstGeom prst="rect">
            <a:avLst/>
          </a:prstGeom>
        </p:spPr>
      </p:pic>
      <p:sp>
        <p:nvSpPr>
          <p:cNvPr id="26" name="Text 19"/>
          <p:cNvSpPr txBox="1"/>
          <p:nvPr/>
        </p:nvSpPr>
        <p:spPr>
          <a:xfrm>
            <a:off x="1325880" y="4389120"/>
            <a:ext cx="17373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Data</a:t>
            </a:r>
            <a:endParaRPr lang="en-US" sz="1700" dirty="0"/>
          </a:p>
        </p:txBody>
      </p:sp>
      <p:sp>
        <p:nvSpPr>
          <p:cNvPr id="27" name="Text 20"/>
          <p:cNvSpPr txBox="1"/>
          <p:nvPr/>
        </p:nvSpPr>
        <p:spPr>
          <a:xfrm>
            <a:off x="777240" y="4983480"/>
            <a:ext cx="2286000" cy="777240"/>
          </a:xfrm>
          <a:prstGeom prst="rect">
            <a:avLst/>
          </a:prstGeom>
          <a:noFill/>
          <a:ln/>
        </p:spPr>
        <p:txBody>
          <a:bodyPr wrap="square" lIns="0" tIns="0" rIns="0" bIns="0" rtlCol="0" anchor="ctr"/>
          <a:lstStyle/>
          <a:p>
            <a:pPr indent="0" marL="0">
              <a:buNone/>
            </a:pPr>
            <a:r>
              <a:rPr lang="en-US" sz="1200" dirty="0">
                <a:solidFill>
                  <a:srgbClr val="D8EADF"/>
                </a:solidFill>
                <a:latin typeface="Calibri" pitchFamily="34" charset="0"/>
                <a:ea typeface="Calibri" pitchFamily="34" charset="-122"/>
                <a:cs typeface="Calibri" pitchFamily="34" charset="-120"/>
              </a:rPr>
              <a:t>NDVI · LAI · soil moisture</a:t>
            </a:r>
            <a:endParaRPr lang="en-US" sz="1200" dirty="0"/>
          </a:p>
          <a:p>
            <a:pPr indent="0" marL="0">
              <a:buNone/>
            </a:pPr>
            <a:r>
              <a:rPr lang="en-US" sz="1200" dirty="0">
                <a:solidFill>
                  <a:srgbClr val="D8EADF"/>
                </a:solidFill>
                <a:latin typeface="Calibri" pitchFamily="34" charset="0"/>
                <a:ea typeface="Calibri" pitchFamily="34" charset="-122"/>
                <a:cs typeface="Calibri" pitchFamily="34" charset="-120"/>
              </a:rPr>
              <a:t>pH · organic C · weather</a:t>
            </a:r>
            <a:endParaRPr lang="en-US" sz="1200" dirty="0"/>
          </a:p>
        </p:txBody>
      </p:sp>
      <p:sp>
        <p:nvSpPr>
          <p:cNvPr id="28" name="Text 21"/>
          <p:cNvSpPr txBox="1"/>
          <p:nvPr/>
        </p:nvSpPr>
        <p:spPr>
          <a:xfrm>
            <a:off x="3163824" y="4663440"/>
            <a:ext cx="201168" cy="548640"/>
          </a:xfrm>
          <a:prstGeom prst="rect">
            <a:avLst/>
          </a:prstGeom>
          <a:noFill/>
          <a:ln/>
        </p:spPr>
        <p:txBody>
          <a:bodyPr wrap="square" lIns="0" tIns="0" rIns="0" bIns="0" rtlCol="0" anchor="ctr"/>
          <a:lstStyle/>
          <a:p>
            <a:pPr algn="ctr" indent="0" marL="0">
              <a:buNone/>
            </a:pPr>
            <a:r>
              <a:rPr lang="en-US" sz="3000" b="1" dirty="0">
                <a:solidFill>
                  <a:srgbClr val="1F8A58"/>
                </a:solidFill>
                <a:latin typeface="Calibri" pitchFamily="34" charset="0"/>
                <a:ea typeface="Calibri" pitchFamily="34" charset="-122"/>
                <a:cs typeface="Calibri" pitchFamily="34" charset="-120"/>
              </a:rPr>
              <a:t>›</a:t>
            </a:r>
            <a:endParaRPr lang="en-US" sz="3000" dirty="0"/>
          </a:p>
        </p:txBody>
      </p:sp>
      <p:sp>
        <p:nvSpPr>
          <p:cNvPr id="29" name="Shape 22"/>
          <p:cNvSpPr/>
          <p:nvPr/>
        </p:nvSpPr>
        <p:spPr>
          <a:xfrm>
            <a:off x="3364992" y="4160520"/>
            <a:ext cx="2606040" cy="1737360"/>
          </a:xfrm>
          <a:prstGeom prst="roundRect">
            <a:avLst>
              <a:gd name="adj" fmla="val 6316"/>
            </a:avLst>
          </a:prstGeom>
          <a:solidFill>
            <a:srgbClr val="1F8A58"/>
          </a:solidFill>
          <a:ln w="12700">
            <a:solidFill>
              <a:srgbClr val="1F8A58"/>
            </a:solidFill>
            <a:prstDash val="solid"/>
          </a:ln>
        </p:spPr>
      </p:sp>
      <p:pic>
        <p:nvPicPr>
          <p:cNvPr id="30" name="Image 5" descr="preencoded.png">    </p:cNvPr>
          <p:cNvPicPr>
            <a:picLocks noChangeAspect="1"/>
          </p:cNvPicPr>
          <p:nvPr/>
        </p:nvPicPr>
        <p:blipFill>
          <a:blip r:embed="rId6"/>
          <a:stretch>
            <a:fillRect/>
          </a:stretch>
        </p:blipFill>
        <p:spPr>
          <a:xfrm>
            <a:off x="3593592" y="4370832"/>
            <a:ext cx="411480" cy="411480"/>
          </a:xfrm>
          <a:prstGeom prst="rect">
            <a:avLst/>
          </a:prstGeom>
        </p:spPr>
      </p:pic>
      <p:sp>
        <p:nvSpPr>
          <p:cNvPr id="31" name="Text 23"/>
          <p:cNvSpPr txBox="1"/>
          <p:nvPr/>
        </p:nvSpPr>
        <p:spPr>
          <a:xfrm>
            <a:off x="4142232" y="4389120"/>
            <a:ext cx="17373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7 ML models</a:t>
            </a:r>
            <a:endParaRPr lang="en-US" sz="1700" dirty="0"/>
          </a:p>
        </p:txBody>
      </p:sp>
      <p:sp>
        <p:nvSpPr>
          <p:cNvPr id="32" name="Text 24"/>
          <p:cNvSpPr txBox="1"/>
          <p:nvPr/>
        </p:nvSpPr>
        <p:spPr>
          <a:xfrm>
            <a:off x="3593592" y="4983480"/>
            <a:ext cx="2286000" cy="777240"/>
          </a:xfrm>
          <a:prstGeom prst="rect">
            <a:avLst/>
          </a:prstGeom>
          <a:noFill/>
          <a:ln/>
        </p:spPr>
        <p:txBody>
          <a:bodyPr wrap="square" lIns="0" tIns="0" rIns="0" bIns="0" rtlCol="0" anchor="ctr"/>
          <a:lstStyle/>
          <a:p>
            <a:pPr indent="0" marL="0">
              <a:buNone/>
            </a:pPr>
            <a:r>
              <a:rPr lang="en-US" sz="1200" dirty="0">
                <a:solidFill>
                  <a:srgbClr val="D8EADF"/>
                </a:solidFill>
                <a:latin typeface="Calibri" pitchFamily="34" charset="0"/>
                <a:ea typeface="Calibri" pitchFamily="34" charset="-122"/>
                <a:cs typeface="Calibri" pitchFamily="34" charset="-120"/>
              </a:rPr>
              <a:t>Random Forest &amp;</a:t>
            </a:r>
            <a:endParaRPr lang="en-US" sz="1200" dirty="0"/>
          </a:p>
          <a:p>
            <a:pPr indent="0" marL="0">
              <a:buNone/>
            </a:pPr>
            <a:r>
              <a:rPr lang="en-US" sz="1200" dirty="0">
                <a:solidFill>
                  <a:srgbClr val="D8EADF"/>
                </a:solidFill>
                <a:latin typeface="Calibri" pitchFamily="34" charset="0"/>
                <a:ea typeface="Calibri" pitchFamily="34" charset="-122"/>
                <a:cs typeface="Calibri" pitchFamily="34" charset="-120"/>
              </a:rPr>
              <a:t>Gradient Boosting</a:t>
            </a:r>
            <a:endParaRPr lang="en-US" sz="1200" dirty="0"/>
          </a:p>
        </p:txBody>
      </p:sp>
      <p:sp>
        <p:nvSpPr>
          <p:cNvPr id="33" name="Text 25"/>
          <p:cNvSpPr txBox="1"/>
          <p:nvPr/>
        </p:nvSpPr>
        <p:spPr>
          <a:xfrm>
            <a:off x="5980176" y="4663440"/>
            <a:ext cx="201168" cy="548640"/>
          </a:xfrm>
          <a:prstGeom prst="rect">
            <a:avLst/>
          </a:prstGeom>
          <a:noFill/>
          <a:ln/>
        </p:spPr>
        <p:txBody>
          <a:bodyPr wrap="square" lIns="0" tIns="0" rIns="0" bIns="0" rtlCol="0" anchor="ctr"/>
          <a:lstStyle/>
          <a:p>
            <a:pPr algn="ctr" indent="0" marL="0">
              <a:buNone/>
            </a:pPr>
            <a:r>
              <a:rPr lang="en-US" sz="3000" b="1" dirty="0">
                <a:solidFill>
                  <a:srgbClr val="1F8A58"/>
                </a:solidFill>
                <a:latin typeface="Calibri" pitchFamily="34" charset="0"/>
                <a:ea typeface="Calibri" pitchFamily="34" charset="-122"/>
                <a:cs typeface="Calibri" pitchFamily="34" charset="-120"/>
              </a:rPr>
              <a:t>›</a:t>
            </a:r>
            <a:endParaRPr lang="en-US" sz="3000" dirty="0"/>
          </a:p>
        </p:txBody>
      </p:sp>
      <p:sp>
        <p:nvSpPr>
          <p:cNvPr id="34" name="Shape 26"/>
          <p:cNvSpPr/>
          <p:nvPr/>
        </p:nvSpPr>
        <p:spPr>
          <a:xfrm>
            <a:off x="6181344" y="4160520"/>
            <a:ext cx="2606040" cy="1737360"/>
          </a:xfrm>
          <a:prstGeom prst="roundRect">
            <a:avLst>
              <a:gd name="adj" fmla="val 6316"/>
            </a:avLst>
          </a:prstGeom>
          <a:solidFill>
            <a:srgbClr val="0F2F22"/>
          </a:solidFill>
          <a:ln w="12700">
            <a:solidFill>
              <a:srgbClr val="0F2F22"/>
            </a:solidFill>
            <a:prstDash val="solid"/>
          </a:ln>
        </p:spPr>
      </p:sp>
      <p:pic>
        <p:nvPicPr>
          <p:cNvPr id="35" name="Image 6" descr="preencoded.png">    </p:cNvPr>
          <p:cNvPicPr>
            <a:picLocks noChangeAspect="1"/>
          </p:cNvPicPr>
          <p:nvPr/>
        </p:nvPicPr>
        <p:blipFill>
          <a:blip r:embed="rId7"/>
          <a:stretch>
            <a:fillRect/>
          </a:stretch>
        </p:blipFill>
        <p:spPr>
          <a:xfrm>
            <a:off x="6409944" y="4370832"/>
            <a:ext cx="411480" cy="411480"/>
          </a:xfrm>
          <a:prstGeom prst="rect">
            <a:avLst/>
          </a:prstGeom>
        </p:spPr>
      </p:pic>
      <p:sp>
        <p:nvSpPr>
          <p:cNvPr id="36" name="Text 27"/>
          <p:cNvSpPr txBox="1"/>
          <p:nvPr/>
        </p:nvSpPr>
        <p:spPr>
          <a:xfrm>
            <a:off x="6958584" y="4389120"/>
            <a:ext cx="17373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Decision engine</a:t>
            </a:r>
            <a:endParaRPr lang="en-US" sz="1700" dirty="0"/>
          </a:p>
        </p:txBody>
      </p:sp>
      <p:sp>
        <p:nvSpPr>
          <p:cNvPr id="37" name="Text 28"/>
          <p:cNvSpPr txBox="1"/>
          <p:nvPr/>
        </p:nvSpPr>
        <p:spPr>
          <a:xfrm>
            <a:off x="6409944" y="4983480"/>
            <a:ext cx="2286000" cy="777240"/>
          </a:xfrm>
          <a:prstGeom prst="rect">
            <a:avLst/>
          </a:prstGeom>
          <a:noFill/>
          <a:ln/>
        </p:spPr>
        <p:txBody>
          <a:bodyPr wrap="square" lIns="0" tIns="0" rIns="0" bIns="0" rtlCol="0" anchor="ctr"/>
          <a:lstStyle/>
          <a:p>
            <a:pPr indent="0" marL="0">
              <a:buNone/>
            </a:pPr>
            <a:r>
              <a:rPr lang="en-US" sz="1200" dirty="0">
                <a:solidFill>
                  <a:srgbClr val="D8EADF"/>
                </a:solidFill>
                <a:latin typeface="Calibri" pitchFamily="34" charset="0"/>
                <a:ea typeface="Calibri" pitchFamily="34" charset="-122"/>
                <a:cs typeface="Calibri" pitchFamily="34" charset="-120"/>
              </a:rPr>
              <a:t>Rain adjustment · fertigation</a:t>
            </a:r>
            <a:endParaRPr lang="en-US" sz="1200" dirty="0"/>
          </a:p>
          <a:p>
            <a:pPr indent="0" marL="0">
              <a:buNone/>
            </a:pPr>
            <a:r>
              <a:rPr lang="en-US" sz="1200" dirty="0">
                <a:solidFill>
                  <a:srgbClr val="D8EADF"/>
                </a:solidFill>
                <a:latin typeface="Calibri" pitchFamily="34" charset="0"/>
                <a:ea typeface="Calibri" pitchFamily="34" charset="-122"/>
                <a:cs typeface="Calibri" pitchFamily="34" charset="-120"/>
              </a:rPr>
              <a:t>pump scheduling</a:t>
            </a:r>
            <a:endParaRPr lang="en-US" sz="1200" dirty="0"/>
          </a:p>
        </p:txBody>
      </p:sp>
      <p:sp>
        <p:nvSpPr>
          <p:cNvPr id="38" name="Text 29"/>
          <p:cNvSpPr txBox="1"/>
          <p:nvPr/>
        </p:nvSpPr>
        <p:spPr>
          <a:xfrm>
            <a:off x="8796528" y="4663440"/>
            <a:ext cx="201168" cy="548640"/>
          </a:xfrm>
          <a:prstGeom prst="rect">
            <a:avLst/>
          </a:prstGeom>
          <a:noFill/>
          <a:ln/>
        </p:spPr>
        <p:txBody>
          <a:bodyPr wrap="square" lIns="0" tIns="0" rIns="0" bIns="0" rtlCol="0" anchor="ctr"/>
          <a:lstStyle/>
          <a:p>
            <a:pPr algn="ctr" indent="0" marL="0">
              <a:buNone/>
            </a:pPr>
            <a:r>
              <a:rPr lang="en-US" sz="3000" b="1" dirty="0">
                <a:solidFill>
                  <a:srgbClr val="1F8A58"/>
                </a:solidFill>
                <a:latin typeface="Calibri" pitchFamily="34" charset="0"/>
                <a:ea typeface="Calibri" pitchFamily="34" charset="-122"/>
                <a:cs typeface="Calibri" pitchFamily="34" charset="-120"/>
              </a:rPr>
              <a:t>›</a:t>
            </a:r>
            <a:endParaRPr lang="en-US" sz="3000" dirty="0"/>
          </a:p>
        </p:txBody>
      </p:sp>
      <p:sp>
        <p:nvSpPr>
          <p:cNvPr id="39" name="Shape 30"/>
          <p:cNvSpPr/>
          <p:nvPr/>
        </p:nvSpPr>
        <p:spPr>
          <a:xfrm>
            <a:off x="8997696" y="4160520"/>
            <a:ext cx="2606040" cy="1737360"/>
          </a:xfrm>
          <a:prstGeom prst="roundRect">
            <a:avLst>
              <a:gd name="adj" fmla="val 6316"/>
            </a:avLst>
          </a:prstGeom>
          <a:solidFill>
            <a:srgbClr val="0F2F22"/>
          </a:solidFill>
          <a:ln w="12700">
            <a:solidFill>
              <a:srgbClr val="0F2F22"/>
            </a:solidFill>
            <a:prstDash val="solid"/>
          </a:ln>
        </p:spPr>
      </p:sp>
      <p:pic>
        <p:nvPicPr>
          <p:cNvPr id="40" name="Image 7" descr="preencoded.png">    </p:cNvPr>
          <p:cNvPicPr>
            <a:picLocks noChangeAspect="1"/>
          </p:cNvPicPr>
          <p:nvPr/>
        </p:nvPicPr>
        <p:blipFill>
          <a:blip r:embed="rId8"/>
          <a:stretch>
            <a:fillRect/>
          </a:stretch>
        </p:blipFill>
        <p:spPr>
          <a:xfrm>
            <a:off x="9226296" y="4370832"/>
            <a:ext cx="411480" cy="411480"/>
          </a:xfrm>
          <a:prstGeom prst="rect">
            <a:avLst/>
          </a:prstGeom>
        </p:spPr>
      </p:pic>
      <p:sp>
        <p:nvSpPr>
          <p:cNvPr id="41" name="Text 31"/>
          <p:cNvSpPr txBox="1"/>
          <p:nvPr/>
        </p:nvSpPr>
        <p:spPr>
          <a:xfrm>
            <a:off x="9774936" y="4389120"/>
            <a:ext cx="17373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Advisory</a:t>
            </a:r>
            <a:endParaRPr lang="en-US" sz="1700" dirty="0"/>
          </a:p>
        </p:txBody>
      </p:sp>
      <p:sp>
        <p:nvSpPr>
          <p:cNvPr id="42" name="Text 32"/>
          <p:cNvSpPr txBox="1"/>
          <p:nvPr/>
        </p:nvSpPr>
        <p:spPr>
          <a:xfrm>
            <a:off x="9226296" y="4983480"/>
            <a:ext cx="2286000" cy="777240"/>
          </a:xfrm>
          <a:prstGeom prst="rect">
            <a:avLst/>
          </a:prstGeom>
          <a:noFill/>
          <a:ln/>
        </p:spPr>
        <p:txBody>
          <a:bodyPr wrap="square" lIns="0" tIns="0" rIns="0" bIns="0" rtlCol="0" anchor="ctr"/>
          <a:lstStyle/>
          <a:p>
            <a:pPr indent="0" marL="0">
              <a:buNone/>
            </a:pPr>
            <a:r>
              <a:rPr lang="en-US" sz="1200" dirty="0">
                <a:solidFill>
                  <a:srgbClr val="D8EADF"/>
                </a:solidFill>
                <a:latin typeface="Calibri" pitchFamily="34" charset="0"/>
                <a:ea typeface="Calibri" pitchFamily="34" charset="-122"/>
                <a:cs typeface="Calibri" pitchFamily="34" charset="-120"/>
              </a:rPr>
              <a:t>EN · ಕನ್ನಡ · हिंदी · मराठी</a:t>
            </a:r>
            <a:endParaRPr lang="en-US" sz="1200" dirty="0"/>
          </a:p>
          <a:p>
            <a:pPr indent="0" marL="0">
              <a:buNone/>
            </a:pPr>
            <a:r>
              <a:rPr lang="en-US" sz="1200" dirty="0">
                <a:solidFill>
                  <a:srgbClr val="D8EADF"/>
                </a:solidFill>
                <a:latin typeface="Calibri" pitchFamily="34" charset="0"/>
                <a:ea typeface="Calibri" pitchFamily="34" charset="-122"/>
                <a:cs typeface="Calibri" pitchFamily="34" charset="-120"/>
              </a:rPr>
              <a:t>web · chatbot · SMS</a:t>
            </a:r>
            <a:endParaRPr lang="en-US" sz="1200" dirty="0"/>
          </a:p>
        </p:txBody>
      </p:sp>
      <p:sp>
        <p:nvSpPr>
          <p:cNvPr id="43" name="Text 33"/>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The dataset: 1,000 geofenced plots in Mandya</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Satellite and soil features per plot, but no irrigation logs or yield records</a:t>
            </a:r>
            <a:endParaRPr lang="en-US" sz="1500" dirty="0"/>
          </a:p>
        </p:txBody>
      </p:sp>
      <p:sp>
        <p:nvSpPr>
          <p:cNvPr id="4" name="Shape 2"/>
          <p:cNvSpPr/>
          <p:nvPr/>
        </p:nvSpPr>
        <p:spPr>
          <a:xfrm>
            <a:off x="548640" y="1645920"/>
            <a:ext cx="1280160" cy="1051560"/>
          </a:xfrm>
          <a:prstGeom prst="roundRect">
            <a:avLst>
              <a:gd name="adj" fmla="val 10435"/>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594360" y="1755648"/>
            <a:ext cx="1188720" cy="502920"/>
          </a:xfrm>
          <a:prstGeom prst="rect">
            <a:avLst/>
          </a:prstGeom>
          <a:noFill/>
          <a:ln/>
        </p:spPr>
        <p:txBody>
          <a:bodyPr wrap="square" lIns="0" tIns="0" rIns="0" bIns="0" rtlCol="0" anchor="ctr"/>
          <a:lstStyle/>
          <a:p>
            <a:pPr algn="ctr" indent="0" marL="0">
              <a:buNone/>
            </a:pPr>
            <a:r>
              <a:rPr lang="en-US" sz="2100" b="1" dirty="0">
                <a:solidFill>
                  <a:srgbClr val="1F8A58"/>
                </a:solidFill>
                <a:latin typeface="Calibri" pitchFamily="34" charset="0"/>
                <a:ea typeface="Calibri" pitchFamily="34" charset="-122"/>
                <a:cs typeface="Calibri" pitchFamily="34" charset="-120"/>
              </a:rPr>
              <a:t>1,000</a:t>
            </a:r>
            <a:endParaRPr lang="en-US" sz="2100" dirty="0"/>
          </a:p>
        </p:txBody>
      </p:sp>
      <p:sp>
        <p:nvSpPr>
          <p:cNvPr id="6" name="Text 4"/>
          <p:cNvSpPr txBox="1"/>
          <p:nvPr/>
        </p:nvSpPr>
        <p:spPr>
          <a:xfrm>
            <a:off x="640080" y="2286000"/>
            <a:ext cx="1097280" cy="274320"/>
          </a:xfrm>
          <a:prstGeom prst="rect">
            <a:avLst/>
          </a:prstGeom>
          <a:noFill/>
          <a:ln/>
        </p:spPr>
        <p:txBody>
          <a:bodyPr wrap="square" lIns="0" tIns="0" rIns="0" bIns="0" rtlCol="0" anchor="ctr"/>
          <a:lstStyle/>
          <a:p>
            <a:pPr algn="ctr" indent="0" marL="0">
              <a:buNone/>
            </a:pPr>
            <a:r>
              <a:rPr lang="en-US" sz="1200" dirty="0">
                <a:solidFill>
                  <a:srgbClr val="5E6B64"/>
                </a:solidFill>
                <a:latin typeface="Calibri" pitchFamily="34" charset="0"/>
                <a:ea typeface="Calibri" pitchFamily="34" charset="-122"/>
                <a:cs typeface="Calibri" pitchFamily="34" charset="-120"/>
              </a:rPr>
              <a:t>plots</a:t>
            </a:r>
            <a:endParaRPr lang="en-US" sz="1200" dirty="0"/>
          </a:p>
        </p:txBody>
      </p:sp>
      <p:sp>
        <p:nvSpPr>
          <p:cNvPr id="7" name="Shape 5"/>
          <p:cNvSpPr/>
          <p:nvPr/>
        </p:nvSpPr>
        <p:spPr>
          <a:xfrm>
            <a:off x="1965960" y="1645920"/>
            <a:ext cx="1280160" cy="1051560"/>
          </a:xfrm>
          <a:prstGeom prst="roundRect">
            <a:avLst>
              <a:gd name="adj" fmla="val 10435"/>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2011680" y="1755648"/>
            <a:ext cx="1188720" cy="502920"/>
          </a:xfrm>
          <a:prstGeom prst="rect">
            <a:avLst/>
          </a:prstGeom>
          <a:noFill/>
          <a:ln/>
        </p:spPr>
        <p:txBody>
          <a:bodyPr wrap="square" lIns="0" tIns="0" rIns="0" bIns="0" rtlCol="0" anchor="ctr"/>
          <a:lstStyle/>
          <a:p>
            <a:pPr algn="ctr" indent="0" marL="0">
              <a:buNone/>
            </a:pPr>
            <a:r>
              <a:rPr lang="en-US" sz="2100" b="1" dirty="0">
                <a:solidFill>
                  <a:srgbClr val="1F8A58"/>
                </a:solidFill>
                <a:latin typeface="Calibri" pitchFamily="34" charset="0"/>
                <a:ea typeface="Calibri" pitchFamily="34" charset="-122"/>
                <a:cs typeface="Calibri" pitchFamily="34" charset="-120"/>
              </a:rPr>
              <a:t>736 ha</a:t>
            </a:r>
            <a:endParaRPr lang="en-US" sz="2100" dirty="0"/>
          </a:p>
        </p:txBody>
      </p:sp>
      <p:sp>
        <p:nvSpPr>
          <p:cNvPr id="9" name="Text 7"/>
          <p:cNvSpPr txBox="1"/>
          <p:nvPr/>
        </p:nvSpPr>
        <p:spPr>
          <a:xfrm>
            <a:off x="2057400" y="2286000"/>
            <a:ext cx="1097280" cy="274320"/>
          </a:xfrm>
          <a:prstGeom prst="rect">
            <a:avLst/>
          </a:prstGeom>
          <a:noFill/>
          <a:ln/>
        </p:spPr>
        <p:txBody>
          <a:bodyPr wrap="square" lIns="0" tIns="0" rIns="0" bIns="0" rtlCol="0" anchor="ctr"/>
          <a:lstStyle/>
          <a:p>
            <a:pPr algn="ctr" indent="0" marL="0">
              <a:buNone/>
            </a:pPr>
            <a:r>
              <a:rPr lang="en-US" sz="1200" dirty="0">
                <a:solidFill>
                  <a:srgbClr val="5E6B64"/>
                </a:solidFill>
                <a:latin typeface="Calibri" pitchFamily="34" charset="0"/>
                <a:ea typeface="Calibri" pitchFamily="34" charset="-122"/>
                <a:cs typeface="Calibri" pitchFamily="34" charset="-120"/>
              </a:rPr>
              <a:t>area</a:t>
            </a:r>
            <a:endParaRPr lang="en-US" sz="1200" dirty="0"/>
          </a:p>
        </p:txBody>
      </p:sp>
      <p:sp>
        <p:nvSpPr>
          <p:cNvPr id="10" name="Shape 8"/>
          <p:cNvSpPr/>
          <p:nvPr/>
        </p:nvSpPr>
        <p:spPr>
          <a:xfrm>
            <a:off x="3383280" y="1645920"/>
            <a:ext cx="1280160" cy="1051560"/>
          </a:xfrm>
          <a:prstGeom prst="roundRect">
            <a:avLst>
              <a:gd name="adj" fmla="val 10435"/>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3429000" y="1755648"/>
            <a:ext cx="1188720" cy="502920"/>
          </a:xfrm>
          <a:prstGeom prst="rect">
            <a:avLst/>
          </a:prstGeom>
          <a:noFill/>
          <a:ln/>
        </p:spPr>
        <p:txBody>
          <a:bodyPr wrap="square" lIns="0" tIns="0" rIns="0" bIns="0" rtlCol="0" anchor="ctr"/>
          <a:lstStyle/>
          <a:p>
            <a:pPr algn="ctr" indent="0" marL="0">
              <a:buNone/>
            </a:pPr>
            <a:r>
              <a:rPr lang="en-US" sz="2100" b="1" dirty="0">
                <a:solidFill>
                  <a:srgbClr val="1F8A58"/>
                </a:solidFill>
                <a:latin typeface="Calibri" pitchFamily="34" charset="0"/>
                <a:ea typeface="Calibri" pitchFamily="34" charset="-122"/>
                <a:cs typeface="Calibri" pitchFamily="34" charset="-120"/>
              </a:rPr>
              <a:t>6</a:t>
            </a:r>
            <a:endParaRPr lang="en-US" sz="2100" dirty="0"/>
          </a:p>
        </p:txBody>
      </p:sp>
      <p:sp>
        <p:nvSpPr>
          <p:cNvPr id="12" name="Text 10"/>
          <p:cNvSpPr txBox="1"/>
          <p:nvPr/>
        </p:nvSpPr>
        <p:spPr>
          <a:xfrm>
            <a:off x="3474720" y="2286000"/>
            <a:ext cx="1097280" cy="274320"/>
          </a:xfrm>
          <a:prstGeom prst="rect">
            <a:avLst/>
          </a:prstGeom>
          <a:noFill/>
          <a:ln/>
        </p:spPr>
        <p:txBody>
          <a:bodyPr wrap="square" lIns="0" tIns="0" rIns="0" bIns="0" rtlCol="0" anchor="ctr"/>
          <a:lstStyle/>
          <a:p>
            <a:pPr algn="ctr" indent="0" marL="0">
              <a:buNone/>
            </a:pPr>
            <a:r>
              <a:rPr lang="en-US" sz="1200" dirty="0">
                <a:solidFill>
                  <a:srgbClr val="5E6B64"/>
                </a:solidFill>
                <a:latin typeface="Calibri" pitchFamily="34" charset="0"/>
                <a:ea typeface="Calibri" pitchFamily="34" charset="-122"/>
                <a:cs typeface="Calibri" pitchFamily="34" charset="-120"/>
              </a:rPr>
              <a:t>taluks</a:t>
            </a:r>
            <a:endParaRPr lang="en-US" sz="1200" dirty="0"/>
          </a:p>
        </p:txBody>
      </p:sp>
      <p:sp>
        <p:nvSpPr>
          <p:cNvPr id="13" name="Shape 11"/>
          <p:cNvSpPr/>
          <p:nvPr/>
        </p:nvSpPr>
        <p:spPr>
          <a:xfrm>
            <a:off x="4800600" y="1645920"/>
            <a:ext cx="1280160" cy="1051560"/>
          </a:xfrm>
          <a:prstGeom prst="roundRect">
            <a:avLst>
              <a:gd name="adj" fmla="val 10435"/>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4846320" y="1755648"/>
            <a:ext cx="1188720" cy="502920"/>
          </a:xfrm>
          <a:prstGeom prst="rect">
            <a:avLst/>
          </a:prstGeom>
          <a:noFill/>
          <a:ln/>
        </p:spPr>
        <p:txBody>
          <a:bodyPr wrap="square" lIns="0" tIns="0" rIns="0" bIns="0" rtlCol="0" anchor="ctr"/>
          <a:lstStyle/>
          <a:p>
            <a:pPr algn="ctr" indent="0" marL="0">
              <a:buNone/>
            </a:pPr>
            <a:r>
              <a:rPr lang="en-US" sz="2100" b="1" dirty="0">
                <a:solidFill>
                  <a:srgbClr val="1F8A58"/>
                </a:solidFill>
                <a:latin typeface="Calibri" pitchFamily="34" charset="0"/>
                <a:ea typeface="Calibri" pitchFamily="34" charset="-122"/>
                <a:cs typeface="Calibri" pitchFamily="34" charset="-120"/>
              </a:rPr>
              <a:t>10</a:t>
            </a:r>
            <a:endParaRPr lang="en-US" sz="2100" dirty="0"/>
          </a:p>
        </p:txBody>
      </p:sp>
      <p:sp>
        <p:nvSpPr>
          <p:cNvPr id="15" name="Text 13"/>
          <p:cNvSpPr txBox="1"/>
          <p:nvPr/>
        </p:nvSpPr>
        <p:spPr>
          <a:xfrm>
            <a:off x="4892040" y="2286000"/>
            <a:ext cx="1097280" cy="274320"/>
          </a:xfrm>
          <a:prstGeom prst="rect">
            <a:avLst/>
          </a:prstGeom>
          <a:noFill/>
          <a:ln/>
        </p:spPr>
        <p:txBody>
          <a:bodyPr wrap="square" lIns="0" tIns="0" rIns="0" bIns="0" rtlCol="0" anchor="ctr"/>
          <a:lstStyle/>
          <a:p>
            <a:pPr algn="ctr" indent="0" marL="0">
              <a:buNone/>
            </a:pPr>
            <a:r>
              <a:rPr lang="en-US" sz="1200" dirty="0">
                <a:solidFill>
                  <a:srgbClr val="5E6B64"/>
                </a:solidFill>
                <a:latin typeface="Calibri" pitchFamily="34" charset="0"/>
                <a:ea typeface="Calibri" pitchFamily="34" charset="-122"/>
                <a:cs typeface="Calibri" pitchFamily="34" charset="-120"/>
              </a:rPr>
              <a:t>villages</a:t>
            </a:r>
            <a:endParaRPr lang="en-US" sz="1200" dirty="0"/>
          </a:p>
        </p:txBody>
      </p:sp>
      <p:sp>
        <p:nvSpPr>
          <p:cNvPr id="16" name="Text 14"/>
          <p:cNvSpPr txBox="1"/>
          <p:nvPr/>
        </p:nvSpPr>
        <p:spPr>
          <a:xfrm>
            <a:off x="548640" y="2971800"/>
            <a:ext cx="5486400" cy="320040"/>
          </a:xfrm>
          <a:prstGeom prst="rect">
            <a:avLst/>
          </a:prstGeom>
          <a:noFill/>
          <a:ln/>
        </p:spPr>
        <p:txBody>
          <a:bodyPr wrap="square" lIns="0" tIns="0" rIns="0" bIns="0" rtlCol="0" anchor="ctr"/>
          <a:lstStyle/>
          <a:p>
            <a:pPr indent="0" marL="0">
              <a:buNone/>
            </a:pPr>
            <a:r>
              <a:rPr lang="en-US" sz="1500" b="1" dirty="0">
                <a:solidFill>
                  <a:srgbClr val="15231C"/>
                </a:solidFill>
                <a:latin typeface="Calibri" pitchFamily="34" charset="0"/>
                <a:ea typeface="Calibri" pitchFamily="34" charset="-122"/>
                <a:cs typeface="Calibri" pitchFamily="34" charset="-120"/>
              </a:rPr>
              <a:t>Features used</a:t>
            </a:r>
            <a:endParaRPr lang="en-US" sz="1500" dirty="0"/>
          </a:p>
        </p:txBody>
      </p:sp>
      <p:sp>
        <p:nvSpPr>
          <p:cNvPr id="17" name="Shape 15"/>
          <p:cNvSpPr/>
          <p:nvPr/>
        </p:nvSpPr>
        <p:spPr>
          <a:xfrm>
            <a:off x="548640" y="3383280"/>
            <a:ext cx="1737360" cy="347472"/>
          </a:xfrm>
          <a:prstGeom prst="roundRect">
            <a:avLst>
              <a:gd name="adj" fmla="val 50000"/>
            </a:avLst>
          </a:prstGeom>
          <a:solidFill>
            <a:srgbClr val="F3F7F4"/>
          </a:solidFill>
          <a:ln w="9525">
            <a:solidFill>
              <a:srgbClr val="DDE5E0"/>
            </a:solidFill>
            <a:prstDash val="solid"/>
          </a:ln>
        </p:spPr>
      </p:sp>
      <p:sp>
        <p:nvSpPr>
          <p:cNvPr id="18" name="Text 16"/>
          <p:cNvSpPr txBox="1"/>
          <p:nvPr/>
        </p:nvSpPr>
        <p:spPr>
          <a:xfrm>
            <a:off x="548640" y="33832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NDVI</a:t>
            </a:r>
            <a:endParaRPr lang="en-US" sz="1200" dirty="0"/>
          </a:p>
        </p:txBody>
      </p:sp>
      <p:sp>
        <p:nvSpPr>
          <p:cNvPr id="19" name="Shape 17"/>
          <p:cNvSpPr/>
          <p:nvPr/>
        </p:nvSpPr>
        <p:spPr>
          <a:xfrm>
            <a:off x="2423160" y="3383280"/>
            <a:ext cx="1737360" cy="347472"/>
          </a:xfrm>
          <a:prstGeom prst="roundRect">
            <a:avLst>
              <a:gd name="adj" fmla="val 50000"/>
            </a:avLst>
          </a:prstGeom>
          <a:solidFill>
            <a:srgbClr val="F3F7F4"/>
          </a:solidFill>
          <a:ln w="9525">
            <a:solidFill>
              <a:srgbClr val="DDE5E0"/>
            </a:solidFill>
            <a:prstDash val="solid"/>
          </a:ln>
        </p:spPr>
      </p:sp>
      <p:sp>
        <p:nvSpPr>
          <p:cNvPr id="20" name="Text 18"/>
          <p:cNvSpPr txBox="1"/>
          <p:nvPr/>
        </p:nvSpPr>
        <p:spPr>
          <a:xfrm>
            <a:off x="2423160" y="33832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LAI</a:t>
            </a:r>
            <a:endParaRPr lang="en-US" sz="1200" dirty="0"/>
          </a:p>
        </p:txBody>
      </p:sp>
      <p:sp>
        <p:nvSpPr>
          <p:cNvPr id="21" name="Shape 19"/>
          <p:cNvSpPr/>
          <p:nvPr/>
        </p:nvSpPr>
        <p:spPr>
          <a:xfrm>
            <a:off x="4297680" y="3383280"/>
            <a:ext cx="1737360" cy="347472"/>
          </a:xfrm>
          <a:prstGeom prst="roundRect">
            <a:avLst>
              <a:gd name="adj" fmla="val 50000"/>
            </a:avLst>
          </a:prstGeom>
          <a:solidFill>
            <a:srgbClr val="F3F7F4"/>
          </a:solidFill>
          <a:ln w="9525">
            <a:solidFill>
              <a:srgbClr val="DDE5E0"/>
            </a:solidFill>
            <a:prstDash val="solid"/>
          </a:ln>
        </p:spPr>
      </p:sp>
      <p:sp>
        <p:nvSpPr>
          <p:cNvPr id="22" name="Text 20"/>
          <p:cNvSpPr txBox="1"/>
          <p:nvPr/>
        </p:nvSpPr>
        <p:spPr>
          <a:xfrm>
            <a:off x="4297680" y="33832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Soil moisture</a:t>
            </a:r>
            <a:endParaRPr lang="en-US" sz="1200" dirty="0"/>
          </a:p>
        </p:txBody>
      </p:sp>
      <p:sp>
        <p:nvSpPr>
          <p:cNvPr id="23" name="Shape 21"/>
          <p:cNvSpPr/>
          <p:nvPr/>
        </p:nvSpPr>
        <p:spPr>
          <a:xfrm>
            <a:off x="548640" y="3840480"/>
            <a:ext cx="1737360" cy="347472"/>
          </a:xfrm>
          <a:prstGeom prst="roundRect">
            <a:avLst>
              <a:gd name="adj" fmla="val 50000"/>
            </a:avLst>
          </a:prstGeom>
          <a:solidFill>
            <a:srgbClr val="F3F7F4"/>
          </a:solidFill>
          <a:ln w="9525">
            <a:solidFill>
              <a:srgbClr val="DDE5E0"/>
            </a:solidFill>
            <a:prstDash val="solid"/>
          </a:ln>
        </p:spPr>
      </p:sp>
      <p:sp>
        <p:nvSpPr>
          <p:cNvPr id="24" name="Text 22"/>
          <p:cNvSpPr txBox="1"/>
          <p:nvPr/>
        </p:nvSpPr>
        <p:spPr>
          <a:xfrm>
            <a:off x="548640" y="38404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Soil pH</a:t>
            </a:r>
            <a:endParaRPr lang="en-US" sz="1200" dirty="0"/>
          </a:p>
        </p:txBody>
      </p:sp>
      <p:sp>
        <p:nvSpPr>
          <p:cNvPr id="25" name="Shape 23"/>
          <p:cNvSpPr/>
          <p:nvPr/>
        </p:nvSpPr>
        <p:spPr>
          <a:xfrm>
            <a:off x="2423160" y="3840480"/>
            <a:ext cx="1737360" cy="347472"/>
          </a:xfrm>
          <a:prstGeom prst="roundRect">
            <a:avLst>
              <a:gd name="adj" fmla="val 50000"/>
            </a:avLst>
          </a:prstGeom>
          <a:solidFill>
            <a:srgbClr val="F3F7F4"/>
          </a:solidFill>
          <a:ln w="9525">
            <a:solidFill>
              <a:srgbClr val="DDE5E0"/>
            </a:solidFill>
            <a:prstDash val="solid"/>
          </a:ln>
        </p:spPr>
      </p:sp>
      <p:sp>
        <p:nvSpPr>
          <p:cNvPr id="26" name="Text 24"/>
          <p:cNvSpPr txBox="1"/>
          <p:nvPr/>
        </p:nvSpPr>
        <p:spPr>
          <a:xfrm>
            <a:off x="2423160" y="38404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Organic carbon</a:t>
            </a:r>
            <a:endParaRPr lang="en-US" sz="1200" dirty="0"/>
          </a:p>
        </p:txBody>
      </p:sp>
      <p:sp>
        <p:nvSpPr>
          <p:cNvPr id="27" name="Shape 25"/>
          <p:cNvSpPr/>
          <p:nvPr/>
        </p:nvSpPr>
        <p:spPr>
          <a:xfrm>
            <a:off x="4297680" y="3840480"/>
            <a:ext cx="1737360" cy="347472"/>
          </a:xfrm>
          <a:prstGeom prst="roundRect">
            <a:avLst>
              <a:gd name="adj" fmla="val 50000"/>
            </a:avLst>
          </a:prstGeom>
          <a:solidFill>
            <a:srgbClr val="F3F7F4"/>
          </a:solidFill>
          <a:ln w="9525">
            <a:solidFill>
              <a:srgbClr val="DDE5E0"/>
            </a:solidFill>
            <a:prstDash val="solid"/>
          </a:ln>
        </p:spPr>
      </p:sp>
      <p:sp>
        <p:nvSpPr>
          <p:cNvPr id="28" name="Text 26"/>
          <p:cNvSpPr txBox="1"/>
          <p:nvPr/>
        </p:nvSpPr>
        <p:spPr>
          <a:xfrm>
            <a:off x="4297680" y="38404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Rainfall</a:t>
            </a:r>
            <a:endParaRPr lang="en-US" sz="1200" dirty="0"/>
          </a:p>
        </p:txBody>
      </p:sp>
      <p:sp>
        <p:nvSpPr>
          <p:cNvPr id="29" name="Shape 27"/>
          <p:cNvSpPr/>
          <p:nvPr/>
        </p:nvSpPr>
        <p:spPr>
          <a:xfrm>
            <a:off x="548640" y="4297680"/>
            <a:ext cx="1737360" cy="347472"/>
          </a:xfrm>
          <a:prstGeom prst="roundRect">
            <a:avLst>
              <a:gd name="adj" fmla="val 50000"/>
            </a:avLst>
          </a:prstGeom>
          <a:solidFill>
            <a:srgbClr val="F3F7F4"/>
          </a:solidFill>
          <a:ln w="9525">
            <a:solidFill>
              <a:srgbClr val="DDE5E0"/>
            </a:solidFill>
            <a:prstDash val="solid"/>
          </a:ln>
        </p:spPr>
      </p:sp>
      <p:sp>
        <p:nvSpPr>
          <p:cNvPr id="30" name="Text 28"/>
          <p:cNvSpPr txBox="1"/>
          <p:nvPr/>
        </p:nvSpPr>
        <p:spPr>
          <a:xfrm>
            <a:off x="548640" y="42976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Temperature</a:t>
            </a:r>
            <a:endParaRPr lang="en-US" sz="1200" dirty="0"/>
          </a:p>
        </p:txBody>
      </p:sp>
      <p:sp>
        <p:nvSpPr>
          <p:cNvPr id="31" name="Shape 29"/>
          <p:cNvSpPr/>
          <p:nvPr/>
        </p:nvSpPr>
        <p:spPr>
          <a:xfrm>
            <a:off x="2423160" y="4297680"/>
            <a:ext cx="1737360" cy="347472"/>
          </a:xfrm>
          <a:prstGeom prst="roundRect">
            <a:avLst>
              <a:gd name="adj" fmla="val 50000"/>
            </a:avLst>
          </a:prstGeom>
          <a:solidFill>
            <a:srgbClr val="F3F7F4"/>
          </a:solidFill>
          <a:ln w="9525">
            <a:solidFill>
              <a:srgbClr val="DDE5E0"/>
            </a:solidFill>
            <a:prstDash val="solid"/>
          </a:ln>
        </p:spPr>
      </p:sp>
      <p:sp>
        <p:nvSpPr>
          <p:cNvPr id="32" name="Text 30"/>
          <p:cNvSpPr txBox="1"/>
          <p:nvPr/>
        </p:nvSpPr>
        <p:spPr>
          <a:xfrm>
            <a:off x="2423160" y="42976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Humidity</a:t>
            </a:r>
            <a:endParaRPr lang="en-US" sz="1200" dirty="0"/>
          </a:p>
        </p:txBody>
      </p:sp>
      <p:sp>
        <p:nvSpPr>
          <p:cNvPr id="33" name="Shape 31"/>
          <p:cNvSpPr/>
          <p:nvPr/>
        </p:nvSpPr>
        <p:spPr>
          <a:xfrm>
            <a:off x="4297680" y="4297680"/>
            <a:ext cx="1737360" cy="347472"/>
          </a:xfrm>
          <a:prstGeom prst="roundRect">
            <a:avLst>
              <a:gd name="adj" fmla="val 50000"/>
            </a:avLst>
          </a:prstGeom>
          <a:solidFill>
            <a:srgbClr val="F3F7F4"/>
          </a:solidFill>
          <a:ln w="9525">
            <a:solidFill>
              <a:srgbClr val="DDE5E0"/>
            </a:solidFill>
            <a:prstDash val="solid"/>
          </a:ln>
        </p:spPr>
      </p:sp>
      <p:sp>
        <p:nvSpPr>
          <p:cNvPr id="34" name="Text 32"/>
          <p:cNvSpPr txBox="1"/>
          <p:nvPr/>
        </p:nvSpPr>
        <p:spPr>
          <a:xfrm>
            <a:off x="4297680" y="4297680"/>
            <a:ext cx="1737360" cy="347472"/>
          </a:xfrm>
          <a:prstGeom prst="rect">
            <a:avLst/>
          </a:prstGeom>
          <a:noFill/>
          <a:ln/>
        </p:spPr>
        <p:txBody>
          <a:bodyPr wrap="square" lIns="0" tIns="0" rIns="0" bIns="0" rtlCol="0" anchor="ctr"/>
          <a:lstStyle/>
          <a:p>
            <a:pPr algn="ctr" indent="0" marL="0">
              <a:buNone/>
            </a:pPr>
            <a:r>
              <a:rPr lang="en-US" sz="1200" dirty="0">
                <a:solidFill>
                  <a:srgbClr val="15231C"/>
                </a:solidFill>
                <a:latin typeface="Calibri" pitchFamily="34" charset="0"/>
                <a:ea typeface="Calibri" pitchFamily="34" charset="-122"/>
                <a:cs typeface="Calibri" pitchFamily="34" charset="-120"/>
              </a:rPr>
              <a:t>Plot polygon</a:t>
            </a:r>
            <a:endParaRPr lang="en-US" sz="1200" dirty="0"/>
          </a:p>
        </p:txBody>
      </p:sp>
      <p:sp>
        <p:nvSpPr>
          <p:cNvPr id="35" name="Text 33"/>
          <p:cNvSpPr txBox="1"/>
          <p:nvPr/>
        </p:nvSpPr>
        <p:spPr>
          <a:xfrm>
            <a:off x="548640" y="4892040"/>
            <a:ext cx="5486400" cy="320040"/>
          </a:xfrm>
          <a:prstGeom prst="rect">
            <a:avLst/>
          </a:prstGeom>
          <a:noFill/>
          <a:ln/>
        </p:spPr>
        <p:txBody>
          <a:bodyPr wrap="square" lIns="0" tIns="0" rIns="0" bIns="0" rtlCol="0" anchor="ctr"/>
          <a:lstStyle/>
          <a:p>
            <a:pPr indent="0" marL="0">
              <a:buNone/>
            </a:pPr>
            <a:r>
              <a:rPr lang="en-US" sz="1500" b="1" dirty="0">
                <a:solidFill>
                  <a:srgbClr val="15231C"/>
                </a:solidFill>
                <a:latin typeface="Calibri" pitchFamily="34" charset="0"/>
                <a:ea typeface="Calibri" pitchFamily="34" charset="-122"/>
                <a:cs typeface="Calibri" pitchFamily="34" charset="-120"/>
              </a:rPr>
              <a:t>What our data audit found</a:t>
            </a:r>
            <a:endParaRPr lang="en-US" sz="1500" dirty="0"/>
          </a:p>
        </p:txBody>
      </p:sp>
      <p:sp>
        <p:nvSpPr>
          <p:cNvPr id="36" name="Text 34"/>
          <p:cNvSpPr txBox="1"/>
          <p:nvPr/>
        </p:nvSpPr>
        <p:spPr>
          <a:xfrm>
            <a:off x="548640" y="5230368"/>
            <a:ext cx="5669280" cy="11887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15231C"/>
                </a:solidFill>
                <a:latin typeface="Calibri" pitchFamily="34" charset="0"/>
                <a:ea typeface="Calibri" pitchFamily="34" charset="-122"/>
                <a:cs typeface="Calibri" pitchFamily="34" charset="-120"/>
              </a:rPr>
              <a:t>No target labels: nothing says when a plot was irrigated or what it yielded</a:t>
            </a:r>
            <a:endParaRPr lang="en-US" sz="1250" dirty="0"/>
          </a:p>
          <a:p>
            <a:pPr marL="342900" indent="-342900">
              <a:spcAft>
                <a:spcPts val="300"/>
              </a:spcAft>
              <a:buSzPct val="100000"/>
              <a:buChar char="•"/>
            </a:pPr>
            <a:r>
              <a:rPr lang="en-US" sz="1250" dirty="0">
                <a:solidFill>
                  <a:srgbClr val="15231C"/>
                </a:solidFill>
                <a:latin typeface="Calibri" pitchFamily="34" charset="0"/>
                <a:ea typeface="Calibri" pitchFamily="34" charset="-122"/>
                <a:cs typeface="Calibri" pitchFamily="34" charset="-120"/>
              </a:rPr>
              <a:t>6 NDVI gaps (cloud) → filled with the village median</a:t>
            </a:r>
            <a:endParaRPr lang="en-US" sz="1250" dirty="0"/>
          </a:p>
          <a:p>
            <a:pPr marL="342900" indent="-342900">
              <a:spcAft>
                <a:spcPts val="300"/>
              </a:spcAft>
              <a:buSzPct val="100000"/>
              <a:buChar char="•"/>
            </a:pPr>
            <a:r>
              <a:rPr lang="en-US" sz="1250" dirty="0">
                <a:solidFill>
                  <a:srgbClr val="15231C"/>
                </a:solidFill>
                <a:latin typeface="Calibri" pitchFamily="34" charset="0"/>
                <a:ea typeface="Calibri" pitchFamily="34" charset="-122"/>
                <a:cs typeface="Calibri" pitchFamily="34" charset="-120"/>
              </a:rPr>
              <a:t>Area, district and sampling method are constant → dropped</a:t>
            </a:r>
            <a:endParaRPr lang="en-US" sz="1250" dirty="0"/>
          </a:p>
          <a:p>
            <a:pPr marL="342900" indent="-342900">
              <a:spcAft>
                <a:spcPts val="300"/>
              </a:spcAft>
              <a:buSzPct val="100000"/>
              <a:buChar char="•"/>
            </a:pPr>
            <a:r>
              <a:rPr lang="en-US" sz="1250" dirty="0">
                <a:solidFill>
                  <a:srgbClr val="15231C"/>
                </a:solidFill>
                <a:latin typeface="Calibri" pitchFamily="34" charset="0"/>
                <a:ea typeface="Calibri" pitchFamily="34" charset="-122"/>
                <a:cs typeface="Calibri" pitchFamily="34" charset="-120"/>
              </a:rPr>
              <a:t>Temperature, humidity and rainfall correlated up to r = −0.94</a:t>
            </a:r>
            <a:endParaRPr lang="en-US" sz="1250" dirty="0"/>
          </a:p>
        </p:txBody>
      </p:sp>
      <p:sp>
        <p:nvSpPr>
          <p:cNvPr id="37" name="Shape 35"/>
          <p:cNvSpPr/>
          <p:nvPr/>
        </p:nvSpPr>
        <p:spPr>
          <a:xfrm>
            <a:off x="6492240" y="1645920"/>
            <a:ext cx="5166360" cy="4663440"/>
          </a:xfrm>
          <a:prstGeom prst="roundRect">
            <a:avLst>
              <a:gd name="adj" fmla="val 2353"/>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graphicFrame>
        <p:nvGraphicFramePr>
          <p:cNvPr id="38" name="Chart 0" descr=""/>
          <p:cNvGraphicFramePr/>
          <p:nvPr/>
        </p:nvGraphicFramePr>
        <p:xfrm>
          <a:off x="6675120" y="1783080"/>
          <a:ext cx="4846320" cy="4389120"/>
        </p:xfrm>
        <a:graphic xmlns:a="http://schemas.openxmlformats.org/drawingml/2006/main">
          <a:graphicData uri="http://schemas.openxmlformats.org/drawingml/2006/chart">
            <c:chart xmlns:c="http://schemas.openxmlformats.org/drawingml/2006/chart" r:id="rId1"/>
          </a:graphicData>
        </a:graphic>
      </p:graphicFrame>
      <p:sp>
        <p:nvSpPr>
          <p:cNvPr id="39" name="Text 36"/>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No labels? We taught the models agronomy</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Physics-informed machine learning: science creates the labels, trees learn the fast surrogate</a:t>
            </a:r>
            <a:endParaRPr lang="en-US" sz="1500" dirty="0"/>
          </a:p>
        </p:txBody>
      </p:sp>
      <p:sp>
        <p:nvSpPr>
          <p:cNvPr id="4" name="Shape 2"/>
          <p:cNvSpPr/>
          <p:nvPr/>
        </p:nvSpPr>
        <p:spPr>
          <a:xfrm>
            <a:off x="548640" y="1645920"/>
            <a:ext cx="658368" cy="658368"/>
          </a:xfrm>
          <a:prstGeom prst="ellipse">
            <a:avLst/>
          </a:prstGeom>
          <a:solidFill>
            <a:srgbClr val="1F8A58"/>
          </a:solidFill>
          <a:ln w="12700">
            <a:solidFill>
              <a:srgbClr val="1F8A58"/>
            </a:solidFill>
            <a:prstDash val="solid"/>
          </a:ln>
        </p:spPr>
      </p:sp>
      <p:pic>
        <p:nvPicPr>
          <p:cNvPr id="5" name="Image 0" descr="preencoded.png">    </p:cNvPr>
          <p:cNvPicPr>
            <a:picLocks noChangeAspect="1"/>
          </p:cNvPicPr>
          <p:nvPr/>
        </p:nvPicPr>
        <p:blipFill>
          <a:blip r:embed="rId1"/>
          <a:stretch>
            <a:fillRect/>
          </a:stretch>
        </p:blipFill>
        <p:spPr>
          <a:xfrm>
            <a:off x="693481" y="1790761"/>
            <a:ext cx="368686" cy="368686"/>
          </a:xfrm>
          <a:prstGeom prst="rect">
            <a:avLst/>
          </a:prstGeom>
        </p:spPr>
      </p:pic>
      <p:sp>
        <p:nvSpPr>
          <p:cNvPr id="6" name="Text 3"/>
          <p:cNvSpPr txBox="1"/>
          <p:nvPr/>
        </p:nvSpPr>
        <p:spPr>
          <a:xfrm>
            <a:off x="1417320" y="1664208"/>
            <a:ext cx="4754880" cy="329184"/>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1,000 real plots</a:t>
            </a:r>
            <a:endParaRPr lang="en-US" sz="1600" dirty="0"/>
          </a:p>
        </p:txBody>
      </p:sp>
      <p:sp>
        <p:nvSpPr>
          <p:cNvPr id="7" name="Text 4"/>
          <p:cNvSpPr txBox="1"/>
          <p:nvPr/>
        </p:nvSpPr>
        <p:spPr>
          <a:xfrm>
            <a:off x="1417320" y="1993392"/>
            <a:ext cx="4846320" cy="41148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Observed satellite, soil and climate features</a:t>
            </a:r>
            <a:endParaRPr lang="en-US" sz="1200" dirty="0"/>
          </a:p>
        </p:txBody>
      </p:sp>
      <p:sp>
        <p:nvSpPr>
          <p:cNvPr id="8" name="Shape 5"/>
          <p:cNvSpPr/>
          <p:nvPr/>
        </p:nvSpPr>
        <p:spPr>
          <a:xfrm>
            <a:off x="548640" y="2560320"/>
            <a:ext cx="658368" cy="658368"/>
          </a:xfrm>
          <a:prstGeom prst="ellipse">
            <a:avLst/>
          </a:prstGeom>
          <a:solidFill>
            <a:srgbClr val="1F8A58"/>
          </a:solidFill>
          <a:ln w="12700">
            <a:solidFill>
              <a:srgbClr val="1F8A58"/>
            </a:solidFill>
            <a:prstDash val="solid"/>
          </a:ln>
        </p:spPr>
      </p:sp>
      <p:pic>
        <p:nvPicPr>
          <p:cNvPr id="9" name="Image 1" descr="preencoded.png">    </p:cNvPr>
          <p:cNvPicPr>
            <a:picLocks noChangeAspect="1"/>
          </p:cNvPicPr>
          <p:nvPr/>
        </p:nvPicPr>
        <p:blipFill>
          <a:blip r:embed="rId2"/>
          <a:stretch>
            <a:fillRect/>
          </a:stretch>
        </p:blipFill>
        <p:spPr>
          <a:xfrm>
            <a:off x="693481" y="2705161"/>
            <a:ext cx="368686" cy="368686"/>
          </a:xfrm>
          <a:prstGeom prst="rect">
            <a:avLst/>
          </a:prstGeom>
        </p:spPr>
      </p:pic>
      <p:sp>
        <p:nvSpPr>
          <p:cNvPr id="10" name="Text 6"/>
          <p:cNvSpPr txBox="1"/>
          <p:nvPr/>
        </p:nvSpPr>
        <p:spPr>
          <a:xfrm>
            <a:off x="1417320" y="2578608"/>
            <a:ext cx="4754880" cy="329184"/>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 12 seasonal scenarios</a:t>
            </a:r>
            <a:endParaRPr lang="en-US" sz="1600" dirty="0"/>
          </a:p>
        </p:txBody>
      </p:sp>
      <p:sp>
        <p:nvSpPr>
          <p:cNvPr id="11" name="Text 7"/>
          <p:cNvSpPr txBox="1"/>
          <p:nvPr/>
        </p:nvSpPr>
        <p:spPr>
          <a:xfrm>
            <a:off x="1417320" y="2907792"/>
            <a:ext cx="4846320" cy="41148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Crop age 0-365 days, heat waves, dry spells, rain forecasts → 12,000 rows</a:t>
            </a:r>
            <a:endParaRPr lang="en-US" sz="1200" dirty="0"/>
          </a:p>
        </p:txBody>
      </p:sp>
      <p:sp>
        <p:nvSpPr>
          <p:cNvPr id="12" name="Shape 8"/>
          <p:cNvSpPr/>
          <p:nvPr/>
        </p:nvSpPr>
        <p:spPr>
          <a:xfrm>
            <a:off x="548640" y="3474720"/>
            <a:ext cx="658368" cy="658368"/>
          </a:xfrm>
          <a:prstGeom prst="ellipse">
            <a:avLst/>
          </a:prstGeom>
          <a:solidFill>
            <a:srgbClr val="2A78D6"/>
          </a:solidFill>
          <a:ln w="12700">
            <a:solidFill>
              <a:srgbClr val="2A78D6"/>
            </a:solidFill>
            <a:prstDash val="solid"/>
          </a:ln>
        </p:spPr>
      </p:sp>
      <p:pic>
        <p:nvPicPr>
          <p:cNvPr id="13" name="Image 2" descr="preencoded.png">    </p:cNvPr>
          <p:cNvPicPr>
            <a:picLocks noChangeAspect="1"/>
          </p:cNvPicPr>
          <p:nvPr/>
        </p:nvPicPr>
        <p:blipFill>
          <a:blip r:embed="rId3"/>
          <a:stretch>
            <a:fillRect/>
          </a:stretch>
        </p:blipFill>
        <p:spPr>
          <a:xfrm>
            <a:off x="693481" y="3619561"/>
            <a:ext cx="368686" cy="368686"/>
          </a:xfrm>
          <a:prstGeom prst="rect">
            <a:avLst/>
          </a:prstGeom>
        </p:spPr>
      </p:pic>
      <p:sp>
        <p:nvSpPr>
          <p:cNvPr id="14" name="Text 9"/>
          <p:cNvSpPr txBox="1"/>
          <p:nvPr/>
        </p:nvSpPr>
        <p:spPr>
          <a:xfrm>
            <a:off x="1417320" y="3493008"/>
            <a:ext cx="4754880" cy="329184"/>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Agronomy labels</a:t>
            </a:r>
            <a:endParaRPr lang="en-US" sz="1600" dirty="0"/>
          </a:p>
        </p:txBody>
      </p:sp>
      <p:sp>
        <p:nvSpPr>
          <p:cNvPr id="15" name="Text 10"/>
          <p:cNvSpPr txBox="1"/>
          <p:nvPr/>
        </p:nvSpPr>
        <p:spPr>
          <a:xfrm>
            <a:off x="1417320" y="3822192"/>
            <a:ext cx="4846320" cy="41148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FAO-56 water balance (ET₀, Kc, root depth, TAW/RAW) + FAO-33 yield response (Ky = 1.2)</a:t>
            </a:r>
            <a:endParaRPr lang="en-US" sz="1200" dirty="0"/>
          </a:p>
        </p:txBody>
      </p:sp>
      <p:sp>
        <p:nvSpPr>
          <p:cNvPr id="16" name="Shape 11"/>
          <p:cNvSpPr/>
          <p:nvPr/>
        </p:nvSpPr>
        <p:spPr>
          <a:xfrm>
            <a:off x="548640" y="4389120"/>
            <a:ext cx="658368" cy="658368"/>
          </a:xfrm>
          <a:prstGeom prst="ellipse">
            <a:avLst/>
          </a:prstGeom>
          <a:solidFill>
            <a:srgbClr val="1F8A58"/>
          </a:solidFill>
          <a:ln w="12700">
            <a:solidFill>
              <a:srgbClr val="1F8A58"/>
            </a:solidFill>
            <a:prstDash val="solid"/>
          </a:ln>
        </p:spPr>
      </p:sp>
      <p:pic>
        <p:nvPicPr>
          <p:cNvPr id="17" name="Image 3" descr="preencoded.png">    </p:cNvPr>
          <p:cNvPicPr>
            <a:picLocks noChangeAspect="1"/>
          </p:cNvPicPr>
          <p:nvPr/>
        </p:nvPicPr>
        <p:blipFill>
          <a:blip r:embed="rId4"/>
          <a:stretch>
            <a:fillRect/>
          </a:stretch>
        </p:blipFill>
        <p:spPr>
          <a:xfrm>
            <a:off x="693481" y="4533961"/>
            <a:ext cx="368686" cy="368686"/>
          </a:xfrm>
          <a:prstGeom prst="rect">
            <a:avLst/>
          </a:prstGeom>
        </p:spPr>
      </p:pic>
      <p:sp>
        <p:nvSpPr>
          <p:cNvPr id="18" name="Text 12"/>
          <p:cNvSpPr txBox="1"/>
          <p:nvPr/>
        </p:nvSpPr>
        <p:spPr>
          <a:xfrm>
            <a:off x="1417320" y="4407408"/>
            <a:ext cx="4754880" cy="329184"/>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 field noise</a:t>
            </a:r>
            <a:endParaRPr lang="en-US" sz="1600" dirty="0"/>
          </a:p>
        </p:txBody>
      </p:sp>
      <p:sp>
        <p:nvSpPr>
          <p:cNvPr id="19" name="Text 13"/>
          <p:cNvSpPr txBox="1"/>
          <p:nvPr/>
        </p:nvSpPr>
        <p:spPr>
          <a:xfrm>
            <a:off x="1417320" y="4736592"/>
            <a:ext cx="4846320" cy="41148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Realistic sensor &amp; weather error so models cannot memorise the formula</a:t>
            </a:r>
            <a:endParaRPr lang="en-US" sz="1200" dirty="0"/>
          </a:p>
        </p:txBody>
      </p:sp>
      <p:sp>
        <p:nvSpPr>
          <p:cNvPr id="20" name="Shape 14"/>
          <p:cNvSpPr/>
          <p:nvPr/>
        </p:nvSpPr>
        <p:spPr>
          <a:xfrm>
            <a:off x="548640" y="5303520"/>
            <a:ext cx="658368" cy="658368"/>
          </a:xfrm>
          <a:prstGeom prst="ellipse">
            <a:avLst/>
          </a:prstGeom>
          <a:solidFill>
            <a:srgbClr val="1F8A58"/>
          </a:solidFill>
          <a:ln w="12700">
            <a:solidFill>
              <a:srgbClr val="1F8A58"/>
            </a:solidFill>
            <a:prstDash val="solid"/>
          </a:ln>
        </p:spPr>
      </p:sp>
      <p:pic>
        <p:nvPicPr>
          <p:cNvPr id="21" name="Image 4" descr="preencoded.png">    </p:cNvPr>
          <p:cNvPicPr>
            <a:picLocks noChangeAspect="1"/>
          </p:cNvPicPr>
          <p:nvPr/>
        </p:nvPicPr>
        <p:blipFill>
          <a:blip r:embed="rId5"/>
          <a:stretch>
            <a:fillRect/>
          </a:stretch>
        </p:blipFill>
        <p:spPr>
          <a:xfrm>
            <a:off x="693481" y="5448361"/>
            <a:ext cx="368686" cy="368686"/>
          </a:xfrm>
          <a:prstGeom prst="rect">
            <a:avLst/>
          </a:prstGeom>
        </p:spPr>
      </p:pic>
      <p:sp>
        <p:nvSpPr>
          <p:cNvPr id="22" name="Text 15"/>
          <p:cNvSpPr txBox="1"/>
          <p:nvPr/>
        </p:nvSpPr>
        <p:spPr>
          <a:xfrm>
            <a:off x="1417320" y="5321808"/>
            <a:ext cx="4754880" cy="329184"/>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Tree ensembles</a:t>
            </a:r>
            <a:endParaRPr lang="en-US" sz="1600" dirty="0"/>
          </a:p>
        </p:txBody>
      </p:sp>
      <p:sp>
        <p:nvSpPr>
          <p:cNvPr id="23" name="Text 16"/>
          <p:cNvSpPr txBox="1"/>
          <p:nvPr/>
        </p:nvSpPr>
        <p:spPr>
          <a:xfrm>
            <a:off x="1417320" y="5650992"/>
            <a:ext cx="4846320" cy="41148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Train on 800 plots, test on 200 unseen plots (no leakage)</a:t>
            </a:r>
            <a:endParaRPr lang="en-US" sz="1200" dirty="0"/>
          </a:p>
        </p:txBody>
      </p:sp>
      <p:sp>
        <p:nvSpPr>
          <p:cNvPr id="24" name="Shape 17"/>
          <p:cNvSpPr/>
          <p:nvPr/>
        </p:nvSpPr>
        <p:spPr>
          <a:xfrm>
            <a:off x="6675120" y="1645920"/>
            <a:ext cx="4983480" cy="2331720"/>
          </a:xfrm>
          <a:prstGeom prst="roundRect">
            <a:avLst>
              <a:gd name="adj" fmla="val 4706"/>
            </a:avLst>
          </a:prstGeom>
          <a:solidFill>
            <a:srgbClr val="0F2F22"/>
          </a:solidFill>
          <a:ln w="12700">
            <a:solidFill>
              <a:srgbClr val="0F2F22"/>
            </a:solidFill>
            <a:prstDash val="solid"/>
          </a:ln>
        </p:spPr>
      </p:sp>
      <p:sp>
        <p:nvSpPr>
          <p:cNvPr id="25" name="Text 18"/>
          <p:cNvSpPr txBox="1"/>
          <p:nvPr/>
        </p:nvSpPr>
        <p:spPr>
          <a:xfrm>
            <a:off x="6949440" y="1828800"/>
            <a:ext cx="4480560" cy="365760"/>
          </a:xfrm>
          <a:prstGeom prst="rect">
            <a:avLst/>
          </a:prstGeom>
          <a:noFill/>
          <a:ln/>
        </p:spPr>
        <p:txBody>
          <a:bodyPr wrap="square" lIns="0" tIns="0" rIns="0" bIns="0" rtlCol="0" anchor="ctr"/>
          <a:lstStyle/>
          <a:p>
            <a:pPr indent="0" marL="0">
              <a:buNone/>
            </a:pPr>
            <a:r>
              <a:rPr lang="en-US" sz="1700" b="1" dirty="0">
                <a:solidFill>
                  <a:srgbClr val="5FD49A"/>
                </a:solidFill>
                <a:latin typeface="Calibri" pitchFamily="34" charset="0"/>
                <a:ea typeface="Calibri" pitchFamily="34" charset="-122"/>
                <a:cs typeface="Calibri" pitchFamily="34" charset="-120"/>
              </a:rPr>
              <a:t>Why not just use the formula?</a:t>
            </a:r>
            <a:endParaRPr lang="en-US" sz="1700" dirty="0"/>
          </a:p>
        </p:txBody>
      </p:sp>
      <p:sp>
        <p:nvSpPr>
          <p:cNvPr id="26" name="Text 19"/>
          <p:cNvSpPr txBox="1"/>
          <p:nvPr/>
        </p:nvSpPr>
        <p:spPr>
          <a:xfrm>
            <a:off x="6949440" y="2240280"/>
            <a:ext cx="4526280" cy="16459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E3F0E8"/>
                </a:solidFill>
                <a:latin typeface="Calibri" pitchFamily="34" charset="0"/>
                <a:ea typeface="Calibri" pitchFamily="34" charset="-122"/>
                <a:cs typeface="Calibri" pitchFamily="34" charset="-120"/>
              </a:rPr>
              <a:t>Real field labels (irrigation logs, yields) can replace the synthetic ones with zero code changes: npm run train</a:t>
            </a:r>
            <a:endParaRPr lang="en-US" sz="1300" dirty="0"/>
          </a:p>
          <a:p>
            <a:pPr marL="342900" indent="-342900">
              <a:spcAft>
                <a:spcPts val="400"/>
              </a:spcAft>
              <a:buSzPct val="100000"/>
              <a:buChar char="•"/>
            </a:pPr>
            <a:r>
              <a:rPr lang="en-US" sz="1300" dirty="0">
                <a:solidFill>
                  <a:srgbClr val="E3F0E8"/>
                </a:solidFill>
                <a:latin typeface="Calibri" pitchFamily="34" charset="0"/>
                <a:ea typeface="Calibri" pitchFamily="34" charset="-122"/>
                <a:cs typeface="Calibri" pitchFamily="34" charset="-120"/>
              </a:rPr>
              <a:t>Ensembles give uncertainty (± days) and feature importance</a:t>
            </a:r>
            <a:endParaRPr lang="en-US" sz="1300" dirty="0"/>
          </a:p>
          <a:p>
            <a:pPr marL="342900" indent="-342900">
              <a:spcAft>
                <a:spcPts val="400"/>
              </a:spcAft>
              <a:buSzPct val="100000"/>
              <a:buChar char="•"/>
            </a:pPr>
            <a:r>
              <a:rPr lang="en-US" sz="1300" dirty="0">
                <a:solidFill>
                  <a:srgbClr val="E3F0E8"/>
                </a:solidFill>
                <a:latin typeface="Calibri" pitchFamily="34" charset="0"/>
                <a:ea typeface="Calibri" pitchFamily="34" charset="-122"/>
                <a:cs typeface="Calibri" pitchFamily="34" charset="-120"/>
              </a:rPr>
              <a:t>Robust to noisy, missing and correlated sensor data</a:t>
            </a:r>
            <a:endParaRPr lang="en-US" sz="1300" dirty="0"/>
          </a:p>
        </p:txBody>
      </p:sp>
      <p:sp>
        <p:nvSpPr>
          <p:cNvPr id="27" name="Shape 20"/>
          <p:cNvSpPr/>
          <p:nvPr/>
        </p:nvSpPr>
        <p:spPr>
          <a:xfrm>
            <a:off x="6675120" y="4206240"/>
            <a:ext cx="4983480" cy="2103120"/>
          </a:xfrm>
          <a:prstGeom prst="roundRect">
            <a:avLst>
              <a:gd name="adj" fmla="val 5217"/>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8" name="Text 21"/>
          <p:cNvSpPr txBox="1"/>
          <p:nvPr/>
        </p:nvSpPr>
        <p:spPr>
          <a:xfrm>
            <a:off x="6949440" y="4370832"/>
            <a:ext cx="4480560" cy="320040"/>
          </a:xfrm>
          <a:prstGeom prst="rect">
            <a:avLst/>
          </a:prstGeom>
          <a:noFill/>
          <a:ln/>
        </p:spPr>
        <p:txBody>
          <a:bodyPr wrap="square" lIns="0" tIns="0" rIns="0" bIns="0" rtlCol="0" anchor="ctr"/>
          <a:lstStyle/>
          <a:p>
            <a:pPr indent="0" marL="0">
              <a:buNone/>
            </a:pPr>
            <a:r>
              <a:rPr lang="en-US" sz="1500" b="1" dirty="0">
                <a:solidFill>
                  <a:srgbClr val="1F8A58"/>
                </a:solidFill>
                <a:latin typeface="Calibri" pitchFamily="34" charset="0"/>
                <a:ea typeface="Calibri" pitchFamily="34" charset="-122"/>
                <a:cs typeface="Calibri" pitchFamily="34" charset="-120"/>
              </a:rPr>
              <a:t>Key agronomy in one line</a:t>
            </a:r>
            <a:endParaRPr lang="en-US" sz="1500" dirty="0"/>
          </a:p>
        </p:txBody>
      </p:sp>
      <p:sp>
        <p:nvSpPr>
          <p:cNvPr id="29" name="Text 22"/>
          <p:cNvSpPr txBox="1"/>
          <p:nvPr/>
        </p:nvSpPr>
        <p:spPr>
          <a:xfrm>
            <a:off x="6949440" y="4754880"/>
            <a:ext cx="4526280" cy="685800"/>
          </a:xfrm>
          <a:prstGeom prst="rect">
            <a:avLst/>
          </a:prstGeom>
          <a:noFill/>
          <a:ln/>
        </p:spPr>
        <p:txBody>
          <a:bodyPr wrap="square" lIns="0" tIns="0" rIns="0" bIns="0" rtlCol="0" anchor="ctr"/>
          <a:lstStyle/>
          <a:p>
            <a:pPr indent="0" marL="0">
              <a:buNone/>
            </a:pPr>
            <a:r>
              <a:rPr lang="en-US" sz="1500" i="1" dirty="0">
                <a:solidFill>
                  <a:srgbClr val="15231C"/>
                </a:solidFill>
                <a:latin typeface="Calibri" pitchFamily="34" charset="0"/>
                <a:ea typeface="Calibri" pitchFamily="34" charset="-122"/>
                <a:cs typeface="Calibri" pitchFamily="34" charset="-120"/>
              </a:rPr>
              <a:t>Days to irrigate = (RAW − current depletion + effective rain) ÷ crop water use</a:t>
            </a:r>
            <a:endParaRPr lang="en-US" sz="1500" dirty="0"/>
          </a:p>
        </p:txBody>
      </p:sp>
      <p:sp>
        <p:nvSpPr>
          <p:cNvPr id="30" name="Text 23"/>
          <p:cNvSpPr txBox="1"/>
          <p:nvPr/>
        </p:nvSpPr>
        <p:spPr>
          <a:xfrm>
            <a:off x="6949440" y="5486400"/>
            <a:ext cx="452628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RAW = readily available water in the root zone, ETc = Kc × ET₀ (Hargreaves).</a:t>
            </a:r>
            <a:endParaRPr lang="en-US" sz="1200" dirty="0"/>
          </a:p>
        </p:txBody>
      </p:sp>
      <p:sp>
        <p:nvSpPr>
          <p:cNvPr id="31" name="Text 24"/>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Seven models, all beating their baselines</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Evaluated on 200 plots never seen during training</a:t>
            </a:r>
            <a:endParaRPr lang="en-US" sz="1500" dirty="0"/>
          </a:p>
        </p:txBody>
      </p:sp>
      <p:sp>
        <p:nvSpPr>
          <p:cNvPr id="4" name="Shape 2"/>
          <p:cNvSpPr/>
          <p:nvPr/>
        </p:nvSpPr>
        <p:spPr>
          <a:xfrm>
            <a:off x="548640" y="1600200"/>
            <a:ext cx="6400800" cy="4709160"/>
          </a:xfrm>
          <a:prstGeom prst="roundRect">
            <a:avLst>
              <a:gd name="adj" fmla="val 2330"/>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graphicFrame>
        <p:nvGraphicFramePr>
          <p:cNvPr id="5" name="Chart 0" descr=""/>
          <p:cNvGraphicFramePr/>
          <p:nvPr/>
        </p:nvGraphicFramePr>
        <p:xfrm>
          <a:off x="731520" y="173736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23760" y="1600200"/>
            <a:ext cx="4434840" cy="1417320"/>
          </a:xfrm>
          <a:prstGeom prst="roundRect">
            <a:avLst>
              <a:gd name="adj" fmla="val 7742"/>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7424928" y="1828800"/>
            <a:ext cx="548640" cy="548640"/>
          </a:xfrm>
          <a:prstGeom prst="ellipse">
            <a:avLst/>
          </a:prstGeom>
          <a:solidFill>
            <a:srgbClr val="2A78D6"/>
          </a:solidFill>
          <a:ln w="12700">
            <a:solidFill>
              <a:srgbClr val="2A78D6"/>
            </a:solidFill>
            <a:prstDash val="solid"/>
          </a:ln>
        </p:spPr>
      </p:sp>
      <p:pic>
        <p:nvPicPr>
          <p:cNvPr id="8" name="Image 0" descr="preencoded.png">    </p:cNvPr>
          <p:cNvPicPr>
            <a:picLocks noChangeAspect="1"/>
          </p:cNvPicPr>
          <p:nvPr/>
        </p:nvPicPr>
        <p:blipFill>
          <a:blip r:embed="rId2"/>
          <a:stretch>
            <a:fillRect/>
          </a:stretch>
        </p:blipFill>
        <p:spPr>
          <a:xfrm>
            <a:off x="7545629" y="1949501"/>
            <a:ext cx="307238" cy="307238"/>
          </a:xfrm>
          <a:prstGeom prst="rect">
            <a:avLst/>
          </a:prstGeom>
        </p:spPr>
      </p:pic>
      <p:sp>
        <p:nvSpPr>
          <p:cNvPr id="9" name="Text 5"/>
          <p:cNvSpPr txBox="1"/>
          <p:nvPr/>
        </p:nvSpPr>
        <p:spPr>
          <a:xfrm>
            <a:off x="8138160" y="1783080"/>
            <a:ext cx="3383280" cy="320040"/>
          </a:xfrm>
          <a:prstGeom prst="rect">
            <a:avLst/>
          </a:prstGeom>
          <a:noFill/>
          <a:ln/>
        </p:spPr>
        <p:txBody>
          <a:bodyPr wrap="square" lIns="0" tIns="0" rIns="0" bIns="0" rtlCol="0" anchor="ctr"/>
          <a:lstStyle/>
          <a:p>
            <a:pPr indent="0" marL="0">
              <a:buNone/>
            </a:pPr>
            <a:r>
              <a:rPr lang="en-US" sz="1500" b="1" dirty="0">
                <a:solidFill>
                  <a:srgbClr val="15231C"/>
                </a:solidFill>
                <a:latin typeface="Calibri" pitchFamily="34" charset="0"/>
                <a:ea typeface="Calibri" pitchFamily="34" charset="-122"/>
                <a:cs typeface="Calibri" pitchFamily="34" charset="-120"/>
              </a:rPr>
              <a:t>Water-stress probability</a:t>
            </a:r>
            <a:endParaRPr lang="en-US" sz="1500" dirty="0"/>
          </a:p>
        </p:txBody>
      </p:sp>
      <p:sp>
        <p:nvSpPr>
          <p:cNvPr id="10" name="Text 6"/>
          <p:cNvSpPr txBox="1"/>
          <p:nvPr/>
        </p:nvSpPr>
        <p:spPr>
          <a:xfrm>
            <a:off x="8138160" y="2130552"/>
            <a:ext cx="1554480" cy="502920"/>
          </a:xfrm>
          <a:prstGeom prst="rect">
            <a:avLst/>
          </a:prstGeom>
          <a:noFill/>
          <a:ln/>
        </p:spPr>
        <p:txBody>
          <a:bodyPr wrap="square" lIns="0" tIns="0" rIns="0" bIns="0" rtlCol="0" anchor="ctr"/>
          <a:lstStyle/>
          <a:p>
            <a:pPr indent="0" marL="0">
              <a:buNone/>
            </a:pPr>
            <a:r>
              <a:rPr lang="en-US" sz="2800" b="1" dirty="0">
                <a:solidFill>
                  <a:srgbClr val="2A78D6"/>
                </a:solidFill>
                <a:latin typeface="Calibri" pitchFamily="34" charset="0"/>
                <a:ea typeface="Calibri" pitchFamily="34" charset="-122"/>
                <a:cs typeface="Calibri" pitchFamily="34" charset="-120"/>
              </a:rPr>
              <a:t>87.8%</a:t>
            </a:r>
            <a:endParaRPr lang="en-US" sz="2800" dirty="0"/>
          </a:p>
        </p:txBody>
      </p:sp>
      <p:sp>
        <p:nvSpPr>
          <p:cNvPr id="11" name="Text 7"/>
          <p:cNvSpPr txBox="1"/>
          <p:nvPr/>
        </p:nvSpPr>
        <p:spPr>
          <a:xfrm>
            <a:off x="9692640" y="2167128"/>
            <a:ext cx="1920240" cy="548640"/>
          </a:xfrm>
          <a:prstGeom prst="rect">
            <a:avLst/>
          </a:prstGeom>
          <a:noFill/>
          <a:ln/>
        </p:spPr>
        <p:txBody>
          <a:bodyPr wrap="square" lIns="0" tIns="0" rIns="0" bIns="0" rtlCol="0" anchor="ctr"/>
          <a:lstStyle/>
          <a:p>
            <a:pPr indent="0" marL="0">
              <a:buNone/>
            </a:pPr>
            <a:r>
              <a:rPr lang="en-US" sz="1100" dirty="0">
                <a:solidFill>
                  <a:srgbClr val="5E6B64"/>
                </a:solidFill>
                <a:latin typeface="Calibri" pitchFamily="34" charset="0"/>
                <a:ea typeface="Calibri" pitchFamily="34" charset="-122"/>
                <a:cs typeface="Calibri" pitchFamily="34" charset="-120"/>
              </a:rPr>
              <a:t>accuracy · F1 0.82</a:t>
            </a:r>
            <a:endParaRPr lang="en-US" sz="1100" dirty="0"/>
          </a:p>
          <a:p>
            <a:pPr indent="0" marL="0">
              <a:buNone/>
            </a:pPr>
            <a:r>
              <a:rPr lang="en-US" sz="1100" dirty="0">
                <a:solidFill>
                  <a:srgbClr val="5E6B64"/>
                </a:solidFill>
                <a:latin typeface="Calibri" pitchFamily="34" charset="0"/>
                <a:ea typeface="Calibri" pitchFamily="34" charset="-122"/>
                <a:cs typeface="Calibri" pitchFamily="34" charset="-120"/>
              </a:rPr>
              <a:t>logistic baseline 83.5%</a:t>
            </a:r>
            <a:endParaRPr lang="en-US" sz="1100" dirty="0"/>
          </a:p>
        </p:txBody>
      </p:sp>
      <p:sp>
        <p:nvSpPr>
          <p:cNvPr id="12" name="Shape 8"/>
          <p:cNvSpPr/>
          <p:nvPr/>
        </p:nvSpPr>
        <p:spPr>
          <a:xfrm>
            <a:off x="7223760" y="3200400"/>
            <a:ext cx="4434840" cy="1417320"/>
          </a:xfrm>
          <a:prstGeom prst="roundRect">
            <a:avLst>
              <a:gd name="adj" fmla="val 7742"/>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7424928" y="3429000"/>
            <a:ext cx="548640" cy="548640"/>
          </a:xfrm>
          <a:prstGeom prst="ellipse">
            <a:avLst/>
          </a:prstGeom>
          <a:solidFill>
            <a:srgbClr val="2A78D6"/>
          </a:solidFill>
          <a:ln w="12700">
            <a:solidFill>
              <a:srgbClr val="2A78D6"/>
            </a:solidFill>
            <a:prstDash val="solid"/>
          </a:ln>
        </p:spPr>
      </p:sp>
      <p:pic>
        <p:nvPicPr>
          <p:cNvPr id="14" name="Image 1" descr="preencoded.png">    </p:cNvPr>
          <p:cNvPicPr>
            <a:picLocks noChangeAspect="1"/>
          </p:cNvPicPr>
          <p:nvPr/>
        </p:nvPicPr>
        <p:blipFill>
          <a:blip r:embed="rId3"/>
          <a:stretch>
            <a:fillRect/>
          </a:stretch>
        </p:blipFill>
        <p:spPr>
          <a:xfrm>
            <a:off x="7545629" y="3549701"/>
            <a:ext cx="307238" cy="307238"/>
          </a:xfrm>
          <a:prstGeom prst="rect">
            <a:avLst/>
          </a:prstGeom>
        </p:spPr>
      </p:pic>
      <p:sp>
        <p:nvSpPr>
          <p:cNvPr id="15" name="Text 10"/>
          <p:cNvSpPr txBox="1"/>
          <p:nvPr/>
        </p:nvSpPr>
        <p:spPr>
          <a:xfrm>
            <a:off x="8138160" y="3383280"/>
            <a:ext cx="3383280" cy="320040"/>
          </a:xfrm>
          <a:prstGeom prst="rect">
            <a:avLst/>
          </a:prstGeom>
          <a:noFill/>
          <a:ln/>
        </p:spPr>
        <p:txBody>
          <a:bodyPr wrap="square" lIns="0" tIns="0" rIns="0" bIns="0" rtlCol="0" anchor="ctr"/>
          <a:lstStyle/>
          <a:p>
            <a:pPr indent="0" marL="0">
              <a:buNone/>
            </a:pPr>
            <a:r>
              <a:rPr lang="en-US" sz="1500" b="1" dirty="0">
                <a:solidFill>
                  <a:srgbClr val="15231C"/>
                </a:solidFill>
                <a:latin typeface="Calibri" pitchFamily="34" charset="0"/>
                <a:ea typeface="Calibri" pitchFamily="34" charset="-122"/>
                <a:cs typeface="Calibri" pitchFamily="34" charset="-120"/>
              </a:rPr>
              <a:t>Disease &amp; pest risk</a:t>
            </a:r>
            <a:endParaRPr lang="en-US" sz="1500" dirty="0"/>
          </a:p>
        </p:txBody>
      </p:sp>
      <p:sp>
        <p:nvSpPr>
          <p:cNvPr id="16" name="Text 11"/>
          <p:cNvSpPr txBox="1"/>
          <p:nvPr/>
        </p:nvSpPr>
        <p:spPr>
          <a:xfrm>
            <a:off x="8138160" y="3730752"/>
            <a:ext cx="1554480" cy="502920"/>
          </a:xfrm>
          <a:prstGeom prst="rect">
            <a:avLst/>
          </a:prstGeom>
          <a:noFill/>
          <a:ln/>
        </p:spPr>
        <p:txBody>
          <a:bodyPr wrap="square" lIns="0" tIns="0" rIns="0" bIns="0" rtlCol="0" anchor="ctr"/>
          <a:lstStyle/>
          <a:p>
            <a:pPr indent="0" marL="0">
              <a:buNone/>
            </a:pPr>
            <a:r>
              <a:rPr lang="en-US" sz="2800" b="1" dirty="0">
                <a:solidFill>
                  <a:srgbClr val="2A78D6"/>
                </a:solidFill>
                <a:latin typeface="Calibri" pitchFamily="34" charset="0"/>
                <a:ea typeface="Calibri" pitchFamily="34" charset="-122"/>
                <a:cs typeface="Calibri" pitchFamily="34" charset="-120"/>
              </a:rPr>
              <a:t>87.3%</a:t>
            </a:r>
            <a:endParaRPr lang="en-US" sz="2800" dirty="0"/>
          </a:p>
        </p:txBody>
      </p:sp>
      <p:sp>
        <p:nvSpPr>
          <p:cNvPr id="17" name="Text 12"/>
          <p:cNvSpPr txBox="1"/>
          <p:nvPr/>
        </p:nvSpPr>
        <p:spPr>
          <a:xfrm>
            <a:off x="9692640" y="3767328"/>
            <a:ext cx="1920240" cy="548640"/>
          </a:xfrm>
          <a:prstGeom prst="rect">
            <a:avLst/>
          </a:prstGeom>
          <a:noFill/>
          <a:ln/>
        </p:spPr>
        <p:txBody>
          <a:bodyPr wrap="square" lIns="0" tIns="0" rIns="0" bIns="0" rtlCol="0" anchor="ctr"/>
          <a:lstStyle/>
          <a:p>
            <a:pPr indent="0" marL="0">
              <a:buNone/>
            </a:pPr>
            <a:r>
              <a:rPr lang="en-US" sz="1100" dirty="0">
                <a:solidFill>
                  <a:srgbClr val="5E6B64"/>
                </a:solidFill>
                <a:latin typeface="Calibri" pitchFamily="34" charset="0"/>
                <a:ea typeface="Calibri" pitchFamily="34" charset="-122"/>
                <a:cs typeface="Calibri" pitchFamily="34" charset="-120"/>
              </a:rPr>
              <a:t>accuracy · F1 0.76</a:t>
            </a:r>
            <a:endParaRPr lang="en-US" sz="1100" dirty="0"/>
          </a:p>
          <a:p>
            <a:pPr indent="0" marL="0">
              <a:buNone/>
            </a:pPr>
            <a:r>
              <a:rPr lang="en-US" sz="1100" dirty="0">
                <a:solidFill>
                  <a:srgbClr val="5E6B64"/>
                </a:solidFill>
                <a:latin typeface="Calibri" pitchFamily="34" charset="0"/>
                <a:ea typeface="Calibri" pitchFamily="34" charset="-122"/>
                <a:cs typeface="Calibri" pitchFamily="34" charset="-120"/>
              </a:rPr>
              <a:t>logistic baseline 82.0%</a:t>
            </a:r>
            <a:endParaRPr lang="en-US" sz="1100" dirty="0"/>
          </a:p>
        </p:txBody>
      </p:sp>
      <p:sp>
        <p:nvSpPr>
          <p:cNvPr id="18" name="Shape 13"/>
          <p:cNvSpPr/>
          <p:nvPr/>
        </p:nvSpPr>
        <p:spPr>
          <a:xfrm>
            <a:off x="7223760" y="4800600"/>
            <a:ext cx="4434840" cy="1508760"/>
          </a:xfrm>
          <a:prstGeom prst="roundRect">
            <a:avLst>
              <a:gd name="adj" fmla="val 7273"/>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9" name="Shape 14"/>
          <p:cNvSpPr/>
          <p:nvPr/>
        </p:nvSpPr>
        <p:spPr>
          <a:xfrm>
            <a:off x="7424928" y="5029200"/>
            <a:ext cx="548640" cy="548640"/>
          </a:xfrm>
          <a:prstGeom prst="ellipse">
            <a:avLst/>
          </a:prstGeom>
          <a:solidFill>
            <a:srgbClr val="1F8A58"/>
          </a:solidFill>
          <a:ln w="12700">
            <a:solidFill>
              <a:srgbClr val="1F8A58"/>
            </a:solidFill>
            <a:prstDash val="solid"/>
          </a:ln>
        </p:spPr>
      </p:sp>
      <p:pic>
        <p:nvPicPr>
          <p:cNvPr id="20" name="Image 2" descr="preencoded.png">    </p:cNvPr>
          <p:cNvPicPr>
            <a:picLocks noChangeAspect="1"/>
          </p:cNvPicPr>
          <p:nvPr/>
        </p:nvPicPr>
        <p:blipFill>
          <a:blip r:embed="rId4"/>
          <a:stretch>
            <a:fillRect/>
          </a:stretch>
        </p:blipFill>
        <p:spPr>
          <a:xfrm>
            <a:off x="7545629" y="5149901"/>
            <a:ext cx="307238" cy="307238"/>
          </a:xfrm>
          <a:prstGeom prst="rect">
            <a:avLst/>
          </a:prstGeom>
        </p:spPr>
      </p:pic>
      <p:sp>
        <p:nvSpPr>
          <p:cNvPr id="21" name="Text 15"/>
          <p:cNvSpPr txBox="1"/>
          <p:nvPr/>
        </p:nvSpPr>
        <p:spPr>
          <a:xfrm>
            <a:off x="8138160" y="4956048"/>
            <a:ext cx="3383280" cy="320040"/>
          </a:xfrm>
          <a:prstGeom prst="rect">
            <a:avLst/>
          </a:prstGeom>
          <a:noFill/>
          <a:ln/>
        </p:spPr>
        <p:txBody>
          <a:bodyPr wrap="square" lIns="0" tIns="0" rIns="0" bIns="0" rtlCol="0" anchor="ctr"/>
          <a:lstStyle/>
          <a:p>
            <a:pPr indent="0" marL="0">
              <a:buNone/>
            </a:pPr>
            <a:r>
              <a:rPr lang="en-US" sz="1500" b="1" dirty="0">
                <a:solidFill>
                  <a:srgbClr val="15231C"/>
                </a:solidFill>
                <a:latin typeface="Calibri" pitchFamily="34" charset="0"/>
                <a:ea typeface="Calibri" pitchFamily="34" charset="-122"/>
                <a:cs typeface="Calibri" pitchFamily="34" charset="-120"/>
              </a:rPr>
              <a:t>Runs natively in Node.js</a:t>
            </a:r>
            <a:endParaRPr lang="en-US" sz="1500" dirty="0"/>
          </a:p>
        </p:txBody>
      </p:sp>
      <p:sp>
        <p:nvSpPr>
          <p:cNvPr id="22" name="Text 16"/>
          <p:cNvSpPr txBox="1"/>
          <p:nvPr/>
        </p:nvSpPr>
        <p:spPr>
          <a:xfrm>
            <a:off x="8138160" y="5303520"/>
            <a:ext cx="3383280" cy="914400"/>
          </a:xfrm>
          <a:prstGeom prst="rect">
            <a:avLst/>
          </a:prstGeom>
          <a:noFill/>
          <a:ln/>
        </p:spPr>
        <p:txBody>
          <a:bodyPr wrap="square" lIns="0" tIns="0" rIns="0" bIns="0" rtlCol="0" anchor="ctr"/>
          <a:lstStyle/>
          <a:p>
            <a:pPr indent="0" marL="0">
              <a:buNone/>
            </a:pPr>
            <a:r>
              <a:rPr lang="en-US" sz="1150" dirty="0">
                <a:solidFill>
                  <a:srgbClr val="5E6B64"/>
                </a:solidFill>
                <a:latin typeface="Calibri" pitchFamily="34" charset="0"/>
                <a:ea typeface="Calibri" pitchFamily="34" charset="-122"/>
                <a:cs typeface="Calibri" pitchFamily="34" charset="-120"/>
              </a:rPr>
              <a:t>Trees exported to JSON. 23 automated tests prove the JavaScript predictions match scikit-learn exactly. All 1,000 plots scored in &lt; 0.3 s.</a:t>
            </a:r>
            <a:endParaRPr lang="en-US" sz="1150" dirty="0"/>
          </a:p>
        </p:txBody>
      </p:sp>
      <p:sp>
        <p:nvSpPr>
          <p:cNvPr id="23" name="Text 17"/>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All 11 models from the use case - implemented</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Plus one extra: unsupervised management zones</a:t>
            </a:r>
            <a:endParaRPr lang="en-US" sz="1500" dirty="0"/>
          </a:p>
        </p:txBody>
      </p:sp>
      <p:sp>
        <p:nvSpPr>
          <p:cNvPr id="4" name="Shape 2"/>
          <p:cNvSpPr/>
          <p:nvPr/>
        </p:nvSpPr>
        <p:spPr>
          <a:xfrm>
            <a:off x="548640" y="1645920"/>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49808" y="1920240"/>
            <a:ext cx="420624" cy="420624"/>
          </a:xfrm>
          <a:prstGeom prst="rect">
            <a:avLst/>
          </a:prstGeom>
        </p:spPr>
      </p:pic>
      <p:sp>
        <p:nvSpPr>
          <p:cNvPr id="6" name="Text 3"/>
          <p:cNvSpPr txBox="1"/>
          <p:nvPr/>
        </p:nvSpPr>
        <p:spPr>
          <a:xfrm>
            <a:off x="1325880" y="1828800"/>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Next irrigation date</a:t>
            </a:r>
            <a:endParaRPr lang="en-US" sz="1450" dirty="0"/>
          </a:p>
        </p:txBody>
      </p:sp>
      <p:sp>
        <p:nvSpPr>
          <p:cNvPr id="7" name="Text 4"/>
          <p:cNvSpPr txBox="1"/>
          <p:nvPr/>
        </p:nvSpPr>
        <p:spPr>
          <a:xfrm>
            <a:off x="1325880" y="2176272"/>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Random Forest + uncertainty</a:t>
            </a:r>
            <a:endParaRPr lang="en-US" sz="1200" dirty="0"/>
          </a:p>
        </p:txBody>
      </p:sp>
      <p:sp>
        <p:nvSpPr>
          <p:cNvPr id="8" name="Shape 5"/>
          <p:cNvSpPr/>
          <p:nvPr/>
        </p:nvSpPr>
        <p:spPr>
          <a:xfrm>
            <a:off x="4297680" y="1645920"/>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4498848" y="1920240"/>
            <a:ext cx="420624" cy="420624"/>
          </a:xfrm>
          <a:prstGeom prst="rect">
            <a:avLst/>
          </a:prstGeom>
        </p:spPr>
      </p:pic>
      <p:sp>
        <p:nvSpPr>
          <p:cNvPr id="10" name="Text 6"/>
          <p:cNvSpPr txBox="1"/>
          <p:nvPr/>
        </p:nvSpPr>
        <p:spPr>
          <a:xfrm>
            <a:off x="5074920" y="1828800"/>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Irrigation duration</a:t>
            </a:r>
            <a:endParaRPr lang="en-US" sz="1450" dirty="0"/>
          </a:p>
        </p:txBody>
      </p:sp>
      <p:sp>
        <p:nvSpPr>
          <p:cNvPr id="11" name="Text 7"/>
          <p:cNvSpPr txBox="1"/>
          <p:nvPr/>
        </p:nvSpPr>
        <p:spPr>
          <a:xfrm>
            <a:off x="5074920" y="2176272"/>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GBM depth → pump hours</a:t>
            </a:r>
            <a:endParaRPr lang="en-US" sz="1200" dirty="0"/>
          </a:p>
        </p:txBody>
      </p:sp>
      <p:sp>
        <p:nvSpPr>
          <p:cNvPr id="12" name="Shape 8"/>
          <p:cNvSpPr/>
          <p:nvPr/>
        </p:nvSpPr>
        <p:spPr>
          <a:xfrm>
            <a:off x="8046720" y="1645920"/>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8247888" y="1920240"/>
            <a:ext cx="420624" cy="420624"/>
          </a:xfrm>
          <a:prstGeom prst="rect">
            <a:avLst/>
          </a:prstGeom>
        </p:spPr>
      </p:pic>
      <p:sp>
        <p:nvSpPr>
          <p:cNvPr id="14" name="Text 9"/>
          <p:cNvSpPr txBox="1"/>
          <p:nvPr/>
        </p:nvSpPr>
        <p:spPr>
          <a:xfrm>
            <a:off x="8823960" y="1828800"/>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Crop water requirement</a:t>
            </a:r>
            <a:endParaRPr lang="en-US" sz="1450" dirty="0"/>
          </a:p>
        </p:txBody>
      </p:sp>
      <p:sp>
        <p:nvSpPr>
          <p:cNvPr id="15" name="Text 10"/>
          <p:cNvSpPr txBox="1"/>
          <p:nvPr/>
        </p:nvSpPr>
        <p:spPr>
          <a:xfrm>
            <a:off x="8823960" y="2176272"/>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GBM regressor (ETc)</a:t>
            </a:r>
            <a:endParaRPr lang="en-US" sz="1200" dirty="0"/>
          </a:p>
        </p:txBody>
      </p:sp>
      <p:sp>
        <p:nvSpPr>
          <p:cNvPr id="16" name="Shape 11"/>
          <p:cNvSpPr/>
          <p:nvPr/>
        </p:nvSpPr>
        <p:spPr>
          <a:xfrm>
            <a:off x="548640" y="2816352"/>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749808" y="3090672"/>
            <a:ext cx="420624" cy="420624"/>
          </a:xfrm>
          <a:prstGeom prst="rect">
            <a:avLst/>
          </a:prstGeom>
        </p:spPr>
      </p:pic>
      <p:sp>
        <p:nvSpPr>
          <p:cNvPr id="18" name="Text 12"/>
          <p:cNvSpPr txBox="1"/>
          <p:nvPr/>
        </p:nvSpPr>
        <p:spPr>
          <a:xfrm>
            <a:off x="1325880" y="2999232"/>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Water stress probability</a:t>
            </a:r>
            <a:endParaRPr lang="en-US" sz="1450" dirty="0"/>
          </a:p>
        </p:txBody>
      </p:sp>
      <p:sp>
        <p:nvSpPr>
          <p:cNvPr id="19" name="Text 13"/>
          <p:cNvSpPr txBox="1"/>
          <p:nvPr/>
        </p:nvSpPr>
        <p:spPr>
          <a:xfrm>
            <a:off x="1325880" y="3346704"/>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RF 4-class probabilities</a:t>
            </a:r>
            <a:endParaRPr lang="en-US" sz="1200" dirty="0"/>
          </a:p>
        </p:txBody>
      </p:sp>
      <p:sp>
        <p:nvSpPr>
          <p:cNvPr id="20" name="Shape 14"/>
          <p:cNvSpPr/>
          <p:nvPr/>
        </p:nvSpPr>
        <p:spPr>
          <a:xfrm>
            <a:off x="4297680" y="2816352"/>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21" name="Image 4" descr="preencoded.png">    </p:cNvPr>
          <p:cNvPicPr>
            <a:picLocks noChangeAspect="1"/>
          </p:cNvPicPr>
          <p:nvPr/>
        </p:nvPicPr>
        <p:blipFill>
          <a:blip r:embed="rId5"/>
          <a:stretch>
            <a:fillRect/>
          </a:stretch>
        </p:blipFill>
        <p:spPr>
          <a:xfrm>
            <a:off x="4498848" y="3090672"/>
            <a:ext cx="420624" cy="420624"/>
          </a:xfrm>
          <a:prstGeom prst="rect">
            <a:avLst/>
          </a:prstGeom>
        </p:spPr>
      </p:pic>
      <p:sp>
        <p:nvSpPr>
          <p:cNvPr id="22" name="Text 15"/>
          <p:cNvSpPr txBox="1"/>
          <p:nvPr/>
        </p:nvSpPr>
        <p:spPr>
          <a:xfrm>
            <a:off x="5074920" y="2999232"/>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Rainfall-adjusted advice</a:t>
            </a:r>
            <a:endParaRPr lang="en-US" sz="1450" dirty="0"/>
          </a:p>
        </p:txBody>
      </p:sp>
      <p:sp>
        <p:nvSpPr>
          <p:cNvPr id="23" name="Text 16"/>
          <p:cNvSpPr txBox="1"/>
          <p:nvPr/>
        </p:nvSpPr>
        <p:spPr>
          <a:xfrm>
            <a:off x="5074920" y="3346704"/>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Forecast input + counterfactual</a:t>
            </a:r>
            <a:endParaRPr lang="en-US" sz="1200" dirty="0"/>
          </a:p>
        </p:txBody>
      </p:sp>
      <p:sp>
        <p:nvSpPr>
          <p:cNvPr id="24" name="Shape 17"/>
          <p:cNvSpPr/>
          <p:nvPr/>
        </p:nvSpPr>
        <p:spPr>
          <a:xfrm>
            <a:off x="8046720" y="2816352"/>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25" name="Image 5" descr="preencoded.png">    </p:cNvPr>
          <p:cNvPicPr>
            <a:picLocks noChangeAspect="1"/>
          </p:cNvPicPr>
          <p:nvPr/>
        </p:nvPicPr>
        <p:blipFill>
          <a:blip r:embed="rId6"/>
          <a:stretch>
            <a:fillRect/>
          </a:stretch>
        </p:blipFill>
        <p:spPr>
          <a:xfrm>
            <a:off x="8247888" y="3090672"/>
            <a:ext cx="420624" cy="420624"/>
          </a:xfrm>
          <a:prstGeom prst="rect">
            <a:avLst/>
          </a:prstGeom>
        </p:spPr>
      </p:pic>
      <p:sp>
        <p:nvSpPr>
          <p:cNvPr id="26" name="Text 18"/>
          <p:cNvSpPr txBox="1"/>
          <p:nvPr/>
        </p:nvSpPr>
        <p:spPr>
          <a:xfrm>
            <a:off x="8823960" y="2999232"/>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Yield loss from delay</a:t>
            </a:r>
            <a:endParaRPr lang="en-US" sz="1450" dirty="0"/>
          </a:p>
        </p:txBody>
      </p:sp>
      <p:sp>
        <p:nvSpPr>
          <p:cNvPr id="27" name="Text 19"/>
          <p:cNvSpPr txBox="1"/>
          <p:nvPr/>
        </p:nvSpPr>
        <p:spPr>
          <a:xfrm>
            <a:off x="8823960" y="3346704"/>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GBM with delay as input</a:t>
            </a:r>
            <a:endParaRPr lang="en-US" sz="1200" dirty="0"/>
          </a:p>
        </p:txBody>
      </p:sp>
      <p:sp>
        <p:nvSpPr>
          <p:cNvPr id="28" name="Shape 20"/>
          <p:cNvSpPr/>
          <p:nvPr/>
        </p:nvSpPr>
        <p:spPr>
          <a:xfrm>
            <a:off x="548640" y="3986784"/>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29" name="Image 6" descr="preencoded.png">    </p:cNvPr>
          <p:cNvPicPr>
            <a:picLocks noChangeAspect="1"/>
          </p:cNvPicPr>
          <p:nvPr/>
        </p:nvPicPr>
        <p:blipFill>
          <a:blip r:embed="rId7"/>
          <a:stretch>
            <a:fillRect/>
          </a:stretch>
        </p:blipFill>
        <p:spPr>
          <a:xfrm>
            <a:off x="749808" y="4261104"/>
            <a:ext cx="420624" cy="420624"/>
          </a:xfrm>
          <a:prstGeom prst="rect">
            <a:avLst/>
          </a:prstGeom>
        </p:spPr>
      </p:pic>
      <p:sp>
        <p:nvSpPr>
          <p:cNvPr id="30" name="Text 21"/>
          <p:cNvSpPr txBox="1"/>
          <p:nvPr/>
        </p:nvSpPr>
        <p:spPr>
          <a:xfrm>
            <a:off x="1325880" y="4169664"/>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Pump scheduling</a:t>
            </a:r>
            <a:endParaRPr lang="en-US" sz="1450" dirty="0"/>
          </a:p>
        </p:txBody>
      </p:sp>
      <p:sp>
        <p:nvSpPr>
          <p:cNvPr id="31" name="Text 22"/>
          <p:cNvSpPr txBox="1"/>
          <p:nvPr/>
        </p:nvSpPr>
        <p:spPr>
          <a:xfrm>
            <a:off x="1325880" y="4517136"/>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WSPT optimisation</a:t>
            </a:r>
            <a:endParaRPr lang="en-US" sz="1200" dirty="0"/>
          </a:p>
        </p:txBody>
      </p:sp>
      <p:sp>
        <p:nvSpPr>
          <p:cNvPr id="32" name="Shape 23"/>
          <p:cNvSpPr/>
          <p:nvPr/>
        </p:nvSpPr>
        <p:spPr>
          <a:xfrm>
            <a:off x="4297680" y="3986784"/>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33" name="Image 7" descr="preencoded.png">    </p:cNvPr>
          <p:cNvPicPr>
            <a:picLocks noChangeAspect="1"/>
          </p:cNvPicPr>
          <p:nvPr/>
        </p:nvPicPr>
        <p:blipFill>
          <a:blip r:embed="rId8"/>
          <a:stretch>
            <a:fillRect/>
          </a:stretch>
        </p:blipFill>
        <p:spPr>
          <a:xfrm>
            <a:off x="4498848" y="4261104"/>
            <a:ext cx="420624" cy="420624"/>
          </a:xfrm>
          <a:prstGeom prst="rect">
            <a:avLst/>
          </a:prstGeom>
        </p:spPr>
      </p:pic>
      <p:sp>
        <p:nvSpPr>
          <p:cNvPr id="34" name="Text 24"/>
          <p:cNvSpPr txBox="1"/>
          <p:nvPr/>
        </p:nvSpPr>
        <p:spPr>
          <a:xfrm>
            <a:off x="5074920" y="4169664"/>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Fertigation</a:t>
            </a:r>
            <a:endParaRPr lang="en-US" sz="1450" dirty="0"/>
          </a:p>
        </p:txBody>
      </p:sp>
      <p:sp>
        <p:nvSpPr>
          <p:cNvPr id="35" name="Text 25"/>
          <p:cNvSpPr txBox="1"/>
          <p:nvPr/>
        </p:nvSpPr>
        <p:spPr>
          <a:xfrm>
            <a:off x="5074920" y="4517136"/>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Stage-wise NPK engine</a:t>
            </a:r>
            <a:endParaRPr lang="en-US" sz="1200" dirty="0"/>
          </a:p>
        </p:txBody>
      </p:sp>
      <p:sp>
        <p:nvSpPr>
          <p:cNvPr id="36" name="Shape 26"/>
          <p:cNvSpPr/>
          <p:nvPr/>
        </p:nvSpPr>
        <p:spPr>
          <a:xfrm>
            <a:off x="8046720" y="3986784"/>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37" name="Image 8" descr="preencoded.png">    </p:cNvPr>
          <p:cNvPicPr>
            <a:picLocks noChangeAspect="1"/>
          </p:cNvPicPr>
          <p:nvPr/>
        </p:nvPicPr>
        <p:blipFill>
          <a:blip r:embed="rId9"/>
          <a:stretch>
            <a:fillRect/>
          </a:stretch>
        </p:blipFill>
        <p:spPr>
          <a:xfrm>
            <a:off x="8247888" y="4261104"/>
            <a:ext cx="420624" cy="420624"/>
          </a:xfrm>
          <a:prstGeom prst="rect">
            <a:avLst/>
          </a:prstGeom>
        </p:spPr>
      </p:pic>
      <p:sp>
        <p:nvSpPr>
          <p:cNvPr id="38" name="Text 27"/>
          <p:cNvSpPr txBox="1"/>
          <p:nvPr/>
        </p:nvSpPr>
        <p:spPr>
          <a:xfrm>
            <a:off x="8823960" y="4169664"/>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Disease &amp; stress forecast</a:t>
            </a:r>
            <a:endParaRPr lang="en-US" sz="1450" dirty="0"/>
          </a:p>
        </p:txBody>
      </p:sp>
      <p:sp>
        <p:nvSpPr>
          <p:cNvPr id="39" name="Text 28"/>
          <p:cNvSpPr txBox="1"/>
          <p:nvPr/>
        </p:nvSpPr>
        <p:spPr>
          <a:xfrm>
            <a:off x="8823960" y="4517136"/>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RF risk classifier + rules</a:t>
            </a:r>
            <a:endParaRPr lang="en-US" sz="1200" dirty="0"/>
          </a:p>
        </p:txBody>
      </p:sp>
      <p:sp>
        <p:nvSpPr>
          <p:cNvPr id="40" name="Shape 29"/>
          <p:cNvSpPr/>
          <p:nvPr/>
        </p:nvSpPr>
        <p:spPr>
          <a:xfrm>
            <a:off x="548640" y="5157216"/>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41" name="Image 9" descr="preencoded.png">    </p:cNvPr>
          <p:cNvPicPr>
            <a:picLocks noChangeAspect="1"/>
          </p:cNvPicPr>
          <p:nvPr/>
        </p:nvPicPr>
        <p:blipFill>
          <a:blip r:embed="rId10"/>
          <a:stretch>
            <a:fillRect/>
          </a:stretch>
        </p:blipFill>
        <p:spPr>
          <a:xfrm>
            <a:off x="749808" y="5431536"/>
            <a:ext cx="420624" cy="420624"/>
          </a:xfrm>
          <a:prstGeom prst="rect">
            <a:avLst/>
          </a:prstGeom>
        </p:spPr>
      </p:pic>
      <p:sp>
        <p:nvSpPr>
          <p:cNvPr id="42" name="Text 30"/>
          <p:cNvSpPr txBox="1"/>
          <p:nvPr/>
        </p:nvSpPr>
        <p:spPr>
          <a:xfrm>
            <a:off x="1325880" y="5340096"/>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Yield prediction</a:t>
            </a:r>
            <a:endParaRPr lang="en-US" sz="1450" dirty="0"/>
          </a:p>
        </p:txBody>
      </p:sp>
      <p:sp>
        <p:nvSpPr>
          <p:cNvPr id="43" name="Text 31"/>
          <p:cNvSpPr txBox="1"/>
          <p:nvPr/>
        </p:nvSpPr>
        <p:spPr>
          <a:xfrm>
            <a:off x="1325880" y="5687568"/>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GBM regressor (t/ha)</a:t>
            </a:r>
            <a:endParaRPr lang="en-US" sz="1200" dirty="0"/>
          </a:p>
        </p:txBody>
      </p:sp>
      <p:sp>
        <p:nvSpPr>
          <p:cNvPr id="44" name="Shape 32"/>
          <p:cNvSpPr/>
          <p:nvPr/>
        </p:nvSpPr>
        <p:spPr>
          <a:xfrm>
            <a:off x="4297680" y="5157216"/>
            <a:ext cx="3520440" cy="987552"/>
          </a:xfrm>
          <a:prstGeom prst="roundRect">
            <a:avLst>
              <a:gd name="adj" fmla="val 11111"/>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45" name="Image 10" descr="preencoded.png">    </p:cNvPr>
          <p:cNvPicPr>
            <a:picLocks noChangeAspect="1"/>
          </p:cNvPicPr>
          <p:nvPr/>
        </p:nvPicPr>
        <p:blipFill>
          <a:blip r:embed="rId11"/>
          <a:stretch>
            <a:fillRect/>
          </a:stretch>
        </p:blipFill>
        <p:spPr>
          <a:xfrm>
            <a:off x="4498848" y="5431536"/>
            <a:ext cx="420624" cy="420624"/>
          </a:xfrm>
          <a:prstGeom prst="rect">
            <a:avLst/>
          </a:prstGeom>
        </p:spPr>
      </p:pic>
      <p:sp>
        <p:nvSpPr>
          <p:cNvPr id="46" name="Text 33"/>
          <p:cNvSpPr txBox="1"/>
          <p:nvPr/>
        </p:nvSpPr>
        <p:spPr>
          <a:xfrm>
            <a:off x="5074920" y="5340096"/>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Farmer advisory (LLM-ready)</a:t>
            </a:r>
            <a:endParaRPr lang="en-US" sz="1450" dirty="0"/>
          </a:p>
        </p:txBody>
      </p:sp>
      <p:sp>
        <p:nvSpPr>
          <p:cNvPr id="47" name="Text 34"/>
          <p:cNvSpPr txBox="1"/>
          <p:nvPr/>
        </p:nvSpPr>
        <p:spPr>
          <a:xfrm>
            <a:off x="5074920" y="5687568"/>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4 languages, voice, chatbot</a:t>
            </a:r>
            <a:endParaRPr lang="en-US" sz="1200" dirty="0"/>
          </a:p>
        </p:txBody>
      </p:sp>
      <p:sp>
        <p:nvSpPr>
          <p:cNvPr id="48" name="Shape 35"/>
          <p:cNvSpPr/>
          <p:nvPr/>
        </p:nvSpPr>
        <p:spPr>
          <a:xfrm>
            <a:off x="8046720" y="5157216"/>
            <a:ext cx="3520440" cy="987552"/>
          </a:xfrm>
          <a:prstGeom prst="roundRect">
            <a:avLst>
              <a:gd name="adj" fmla="val 11111"/>
            </a:avLst>
          </a:prstGeom>
          <a:solidFill>
            <a:srgbClr val="EAF2FC"/>
          </a:solidFill>
          <a:ln w="9525">
            <a:solidFill>
              <a:srgbClr val="DDE5E0"/>
            </a:solidFill>
            <a:prstDash val="solid"/>
          </a:ln>
          <a:effectLst>
            <a:outerShdw sx="100000" sy="100000" kx="0" ky="0" algn="bl" rotWithShape="0" blurRad="101600" dist="25400" dir="5400000">
              <a:srgbClr val="000000">
                <a:alpha val="12000"/>
              </a:srgbClr>
            </a:outerShdw>
          </a:effectLst>
        </p:spPr>
      </p:sp>
      <p:pic>
        <p:nvPicPr>
          <p:cNvPr id="49" name="Image 11" descr="preencoded.png">    </p:cNvPr>
          <p:cNvPicPr>
            <a:picLocks noChangeAspect="1"/>
          </p:cNvPicPr>
          <p:nvPr/>
        </p:nvPicPr>
        <p:blipFill>
          <a:blip r:embed="rId12"/>
          <a:stretch>
            <a:fillRect/>
          </a:stretch>
        </p:blipFill>
        <p:spPr>
          <a:xfrm>
            <a:off x="8247888" y="5431536"/>
            <a:ext cx="420624" cy="420624"/>
          </a:xfrm>
          <a:prstGeom prst="rect">
            <a:avLst/>
          </a:prstGeom>
        </p:spPr>
      </p:pic>
      <p:sp>
        <p:nvSpPr>
          <p:cNvPr id="50" name="Text 36"/>
          <p:cNvSpPr txBox="1"/>
          <p:nvPr/>
        </p:nvSpPr>
        <p:spPr>
          <a:xfrm>
            <a:off x="8823960" y="5340096"/>
            <a:ext cx="265176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Management zones ★</a:t>
            </a:r>
            <a:endParaRPr lang="en-US" sz="1450" dirty="0"/>
          </a:p>
        </p:txBody>
      </p:sp>
      <p:sp>
        <p:nvSpPr>
          <p:cNvPr id="51" name="Text 37"/>
          <p:cNvSpPr txBox="1"/>
          <p:nvPr/>
        </p:nvSpPr>
        <p:spPr>
          <a:xfrm>
            <a:off x="8823960" y="5687568"/>
            <a:ext cx="2651760" cy="292608"/>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K-Means clustering</a:t>
            </a:r>
            <a:endParaRPr lang="en-US" sz="1200" dirty="0"/>
          </a:p>
        </p:txBody>
      </p:sp>
      <p:sp>
        <p:nvSpPr>
          <p:cNvPr id="52" name="Text 38"/>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Live demo · Region-wide dashboard</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Scenario "Summer dry spell": 7 dry days since the satellite pass, +8 °C</a:t>
            </a:r>
            <a:endParaRPr lang="en-US" sz="1500" dirty="0"/>
          </a:p>
        </p:txBody>
      </p:sp>
      <p:sp>
        <p:nvSpPr>
          <p:cNvPr id="4" name="Shape 2"/>
          <p:cNvSpPr/>
          <p:nvPr/>
        </p:nvSpPr>
        <p:spPr>
          <a:xfrm>
            <a:off x="521208" y="1572768"/>
            <a:ext cx="7552944" cy="4741164"/>
          </a:xfrm>
          <a:prstGeom prst="rect">
            <a:avLst/>
          </a:prstGeom>
          <a:solidFill>
            <a:srgbClr val="DDE5E0"/>
          </a:solidFill>
          <a:ln w="12700">
            <a:solidFill>
              <a:srgbClr val="DDE5E0"/>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548640" y="1600200"/>
            <a:ext cx="7498080" cy="4686300"/>
          </a:xfrm>
          <a:prstGeom prst="rect">
            <a:avLst/>
          </a:prstGeom>
        </p:spPr>
      </p:pic>
      <p:sp>
        <p:nvSpPr>
          <p:cNvPr id="6" name="Shape 3"/>
          <p:cNvSpPr/>
          <p:nvPr/>
        </p:nvSpPr>
        <p:spPr>
          <a:xfrm>
            <a:off x="8366760" y="1600200"/>
            <a:ext cx="3291840" cy="1024128"/>
          </a:xfrm>
          <a:prstGeom prst="roundRect">
            <a:avLst>
              <a:gd name="adj" fmla="val 10714"/>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595360" y="1709928"/>
            <a:ext cx="2926080" cy="457200"/>
          </a:xfrm>
          <a:prstGeom prst="rect">
            <a:avLst/>
          </a:prstGeom>
          <a:noFill/>
          <a:ln/>
        </p:spPr>
        <p:txBody>
          <a:bodyPr wrap="square" lIns="0" tIns="0" rIns="0" bIns="0" rtlCol="0" anchor="ctr"/>
          <a:lstStyle/>
          <a:p>
            <a:pPr indent="0" marL="0">
              <a:buNone/>
            </a:pPr>
            <a:r>
              <a:rPr lang="en-US" sz="2600" b="1" dirty="0">
                <a:solidFill>
                  <a:srgbClr val="D03B3B"/>
                </a:solidFill>
                <a:latin typeface="Calibri" pitchFamily="34" charset="0"/>
                <a:ea typeface="Calibri" pitchFamily="34" charset="-122"/>
                <a:cs typeface="Calibri" pitchFamily="34" charset="-120"/>
              </a:rPr>
              <a:t>637</a:t>
            </a:r>
            <a:endParaRPr lang="en-US" sz="2600" dirty="0"/>
          </a:p>
        </p:txBody>
      </p:sp>
      <p:sp>
        <p:nvSpPr>
          <p:cNvPr id="8" name="Text 5"/>
          <p:cNvSpPr txBox="1"/>
          <p:nvPr/>
        </p:nvSpPr>
        <p:spPr>
          <a:xfrm>
            <a:off x="8595360" y="2185416"/>
            <a:ext cx="2926080" cy="36576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plots must irrigate today</a:t>
            </a:r>
            <a:endParaRPr lang="en-US" sz="1200" dirty="0"/>
          </a:p>
        </p:txBody>
      </p:sp>
      <p:sp>
        <p:nvSpPr>
          <p:cNvPr id="9" name="Shape 6"/>
          <p:cNvSpPr/>
          <p:nvPr/>
        </p:nvSpPr>
        <p:spPr>
          <a:xfrm>
            <a:off x="8366760" y="2788920"/>
            <a:ext cx="3291840" cy="1024128"/>
          </a:xfrm>
          <a:prstGeom prst="roundRect">
            <a:avLst>
              <a:gd name="adj" fmla="val 10714"/>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8595360" y="2898648"/>
            <a:ext cx="2926080" cy="457200"/>
          </a:xfrm>
          <a:prstGeom prst="rect">
            <a:avLst/>
          </a:prstGeom>
          <a:noFill/>
          <a:ln/>
        </p:spPr>
        <p:txBody>
          <a:bodyPr wrap="square" lIns="0" tIns="0" rIns="0" bIns="0" rtlCol="0" anchor="ctr"/>
          <a:lstStyle/>
          <a:p>
            <a:pPr indent="0" marL="0">
              <a:buNone/>
            </a:pPr>
            <a:r>
              <a:rPr lang="en-US" sz="2600" b="1" dirty="0">
                <a:solidFill>
                  <a:srgbClr val="EB6834"/>
                </a:solidFill>
                <a:latin typeface="Calibri" pitchFamily="34" charset="0"/>
                <a:ea typeface="Calibri" pitchFamily="34" charset="-122"/>
                <a:cs typeface="Calibri" pitchFamily="34" charset="-120"/>
              </a:rPr>
              <a:t>204</a:t>
            </a:r>
            <a:endParaRPr lang="en-US" sz="2600" dirty="0"/>
          </a:p>
        </p:txBody>
      </p:sp>
      <p:sp>
        <p:nvSpPr>
          <p:cNvPr id="11" name="Text 8"/>
          <p:cNvSpPr txBox="1"/>
          <p:nvPr/>
        </p:nvSpPr>
        <p:spPr>
          <a:xfrm>
            <a:off x="8595360" y="3374136"/>
            <a:ext cx="2926080" cy="36576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plots under moderate or severe stress</a:t>
            </a:r>
            <a:endParaRPr lang="en-US" sz="1200" dirty="0"/>
          </a:p>
        </p:txBody>
      </p:sp>
      <p:sp>
        <p:nvSpPr>
          <p:cNvPr id="12" name="Shape 9"/>
          <p:cNvSpPr/>
          <p:nvPr/>
        </p:nvSpPr>
        <p:spPr>
          <a:xfrm>
            <a:off x="8366760" y="3977640"/>
            <a:ext cx="3291840" cy="1024128"/>
          </a:xfrm>
          <a:prstGeom prst="roundRect">
            <a:avLst>
              <a:gd name="adj" fmla="val 10714"/>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8595360" y="4087368"/>
            <a:ext cx="2926080" cy="457200"/>
          </a:xfrm>
          <a:prstGeom prst="rect">
            <a:avLst/>
          </a:prstGeom>
          <a:noFill/>
          <a:ln/>
        </p:spPr>
        <p:txBody>
          <a:bodyPr wrap="square" lIns="0" tIns="0" rIns="0" bIns="0" rtlCol="0" anchor="ctr"/>
          <a:lstStyle/>
          <a:p>
            <a:pPr indent="0" marL="0">
              <a:buNone/>
            </a:pPr>
            <a:r>
              <a:rPr lang="en-US" sz="2600" b="1" dirty="0">
                <a:solidFill>
                  <a:srgbClr val="EDA100"/>
                </a:solidFill>
                <a:latin typeface="Calibri" pitchFamily="34" charset="0"/>
                <a:ea typeface="Calibri" pitchFamily="34" charset="-122"/>
                <a:cs typeface="Calibri" pitchFamily="34" charset="-120"/>
              </a:rPr>
              <a:t>790 t</a:t>
            </a:r>
            <a:endParaRPr lang="en-US" sz="2600" dirty="0"/>
          </a:p>
        </p:txBody>
      </p:sp>
      <p:sp>
        <p:nvSpPr>
          <p:cNvPr id="14" name="Text 11"/>
          <p:cNvSpPr txBox="1"/>
          <p:nvPr/>
        </p:nvSpPr>
        <p:spPr>
          <a:xfrm>
            <a:off x="8595360" y="4562856"/>
            <a:ext cx="2926080" cy="36576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of cane at risk if irrigation slips 5 days</a:t>
            </a:r>
            <a:endParaRPr lang="en-US" sz="1200" dirty="0"/>
          </a:p>
        </p:txBody>
      </p:sp>
      <p:sp>
        <p:nvSpPr>
          <p:cNvPr id="15" name="Shape 12"/>
          <p:cNvSpPr/>
          <p:nvPr/>
        </p:nvSpPr>
        <p:spPr>
          <a:xfrm>
            <a:off x="8366760" y="5166360"/>
            <a:ext cx="3291840" cy="1024128"/>
          </a:xfrm>
          <a:prstGeom prst="roundRect">
            <a:avLst>
              <a:gd name="adj" fmla="val 10714"/>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8595360" y="5276088"/>
            <a:ext cx="2926080" cy="457200"/>
          </a:xfrm>
          <a:prstGeom prst="rect">
            <a:avLst/>
          </a:prstGeom>
          <a:noFill/>
          <a:ln/>
        </p:spPr>
        <p:txBody>
          <a:bodyPr wrap="square" lIns="0" tIns="0" rIns="0" bIns="0" rtlCol="0" anchor="ctr"/>
          <a:lstStyle/>
          <a:p>
            <a:pPr indent="0" marL="0">
              <a:buNone/>
            </a:pPr>
            <a:r>
              <a:rPr lang="en-US" sz="2600" b="1" dirty="0">
                <a:solidFill>
                  <a:srgbClr val="1F8A58"/>
                </a:solidFill>
                <a:latin typeface="Calibri" pitchFamily="34" charset="0"/>
                <a:ea typeface="Calibri" pitchFamily="34" charset="-122"/>
                <a:cs typeface="Calibri" pitchFamily="34" charset="-120"/>
              </a:rPr>
              <a:t>4 presets</a:t>
            </a:r>
            <a:endParaRPr lang="en-US" sz="2600" dirty="0"/>
          </a:p>
        </p:txBody>
      </p:sp>
      <p:sp>
        <p:nvSpPr>
          <p:cNvPr id="17" name="Text 14"/>
          <p:cNvSpPr txBox="1"/>
          <p:nvPr/>
        </p:nvSpPr>
        <p:spPr>
          <a:xfrm>
            <a:off x="8595360" y="5751576"/>
            <a:ext cx="2926080" cy="36576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switch weather scenarios live in the demo</a:t>
            </a:r>
            <a:endParaRPr lang="en-US" sz="1200" dirty="0"/>
          </a:p>
        </p:txBody>
      </p:sp>
      <p:sp>
        <p:nvSpPr>
          <p:cNvPr id="18" name="Text 15"/>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Plot-level advisory a farmer can act on</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Plot MM-MD-0110 · Bheemanahalli, Malavalli</a:t>
            </a:r>
            <a:endParaRPr lang="en-US" sz="1500" dirty="0"/>
          </a:p>
        </p:txBody>
      </p:sp>
      <p:sp>
        <p:nvSpPr>
          <p:cNvPr id="4" name="Shape 2"/>
          <p:cNvSpPr/>
          <p:nvPr/>
        </p:nvSpPr>
        <p:spPr>
          <a:xfrm>
            <a:off x="521208" y="1572768"/>
            <a:ext cx="7004304" cy="4210675"/>
          </a:xfrm>
          <a:prstGeom prst="rect">
            <a:avLst/>
          </a:prstGeom>
          <a:solidFill>
            <a:srgbClr val="DDE5E0"/>
          </a:solidFill>
          <a:ln w="12700">
            <a:solidFill>
              <a:srgbClr val="DDE5E0"/>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548640" y="1600200"/>
            <a:ext cx="6949440" cy="4155811"/>
          </a:xfrm>
          <a:prstGeom prst="rect">
            <a:avLst/>
          </a:prstGeom>
        </p:spPr>
      </p:pic>
      <p:sp>
        <p:nvSpPr>
          <p:cNvPr id="6" name="Shape 3"/>
          <p:cNvSpPr/>
          <p:nvPr/>
        </p:nvSpPr>
        <p:spPr>
          <a:xfrm>
            <a:off x="7790688" y="1572768"/>
            <a:ext cx="3806134" cy="2706624"/>
          </a:xfrm>
          <a:prstGeom prst="rect">
            <a:avLst/>
          </a:prstGeom>
          <a:solidFill>
            <a:srgbClr val="DDE5E0"/>
          </a:solidFill>
          <a:ln w="12700">
            <a:solidFill>
              <a:srgbClr val="DDE5E0"/>
            </a:solidFill>
            <a:prstDash val="solid"/>
          </a:ln>
          <a:effectLst>
            <a:outerShdw sx="100000" sy="100000" kx="0" ky="0" algn="bl" rotWithShape="0" blurRad="101600" dist="25400" dir="5400000">
              <a:srgbClr val="000000">
                <a:alpha val="12000"/>
              </a:srgbClr>
            </a:outerShdw>
          </a:effectLst>
        </p:spPr>
      </p:sp>
      <p:pic>
        <p:nvPicPr>
          <p:cNvPr id="7" name="Image 1" descr="preencoded.png">    </p:cNvPr>
          <p:cNvPicPr>
            <a:picLocks noChangeAspect="1"/>
          </p:cNvPicPr>
          <p:nvPr/>
        </p:nvPicPr>
        <p:blipFill>
          <a:blip r:embed="rId2"/>
          <a:stretch>
            <a:fillRect/>
          </a:stretch>
        </p:blipFill>
        <p:spPr>
          <a:xfrm>
            <a:off x="7818120" y="1600200"/>
            <a:ext cx="3751270" cy="2651760"/>
          </a:xfrm>
          <a:prstGeom prst="rect">
            <a:avLst/>
          </a:prstGeom>
        </p:spPr>
      </p:pic>
      <p:sp>
        <p:nvSpPr>
          <p:cNvPr id="8" name="Shape 4"/>
          <p:cNvSpPr/>
          <p:nvPr/>
        </p:nvSpPr>
        <p:spPr>
          <a:xfrm>
            <a:off x="7818120" y="4526280"/>
            <a:ext cx="347472" cy="347472"/>
          </a:xfrm>
          <a:prstGeom prst="ellipse">
            <a:avLst/>
          </a:prstGeom>
          <a:solidFill>
            <a:srgbClr val="1F8A58"/>
          </a:solidFill>
          <a:ln w="12700">
            <a:solidFill>
              <a:srgbClr val="1F8A58"/>
            </a:solidFill>
            <a:prstDash val="solid"/>
          </a:ln>
        </p:spPr>
      </p:sp>
      <p:pic>
        <p:nvPicPr>
          <p:cNvPr id="9" name="Image 2" descr="preencoded.png">    </p:cNvPr>
          <p:cNvPicPr>
            <a:picLocks noChangeAspect="1"/>
          </p:cNvPicPr>
          <p:nvPr/>
        </p:nvPicPr>
        <p:blipFill>
          <a:blip r:embed="rId3"/>
          <a:stretch>
            <a:fillRect/>
          </a:stretch>
        </p:blipFill>
        <p:spPr>
          <a:xfrm>
            <a:off x="7894564" y="4602724"/>
            <a:ext cx="194584" cy="194584"/>
          </a:xfrm>
          <a:prstGeom prst="rect">
            <a:avLst/>
          </a:prstGeom>
        </p:spPr>
      </p:pic>
      <p:sp>
        <p:nvSpPr>
          <p:cNvPr id="10" name="Text 5"/>
          <p:cNvSpPr txBox="1"/>
          <p:nvPr/>
        </p:nvSpPr>
        <p:spPr>
          <a:xfrm>
            <a:off x="8275320" y="4544568"/>
            <a:ext cx="3383280" cy="329184"/>
          </a:xfrm>
          <a:prstGeom prst="rect">
            <a:avLst/>
          </a:prstGeom>
          <a:noFill/>
          <a:ln/>
        </p:spPr>
        <p:txBody>
          <a:bodyPr wrap="square" lIns="0" tIns="0" rIns="0" bIns="0" rtlCol="0" anchor="ctr"/>
          <a:lstStyle/>
          <a:p>
            <a:pPr indent="0" marL="0">
              <a:buNone/>
            </a:pPr>
            <a:r>
              <a:rPr lang="en-US" sz="1250" dirty="0">
                <a:solidFill>
                  <a:srgbClr val="15231C"/>
                </a:solidFill>
                <a:latin typeface="Calibri" pitchFamily="34" charset="0"/>
                <a:ea typeface="Calibri" pitchFamily="34" charset="-122"/>
                <a:cs typeface="Calibri" pitchFamily="34" charset="-120"/>
              </a:rPr>
              <a:t>English · ಕನ್ನಡ · हिंदी · मराठी</a:t>
            </a:r>
            <a:endParaRPr lang="en-US" sz="1250" dirty="0"/>
          </a:p>
        </p:txBody>
      </p:sp>
      <p:sp>
        <p:nvSpPr>
          <p:cNvPr id="11" name="Shape 6"/>
          <p:cNvSpPr/>
          <p:nvPr/>
        </p:nvSpPr>
        <p:spPr>
          <a:xfrm>
            <a:off x="7818120" y="4983480"/>
            <a:ext cx="347472" cy="347472"/>
          </a:xfrm>
          <a:prstGeom prst="ellipse">
            <a:avLst/>
          </a:prstGeom>
          <a:solidFill>
            <a:srgbClr val="1F8A58"/>
          </a:solidFill>
          <a:ln w="12700">
            <a:solidFill>
              <a:srgbClr val="1F8A58"/>
            </a:solidFill>
            <a:prstDash val="solid"/>
          </a:ln>
        </p:spPr>
      </p:sp>
      <p:pic>
        <p:nvPicPr>
          <p:cNvPr id="12" name="Image 3" descr="preencoded.png">    </p:cNvPr>
          <p:cNvPicPr>
            <a:picLocks noChangeAspect="1"/>
          </p:cNvPicPr>
          <p:nvPr/>
        </p:nvPicPr>
        <p:blipFill>
          <a:blip r:embed="rId4"/>
          <a:stretch>
            <a:fillRect/>
          </a:stretch>
        </p:blipFill>
        <p:spPr>
          <a:xfrm>
            <a:off x="7894564" y="5059924"/>
            <a:ext cx="194584" cy="194584"/>
          </a:xfrm>
          <a:prstGeom prst="rect">
            <a:avLst/>
          </a:prstGeom>
        </p:spPr>
      </p:pic>
      <p:sp>
        <p:nvSpPr>
          <p:cNvPr id="13" name="Text 7"/>
          <p:cNvSpPr txBox="1"/>
          <p:nvPr/>
        </p:nvSpPr>
        <p:spPr>
          <a:xfrm>
            <a:off x="8275320" y="5001768"/>
            <a:ext cx="3383280" cy="329184"/>
          </a:xfrm>
          <a:prstGeom prst="rect">
            <a:avLst/>
          </a:prstGeom>
          <a:noFill/>
          <a:ln/>
        </p:spPr>
        <p:txBody>
          <a:bodyPr wrap="square" lIns="0" tIns="0" rIns="0" bIns="0" rtlCol="0" anchor="ctr"/>
          <a:lstStyle/>
          <a:p>
            <a:pPr indent="0" marL="0">
              <a:buNone/>
            </a:pPr>
            <a:r>
              <a:rPr lang="en-US" sz="1250" dirty="0">
                <a:solidFill>
                  <a:srgbClr val="15231C"/>
                </a:solidFill>
                <a:latin typeface="Calibri" pitchFamily="34" charset="0"/>
                <a:ea typeface="Calibri" pitchFamily="34" charset="-122"/>
                <a:cs typeface="Calibri" pitchFamily="34" charset="-120"/>
              </a:rPr>
              <a:t>Read aloud for low-literacy users</a:t>
            </a:r>
            <a:endParaRPr lang="en-US" sz="1250" dirty="0"/>
          </a:p>
        </p:txBody>
      </p:sp>
      <p:sp>
        <p:nvSpPr>
          <p:cNvPr id="14" name="Shape 8"/>
          <p:cNvSpPr/>
          <p:nvPr/>
        </p:nvSpPr>
        <p:spPr>
          <a:xfrm>
            <a:off x="7818120" y="5440680"/>
            <a:ext cx="347472" cy="347472"/>
          </a:xfrm>
          <a:prstGeom prst="ellipse">
            <a:avLst/>
          </a:prstGeom>
          <a:solidFill>
            <a:srgbClr val="1F8A58"/>
          </a:solidFill>
          <a:ln w="12700">
            <a:solidFill>
              <a:srgbClr val="1F8A58"/>
            </a:solidFill>
            <a:prstDash val="solid"/>
          </a:ln>
        </p:spPr>
      </p:sp>
      <p:pic>
        <p:nvPicPr>
          <p:cNvPr id="15" name="Image 4" descr="preencoded.png">    </p:cNvPr>
          <p:cNvPicPr>
            <a:picLocks noChangeAspect="1"/>
          </p:cNvPicPr>
          <p:nvPr/>
        </p:nvPicPr>
        <p:blipFill>
          <a:blip r:embed="rId5"/>
          <a:stretch>
            <a:fillRect/>
          </a:stretch>
        </p:blipFill>
        <p:spPr>
          <a:xfrm>
            <a:off x="7894564" y="5517124"/>
            <a:ext cx="194584" cy="194584"/>
          </a:xfrm>
          <a:prstGeom prst="rect">
            <a:avLst/>
          </a:prstGeom>
        </p:spPr>
      </p:pic>
      <p:sp>
        <p:nvSpPr>
          <p:cNvPr id="16" name="Text 9"/>
          <p:cNvSpPr txBox="1"/>
          <p:nvPr/>
        </p:nvSpPr>
        <p:spPr>
          <a:xfrm>
            <a:off x="8275320" y="5458968"/>
            <a:ext cx="3383280" cy="329184"/>
          </a:xfrm>
          <a:prstGeom prst="rect">
            <a:avLst/>
          </a:prstGeom>
          <a:noFill/>
          <a:ln/>
        </p:spPr>
        <p:txBody>
          <a:bodyPr wrap="square" lIns="0" tIns="0" rIns="0" bIns="0" rtlCol="0" anchor="ctr"/>
          <a:lstStyle/>
          <a:p>
            <a:pPr indent="0" marL="0">
              <a:buNone/>
            </a:pPr>
            <a:r>
              <a:rPr lang="en-US" sz="1250" dirty="0">
                <a:solidFill>
                  <a:srgbClr val="15231C"/>
                </a:solidFill>
                <a:latin typeface="Calibri" pitchFamily="34" charset="0"/>
                <a:ea typeface="Calibri" pitchFamily="34" charset="-122"/>
                <a:cs typeface="Calibri" pitchFamily="34" charset="-120"/>
              </a:rPr>
              <a:t>"Why this advice?" explanations</a:t>
            </a:r>
            <a:endParaRPr lang="en-US" sz="1250" dirty="0"/>
          </a:p>
        </p:txBody>
      </p:sp>
      <p:sp>
        <p:nvSpPr>
          <p:cNvPr id="17" name="Shape 10"/>
          <p:cNvSpPr/>
          <p:nvPr/>
        </p:nvSpPr>
        <p:spPr>
          <a:xfrm>
            <a:off x="7818120" y="5897880"/>
            <a:ext cx="347472" cy="347472"/>
          </a:xfrm>
          <a:prstGeom prst="ellipse">
            <a:avLst/>
          </a:prstGeom>
          <a:solidFill>
            <a:srgbClr val="1F8A58"/>
          </a:solidFill>
          <a:ln w="12700">
            <a:solidFill>
              <a:srgbClr val="1F8A58"/>
            </a:solidFill>
            <a:prstDash val="solid"/>
          </a:ln>
        </p:spPr>
      </p:sp>
      <p:pic>
        <p:nvPicPr>
          <p:cNvPr id="18" name="Image 5" descr="preencoded.png">    </p:cNvPr>
          <p:cNvPicPr>
            <a:picLocks noChangeAspect="1"/>
          </p:cNvPicPr>
          <p:nvPr/>
        </p:nvPicPr>
        <p:blipFill>
          <a:blip r:embed="rId6"/>
          <a:stretch>
            <a:fillRect/>
          </a:stretch>
        </p:blipFill>
        <p:spPr>
          <a:xfrm>
            <a:off x="7894564" y="5974324"/>
            <a:ext cx="194584" cy="194584"/>
          </a:xfrm>
          <a:prstGeom prst="rect">
            <a:avLst/>
          </a:prstGeom>
        </p:spPr>
      </p:pic>
      <p:sp>
        <p:nvSpPr>
          <p:cNvPr id="19" name="Text 11"/>
          <p:cNvSpPr txBox="1"/>
          <p:nvPr/>
        </p:nvSpPr>
        <p:spPr>
          <a:xfrm>
            <a:off x="8275320" y="5916168"/>
            <a:ext cx="3383280" cy="329184"/>
          </a:xfrm>
          <a:prstGeom prst="rect">
            <a:avLst/>
          </a:prstGeom>
          <a:noFill/>
          <a:ln/>
        </p:spPr>
        <p:txBody>
          <a:bodyPr wrap="square" lIns="0" tIns="0" rIns="0" bIns="0" rtlCol="0" anchor="ctr"/>
          <a:lstStyle/>
          <a:p>
            <a:pPr indent="0" marL="0">
              <a:buNone/>
            </a:pPr>
            <a:r>
              <a:rPr lang="en-US" sz="1250" dirty="0">
                <a:solidFill>
                  <a:srgbClr val="15231C"/>
                </a:solidFill>
                <a:latin typeface="Calibri" pitchFamily="34" charset="0"/>
                <a:ea typeface="Calibri" pitchFamily="34" charset="-122"/>
                <a:cs typeface="Calibri" pitchFamily="34" charset="-120"/>
              </a:rPr>
              <a:t>Accept / override → retraining data</a:t>
            </a:r>
            <a:endParaRPr lang="en-US" sz="1250" dirty="0"/>
          </a:p>
        </p:txBody>
      </p:sp>
      <p:sp>
        <p:nvSpPr>
          <p:cNvPr id="20" name="Text 12"/>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Rain-aware: skip pumping when rain is coming</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Same dry spell, but the forecast now shows 40 mm of rain in 3 days</a:t>
            </a:r>
            <a:endParaRPr lang="en-US" sz="1500" dirty="0"/>
          </a:p>
        </p:txBody>
      </p:sp>
      <p:sp>
        <p:nvSpPr>
          <p:cNvPr id="4" name="Shape 2"/>
          <p:cNvSpPr/>
          <p:nvPr/>
        </p:nvSpPr>
        <p:spPr>
          <a:xfrm>
            <a:off x="548640" y="1645920"/>
            <a:ext cx="6583680" cy="4663440"/>
          </a:xfrm>
          <a:prstGeom prst="roundRect">
            <a:avLst>
              <a:gd name="adj" fmla="val 2353"/>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3749040" y="1828800"/>
            <a:ext cx="1554480" cy="365760"/>
          </a:xfrm>
          <a:prstGeom prst="rect">
            <a:avLst/>
          </a:prstGeom>
          <a:noFill/>
          <a:ln/>
        </p:spPr>
        <p:txBody>
          <a:bodyPr wrap="square" lIns="0" tIns="0" rIns="0" bIns="0" rtlCol="0" anchor="ctr"/>
          <a:lstStyle/>
          <a:p>
            <a:pPr algn="ctr" indent="0" marL="0">
              <a:buNone/>
            </a:pPr>
            <a:r>
              <a:rPr lang="en-US" sz="1300" b="1" dirty="0">
                <a:solidFill>
                  <a:srgbClr val="5E6B64"/>
                </a:solidFill>
                <a:latin typeface="Calibri" pitchFamily="34" charset="0"/>
                <a:ea typeface="Calibri" pitchFamily="34" charset="-122"/>
                <a:cs typeface="Calibri" pitchFamily="34" charset="-120"/>
              </a:rPr>
              <a:t>Without forecast</a:t>
            </a:r>
            <a:endParaRPr lang="en-US" sz="1300" dirty="0"/>
          </a:p>
        </p:txBody>
      </p:sp>
      <p:sp>
        <p:nvSpPr>
          <p:cNvPr id="6" name="Text 4"/>
          <p:cNvSpPr txBox="1"/>
          <p:nvPr/>
        </p:nvSpPr>
        <p:spPr>
          <a:xfrm>
            <a:off x="5349240" y="1828800"/>
            <a:ext cx="1645920" cy="365760"/>
          </a:xfrm>
          <a:prstGeom prst="rect">
            <a:avLst/>
          </a:prstGeom>
          <a:noFill/>
          <a:ln/>
        </p:spPr>
        <p:txBody>
          <a:bodyPr wrap="square" lIns="0" tIns="0" rIns="0" bIns="0" rtlCol="0" anchor="ctr"/>
          <a:lstStyle/>
          <a:p>
            <a:pPr algn="ctr" indent="0" marL="0">
              <a:buNone/>
            </a:pPr>
            <a:r>
              <a:rPr lang="en-US" sz="1300" b="1" dirty="0">
                <a:solidFill>
                  <a:srgbClr val="2A78D6"/>
                </a:solidFill>
                <a:latin typeface="Calibri" pitchFamily="34" charset="0"/>
                <a:ea typeface="Calibri" pitchFamily="34" charset="-122"/>
                <a:cs typeface="Calibri" pitchFamily="34" charset="-120"/>
              </a:rPr>
              <a:t>With 40 mm forecast</a:t>
            </a:r>
            <a:endParaRPr lang="en-US" sz="1300" dirty="0"/>
          </a:p>
        </p:txBody>
      </p:sp>
      <p:sp>
        <p:nvSpPr>
          <p:cNvPr id="7" name="Shape 5"/>
          <p:cNvSpPr/>
          <p:nvPr/>
        </p:nvSpPr>
        <p:spPr>
          <a:xfrm>
            <a:off x="777240" y="2267712"/>
            <a:ext cx="6172200" cy="0"/>
          </a:xfrm>
          <a:prstGeom prst="line">
            <a:avLst/>
          </a:prstGeom>
          <a:noFill/>
          <a:ln w="9525">
            <a:solidFill>
              <a:srgbClr val="DDE5E0"/>
            </a:solidFill>
            <a:prstDash val="solid"/>
          </a:ln>
        </p:spPr>
      </p:sp>
      <p:sp>
        <p:nvSpPr>
          <p:cNvPr id="8" name="Text 6"/>
          <p:cNvSpPr txBox="1"/>
          <p:nvPr/>
        </p:nvSpPr>
        <p:spPr>
          <a:xfrm>
            <a:off x="822960" y="2377440"/>
            <a:ext cx="2834640" cy="731520"/>
          </a:xfrm>
          <a:prstGeom prst="rect">
            <a:avLst/>
          </a:prstGeom>
          <a:noFill/>
          <a:ln/>
        </p:spPr>
        <p:txBody>
          <a:bodyPr wrap="square" lIns="0" tIns="0" rIns="0" bIns="0" rtlCol="0" anchor="ctr"/>
          <a:lstStyle/>
          <a:p>
            <a:pPr indent="0" marL="0">
              <a:buNone/>
            </a:pPr>
            <a:r>
              <a:rPr lang="en-US" sz="1500" dirty="0">
                <a:solidFill>
                  <a:srgbClr val="15231C"/>
                </a:solidFill>
                <a:latin typeface="Calibri" pitchFamily="34" charset="0"/>
                <a:ea typeface="Calibri" pitchFamily="34" charset="-122"/>
                <a:cs typeface="Calibri" pitchFamily="34" charset="-120"/>
              </a:rPr>
              <a:t>Plots told to irrigate today</a:t>
            </a:r>
            <a:endParaRPr lang="en-US" sz="1500" dirty="0"/>
          </a:p>
        </p:txBody>
      </p:sp>
      <p:sp>
        <p:nvSpPr>
          <p:cNvPr id="9" name="Text 7"/>
          <p:cNvSpPr txBox="1"/>
          <p:nvPr/>
        </p:nvSpPr>
        <p:spPr>
          <a:xfrm>
            <a:off x="3749040" y="2377440"/>
            <a:ext cx="1554480" cy="731520"/>
          </a:xfrm>
          <a:prstGeom prst="rect">
            <a:avLst/>
          </a:prstGeom>
          <a:noFill/>
          <a:ln/>
        </p:spPr>
        <p:txBody>
          <a:bodyPr wrap="square" lIns="0" tIns="0" rIns="0" bIns="0" rtlCol="0" anchor="ctr"/>
          <a:lstStyle/>
          <a:p>
            <a:pPr algn="ctr" indent="0" marL="0">
              <a:buNone/>
            </a:pPr>
            <a:r>
              <a:rPr lang="en-US" sz="2400" b="1" dirty="0">
                <a:solidFill>
                  <a:srgbClr val="5E6B64"/>
                </a:solidFill>
                <a:latin typeface="Calibri" pitchFamily="34" charset="0"/>
                <a:ea typeface="Calibri" pitchFamily="34" charset="-122"/>
                <a:cs typeface="Calibri" pitchFamily="34" charset="-120"/>
              </a:rPr>
              <a:t>637</a:t>
            </a:r>
            <a:endParaRPr lang="en-US" sz="2400" dirty="0"/>
          </a:p>
        </p:txBody>
      </p:sp>
      <p:sp>
        <p:nvSpPr>
          <p:cNvPr id="10" name="Text 8"/>
          <p:cNvSpPr txBox="1"/>
          <p:nvPr/>
        </p:nvSpPr>
        <p:spPr>
          <a:xfrm>
            <a:off x="5349240" y="2377440"/>
            <a:ext cx="1645920" cy="731520"/>
          </a:xfrm>
          <a:prstGeom prst="rect">
            <a:avLst/>
          </a:prstGeom>
          <a:noFill/>
          <a:ln/>
        </p:spPr>
        <p:txBody>
          <a:bodyPr wrap="square" lIns="0" tIns="0" rIns="0" bIns="0" rtlCol="0" anchor="ctr"/>
          <a:lstStyle/>
          <a:p>
            <a:pPr algn="ctr" indent="0" marL="0">
              <a:buNone/>
            </a:pPr>
            <a:r>
              <a:rPr lang="en-US" sz="2400" b="1" dirty="0">
                <a:solidFill>
                  <a:srgbClr val="2A78D6"/>
                </a:solidFill>
                <a:latin typeface="Calibri" pitchFamily="34" charset="0"/>
                <a:ea typeface="Calibri" pitchFamily="34" charset="-122"/>
                <a:cs typeface="Calibri" pitchFamily="34" charset="-120"/>
              </a:rPr>
              <a:t>0</a:t>
            </a:r>
            <a:endParaRPr lang="en-US" sz="2400" dirty="0"/>
          </a:p>
        </p:txBody>
      </p:sp>
      <p:sp>
        <p:nvSpPr>
          <p:cNvPr id="11" name="Shape 9"/>
          <p:cNvSpPr/>
          <p:nvPr/>
        </p:nvSpPr>
        <p:spPr>
          <a:xfrm>
            <a:off x="777240" y="3227832"/>
            <a:ext cx="6172200" cy="0"/>
          </a:xfrm>
          <a:prstGeom prst="line">
            <a:avLst/>
          </a:prstGeom>
          <a:noFill/>
          <a:ln w="9525">
            <a:solidFill>
              <a:srgbClr val="DDE5E0"/>
            </a:solidFill>
            <a:prstDash val="solid"/>
          </a:ln>
        </p:spPr>
      </p:sp>
      <p:sp>
        <p:nvSpPr>
          <p:cNvPr id="12" name="Text 10"/>
          <p:cNvSpPr txBox="1"/>
          <p:nvPr/>
        </p:nvSpPr>
        <p:spPr>
          <a:xfrm>
            <a:off x="822960" y="3337560"/>
            <a:ext cx="2834640" cy="731520"/>
          </a:xfrm>
          <a:prstGeom prst="rect">
            <a:avLst/>
          </a:prstGeom>
          <a:noFill/>
          <a:ln/>
        </p:spPr>
        <p:txBody>
          <a:bodyPr wrap="square" lIns="0" tIns="0" rIns="0" bIns="0" rtlCol="0" anchor="ctr"/>
          <a:lstStyle/>
          <a:p>
            <a:pPr indent="0" marL="0">
              <a:buNone/>
            </a:pPr>
            <a:r>
              <a:rPr lang="en-US" sz="1500" dirty="0">
                <a:solidFill>
                  <a:srgbClr val="15231C"/>
                </a:solidFill>
                <a:latin typeface="Calibri" pitchFamily="34" charset="0"/>
                <a:ea typeface="Calibri" pitchFamily="34" charset="-122"/>
                <a:cs typeface="Calibri" pitchFamily="34" charset="-120"/>
              </a:rPr>
              <a:t>Plots postponed because of rain</a:t>
            </a:r>
            <a:endParaRPr lang="en-US" sz="1500" dirty="0"/>
          </a:p>
        </p:txBody>
      </p:sp>
      <p:sp>
        <p:nvSpPr>
          <p:cNvPr id="13" name="Text 11"/>
          <p:cNvSpPr txBox="1"/>
          <p:nvPr/>
        </p:nvSpPr>
        <p:spPr>
          <a:xfrm>
            <a:off x="3749040" y="3337560"/>
            <a:ext cx="1554480" cy="731520"/>
          </a:xfrm>
          <a:prstGeom prst="rect">
            <a:avLst/>
          </a:prstGeom>
          <a:noFill/>
          <a:ln/>
        </p:spPr>
        <p:txBody>
          <a:bodyPr wrap="square" lIns="0" tIns="0" rIns="0" bIns="0" rtlCol="0" anchor="ctr"/>
          <a:lstStyle/>
          <a:p>
            <a:pPr algn="ctr" indent="0" marL="0">
              <a:buNone/>
            </a:pPr>
            <a:r>
              <a:rPr lang="en-US" sz="2400" b="1" dirty="0">
                <a:solidFill>
                  <a:srgbClr val="5E6B64"/>
                </a:solidFill>
                <a:latin typeface="Calibri" pitchFamily="34" charset="0"/>
                <a:ea typeface="Calibri" pitchFamily="34" charset="-122"/>
                <a:cs typeface="Calibri" pitchFamily="34" charset="-120"/>
              </a:rPr>
              <a:t>0</a:t>
            </a:r>
            <a:endParaRPr lang="en-US" sz="2400" dirty="0"/>
          </a:p>
        </p:txBody>
      </p:sp>
      <p:sp>
        <p:nvSpPr>
          <p:cNvPr id="14" name="Text 12"/>
          <p:cNvSpPr txBox="1"/>
          <p:nvPr/>
        </p:nvSpPr>
        <p:spPr>
          <a:xfrm>
            <a:off x="5349240" y="3337560"/>
            <a:ext cx="1645920" cy="731520"/>
          </a:xfrm>
          <a:prstGeom prst="rect">
            <a:avLst/>
          </a:prstGeom>
          <a:noFill/>
          <a:ln/>
        </p:spPr>
        <p:txBody>
          <a:bodyPr wrap="square" lIns="0" tIns="0" rIns="0" bIns="0" rtlCol="0" anchor="ctr"/>
          <a:lstStyle/>
          <a:p>
            <a:pPr algn="ctr" indent="0" marL="0">
              <a:buNone/>
            </a:pPr>
            <a:r>
              <a:rPr lang="en-US" sz="2400" b="1" dirty="0">
                <a:solidFill>
                  <a:srgbClr val="2A78D6"/>
                </a:solidFill>
                <a:latin typeface="Calibri" pitchFamily="34" charset="0"/>
                <a:ea typeface="Calibri" pitchFamily="34" charset="-122"/>
                <a:cs typeface="Calibri" pitchFamily="34" charset="-120"/>
              </a:rPr>
              <a:t>894</a:t>
            </a:r>
            <a:endParaRPr lang="en-US" sz="2400" dirty="0"/>
          </a:p>
        </p:txBody>
      </p:sp>
      <p:sp>
        <p:nvSpPr>
          <p:cNvPr id="15" name="Shape 13"/>
          <p:cNvSpPr/>
          <p:nvPr/>
        </p:nvSpPr>
        <p:spPr>
          <a:xfrm>
            <a:off x="777240" y="4187952"/>
            <a:ext cx="6172200" cy="0"/>
          </a:xfrm>
          <a:prstGeom prst="line">
            <a:avLst/>
          </a:prstGeom>
          <a:noFill/>
          <a:ln w="9525">
            <a:solidFill>
              <a:srgbClr val="DDE5E0"/>
            </a:solidFill>
            <a:prstDash val="solid"/>
          </a:ln>
        </p:spPr>
      </p:sp>
      <p:sp>
        <p:nvSpPr>
          <p:cNvPr id="16" name="Text 14"/>
          <p:cNvSpPr txBox="1"/>
          <p:nvPr/>
        </p:nvSpPr>
        <p:spPr>
          <a:xfrm>
            <a:off x="822960" y="4297680"/>
            <a:ext cx="2834640" cy="731520"/>
          </a:xfrm>
          <a:prstGeom prst="rect">
            <a:avLst/>
          </a:prstGeom>
          <a:noFill/>
          <a:ln/>
        </p:spPr>
        <p:txBody>
          <a:bodyPr wrap="square" lIns="0" tIns="0" rIns="0" bIns="0" rtlCol="0" anchor="ctr"/>
          <a:lstStyle/>
          <a:p>
            <a:pPr indent="0" marL="0">
              <a:buNone/>
            </a:pPr>
            <a:r>
              <a:rPr lang="en-US" sz="1500" dirty="0">
                <a:solidFill>
                  <a:srgbClr val="15231C"/>
                </a:solidFill>
                <a:latin typeface="Calibri" pitchFamily="34" charset="0"/>
                <a:ea typeface="Calibri" pitchFamily="34" charset="-122"/>
                <a:cs typeface="Calibri" pitchFamily="34" charset="-120"/>
              </a:rPr>
              <a:t>Water to pump this week</a:t>
            </a:r>
            <a:endParaRPr lang="en-US" sz="1500" dirty="0"/>
          </a:p>
        </p:txBody>
      </p:sp>
      <p:sp>
        <p:nvSpPr>
          <p:cNvPr id="17" name="Text 15"/>
          <p:cNvSpPr txBox="1"/>
          <p:nvPr/>
        </p:nvSpPr>
        <p:spPr>
          <a:xfrm>
            <a:off x="3749040" y="4297680"/>
            <a:ext cx="1554480" cy="731520"/>
          </a:xfrm>
          <a:prstGeom prst="rect">
            <a:avLst/>
          </a:prstGeom>
          <a:noFill/>
          <a:ln/>
        </p:spPr>
        <p:txBody>
          <a:bodyPr wrap="square" lIns="0" tIns="0" rIns="0" bIns="0" rtlCol="0" anchor="ctr"/>
          <a:lstStyle/>
          <a:p>
            <a:pPr algn="ctr" indent="0" marL="0">
              <a:buNone/>
            </a:pPr>
            <a:r>
              <a:rPr lang="en-US" sz="2400" b="1" dirty="0">
                <a:solidFill>
                  <a:srgbClr val="5E6B64"/>
                </a:solidFill>
                <a:latin typeface="Calibri" pitchFamily="34" charset="0"/>
                <a:ea typeface="Calibri" pitchFamily="34" charset="-122"/>
                <a:cs typeface="Calibri" pitchFamily="34" charset="-120"/>
              </a:rPr>
              <a:t>387k m³</a:t>
            </a:r>
            <a:endParaRPr lang="en-US" sz="2400" dirty="0"/>
          </a:p>
        </p:txBody>
      </p:sp>
      <p:sp>
        <p:nvSpPr>
          <p:cNvPr id="18" name="Text 16"/>
          <p:cNvSpPr txBox="1"/>
          <p:nvPr/>
        </p:nvSpPr>
        <p:spPr>
          <a:xfrm>
            <a:off x="5349240" y="4297680"/>
            <a:ext cx="1645920" cy="731520"/>
          </a:xfrm>
          <a:prstGeom prst="rect">
            <a:avLst/>
          </a:prstGeom>
          <a:noFill/>
          <a:ln/>
        </p:spPr>
        <p:txBody>
          <a:bodyPr wrap="square" lIns="0" tIns="0" rIns="0" bIns="0" rtlCol="0" anchor="ctr"/>
          <a:lstStyle/>
          <a:p>
            <a:pPr algn="ctr" indent="0" marL="0">
              <a:buNone/>
            </a:pPr>
            <a:r>
              <a:rPr lang="en-US" sz="2400" b="1" dirty="0">
                <a:solidFill>
                  <a:srgbClr val="2A78D6"/>
                </a:solidFill>
                <a:latin typeface="Calibri" pitchFamily="34" charset="0"/>
                <a:ea typeface="Calibri" pitchFamily="34" charset="-122"/>
                <a:cs typeface="Calibri" pitchFamily="34" charset="-120"/>
              </a:rPr>
              <a:t>62k m³</a:t>
            </a:r>
            <a:endParaRPr lang="en-US" sz="2400" dirty="0"/>
          </a:p>
        </p:txBody>
      </p:sp>
      <p:sp>
        <p:nvSpPr>
          <p:cNvPr id="19" name="Shape 17"/>
          <p:cNvSpPr/>
          <p:nvPr/>
        </p:nvSpPr>
        <p:spPr>
          <a:xfrm>
            <a:off x="777240" y="5148072"/>
            <a:ext cx="6172200" cy="0"/>
          </a:xfrm>
          <a:prstGeom prst="line">
            <a:avLst/>
          </a:prstGeom>
          <a:noFill/>
          <a:ln w="9525">
            <a:solidFill>
              <a:srgbClr val="DDE5E0"/>
            </a:solidFill>
            <a:prstDash val="solid"/>
          </a:ln>
        </p:spPr>
      </p:sp>
      <p:sp>
        <p:nvSpPr>
          <p:cNvPr id="20" name="Text 18"/>
          <p:cNvSpPr txBox="1"/>
          <p:nvPr/>
        </p:nvSpPr>
        <p:spPr>
          <a:xfrm>
            <a:off x="822960" y="5257800"/>
            <a:ext cx="2834640" cy="731520"/>
          </a:xfrm>
          <a:prstGeom prst="rect">
            <a:avLst/>
          </a:prstGeom>
          <a:noFill/>
          <a:ln/>
        </p:spPr>
        <p:txBody>
          <a:bodyPr wrap="square" lIns="0" tIns="0" rIns="0" bIns="0" rtlCol="0" anchor="ctr"/>
          <a:lstStyle/>
          <a:p>
            <a:pPr indent="0" marL="0">
              <a:buNone/>
            </a:pPr>
            <a:r>
              <a:rPr lang="en-US" sz="1500" dirty="0">
                <a:solidFill>
                  <a:srgbClr val="15231C"/>
                </a:solidFill>
                <a:latin typeface="Calibri" pitchFamily="34" charset="0"/>
                <a:ea typeface="Calibri" pitchFamily="34" charset="-122"/>
                <a:cs typeface="Calibri" pitchFamily="34" charset="-120"/>
              </a:rPr>
              <a:t>Rain used instead of pumping</a:t>
            </a:r>
            <a:endParaRPr lang="en-US" sz="1500" dirty="0"/>
          </a:p>
        </p:txBody>
      </p:sp>
      <p:sp>
        <p:nvSpPr>
          <p:cNvPr id="21" name="Text 19"/>
          <p:cNvSpPr txBox="1"/>
          <p:nvPr/>
        </p:nvSpPr>
        <p:spPr>
          <a:xfrm>
            <a:off x="3749040" y="5257800"/>
            <a:ext cx="1554480" cy="731520"/>
          </a:xfrm>
          <a:prstGeom prst="rect">
            <a:avLst/>
          </a:prstGeom>
          <a:noFill/>
          <a:ln/>
        </p:spPr>
        <p:txBody>
          <a:bodyPr wrap="square" lIns="0" tIns="0" rIns="0" bIns="0" rtlCol="0" anchor="ctr"/>
          <a:lstStyle/>
          <a:p>
            <a:pPr algn="ctr" indent="0" marL="0">
              <a:buNone/>
            </a:pPr>
            <a:r>
              <a:rPr lang="en-US" sz="2400" b="1" dirty="0">
                <a:solidFill>
                  <a:srgbClr val="5E6B64"/>
                </a:solidFill>
                <a:latin typeface="Calibri" pitchFamily="34" charset="0"/>
                <a:ea typeface="Calibri" pitchFamily="34" charset="-122"/>
                <a:cs typeface="Calibri" pitchFamily="34" charset="-120"/>
              </a:rPr>
              <a:t>-</a:t>
            </a:r>
            <a:endParaRPr lang="en-US" sz="2400" dirty="0"/>
          </a:p>
        </p:txBody>
      </p:sp>
      <p:sp>
        <p:nvSpPr>
          <p:cNvPr id="22" name="Text 20"/>
          <p:cNvSpPr txBox="1"/>
          <p:nvPr/>
        </p:nvSpPr>
        <p:spPr>
          <a:xfrm>
            <a:off x="5349240" y="5257800"/>
            <a:ext cx="1645920" cy="731520"/>
          </a:xfrm>
          <a:prstGeom prst="rect">
            <a:avLst/>
          </a:prstGeom>
          <a:noFill/>
          <a:ln/>
        </p:spPr>
        <p:txBody>
          <a:bodyPr wrap="square" lIns="0" tIns="0" rIns="0" bIns="0" rtlCol="0" anchor="ctr"/>
          <a:lstStyle/>
          <a:p>
            <a:pPr algn="ctr" indent="0" marL="0">
              <a:buNone/>
            </a:pPr>
            <a:r>
              <a:rPr lang="en-US" sz="2400" b="1" dirty="0">
                <a:solidFill>
                  <a:srgbClr val="2A78D6"/>
                </a:solidFill>
                <a:latin typeface="Calibri" pitchFamily="34" charset="0"/>
                <a:ea typeface="Calibri" pitchFamily="34" charset="-122"/>
                <a:cs typeface="Calibri" pitchFamily="34" charset="-120"/>
              </a:rPr>
              <a:t>218k m³</a:t>
            </a:r>
            <a:endParaRPr lang="en-US" sz="2400" dirty="0"/>
          </a:p>
        </p:txBody>
      </p:sp>
      <p:sp>
        <p:nvSpPr>
          <p:cNvPr id="23" name="Shape 21"/>
          <p:cNvSpPr/>
          <p:nvPr/>
        </p:nvSpPr>
        <p:spPr>
          <a:xfrm>
            <a:off x="7406640" y="1645920"/>
            <a:ext cx="4251960" cy="4663440"/>
          </a:xfrm>
          <a:prstGeom prst="roundRect">
            <a:avLst>
              <a:gd name="adj" fmla="val 2581"/>
            </a:avLst>
          </a:prstGeom>
          <a:solidFill>
            <a:srgbClr val="0F2F22"/>
          </a:solidFill>
          <a:ln w="12700">
            <a:solidFill>
              <a:srgbClr val="0F2F22"/>
            </a:solidFill>
            <a:prstDash val="solid"/>
          </a:ln>
        </p:spPr>
      </p:sp>
      <p:pic>
        <p:nvPicPr>
          <p:cNvPr id="24" name="Image 0" descr="preencoded.png">    </p:cNvPr>
          <p:cNvPicPr>
            <a:picLocks noChangeAspect="1"/>
          </p:cNvPicPr>
          <p:nvPr/>
        </p:nvPicPr>
        <p:blipFill>
          <a:blip r:embed="rId1"/>
          <a:stretch>
            <a:fillRect/>
          </a:stretch>
        </p:blipFill>
        <p:spPr>
          <a:xfrm>
            <a:off x="7726680" y="1920240"/>
            <a:ext cx="731520" cy="731520"/>
          </a:xfrm>
          <a:prstGeom prst="rect">
            <a:avLst/>
          </a:prstGeom>
        </p:spPr>
      </p:pic>
      <p:sp>
        <p:nvSpPr>
          <p:cNvPr id="25" name="Text 22"/>
          <p:cNvSpPr txBox="1"/>
          <p:nvPr/>
        </p:nvSpPr>
        <p:spPr>
          <a:xfrm>
            <a:off x="7726680" y="2788920"/>
            <a:ext cx="36576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How it works</a:t>
            </a:r>
            <a:endParaRPr lang="en-US" sz="1800" dirty="0"/>
          </a:p>
        </p:txBody>
      </p:sp>
      <p:sp>
        <p:nvSpPr>
          <p:cNvPr id="26" name="Text 23"/>
          <p:cNvSpPr txBox="1"/>
          <p:nvPr/>
        </p:nvSpPr>
        <p:spPr>
          <a:xfrm>
            <a:off x="7726680" y="3246120"/>
            <a:ext cx="3703320" cy="28346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3F0E8"/>
                </a:solidFill>
                <a:latin typeface="Calibri" pitchFamily="34" charset="0"/>
                <a:ea typeface="Calibri" pitchFamily="34" charset="-122"/>
                <a:cs typeface="Calibri" pitchFamily="34" charset="-120"/>
              </a:rPr>
              <a:t>Forecast rain is a model input, so the Random Forest learns how much of it reaches the root zone</a:t>
            </a:r>
            <a:endParaRPr lang="en-US" sz="1300" dirty="0"/>
          </a:p>
          <a:p>
            <a:pPr marL="342900" indent="-342900">
              <a:spcAft>
                <a:spcPts val="600"/>
              </a:spcAft>
              <a:buSzPct val="100000"/>
              <a:buChar char="•"/>
            </a:pPr>
            <a:r>
              <a:rPr lang="en-US" sz="1300" dirty="0">
                <a:solidFill>
                  <a:srgbClr val="E3F0E8"/>
                </a:solidFill>
                <a:latin typeface="Calibri" pitchFamily="34" charset="0"/>
                <a:ea typeface="Calibri" pitchFamily="34" charset="-122"/>
                <a:cs typeface="Calibri" pitchFamily="34" charset="-120"/>
              </a:rPr>
              <a:t>SMA also predicts a "no-rain" counterfactual; if rain moves the date, the advice becomes "skip"</a:t>
            </a:r>
            <a:endParaRPr lang="en-US" sz="1300" dirty="0"/>
          </a:p>
          <a:p>
            <a:pPr marL="342900" indent="-342900">
              <a:spcAft>
                <a:spcPts val="600"/>
              </a:spcAft>
              <a:buSzPct val="100000"/>
              <a:buChar char="•"/>
            </a:pPr>
            <a:r>
              <a:rPr lang="en-US" sz="1300" dirty="0">
                <a:solidFill>
                  <a:srgbClr val="E3F0E8"/>
                </a:solidFill>
                <a:latin typeface="Calibri" pitchFamily="34" charset="0"/>
                <a:ea typeface="Calibri" pitchFamily="34" charset="-122"/>
                <a:cs typeface="Calibri" pitchFamily="34" charset="-120"/>
              </a:rPr>
              <a:t>Plug in the IMD / weather API forecast and this runs daily for all plots</a:t>
            </a:r>
            <a:endParaRPr lang="en-US" sz="1300" dirty="0"/>
          </a:p>
        </p:txBody>
      </p:sp>
      <p:sp>
        <p:nvSpPr>
          <p:cNvPr id="27" name="Text 24"/>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Pump scheduling under limited 3-phase power</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Village Hosur · 2 power windows (7 h/day) · 20 pumps per feeder · 3-day horizon</a:t>
            </a:r>
            <a:endParaRPr lang="en-US" sz="1500" dirty="0"/>
          </a:p>
        </p:txBody>
      </p:sp>
      <p:sp>
        <p:nvSpPr>
          <p:cNvPr id="4" name="Shape 2"/>
          <p:cNvSpPr/>
          <p:nvPr/>
        </p:nvSpPr>
        <p:spPr>
          <a:xfrm>
            <a:off x="521208" y="1572768"/>
            <a:ext cx="7552944" cy="2792927"/>
          </a:xfrm>
          <a:prstGeom prst="rect">
            <a:avLst/>
          </a:prstGeom>
          <a:solidFill>
            <a:srgbClr val="DDE5E0"/>
          </a:solidFill>
          <a:ln w="12700">
            <a:solidFill>
              <a:srgbClr val="DDE5E0"/>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548640" y="1600200"/>
            <a:ext cx="7498080" cy="2738063"/>
          </a:xfrm>
          <a:prstGeom prst="rect">
            <a:avLst/>
          </a:prstGeom>
        </p:spPr>
      </p:pic>
      <p:sp>
        <p:nvSpPr>
          <p:cNvPr id="6" name="Shape 3"/>
          <p:cNvSpPr/>
          <p:nvPr/>
        </p:nvSpPr>
        <p:spPr>
          <a:xfrm>
            <a:off x="548640" y="4800600"/>
            <a:ext cx="7498080" cy="1508760"/>
          </a:xfrm>
          <a:prstGeom prst="roundRect">
            <a:avLst>
              <a:gd name="adj" fmla="val 7273"/>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777240" y="4937760"/>
            <a:ext cx="7132320" cy="347472"/>
          </a:xfrm>
          <a:prstGeom prst="rect">
            <a:avLst/>
          </a:prstGeom>
          <a:noFill/>
          <a:ln/>
        </p:spPr>
        <p:txBody>
          <a:bodyPr wrap="square" lIns="0" tIns="0" rIns="0" bIns="0" rtlCol="0" anchor="ctr"/>
          <a:lstStyle/>
          <a:p>
            <a:pPr indent="0" marL="0">
              <a:buNone/>
            </a:pPr>
            <a:r>
              <a:rPr lang="en-US" sz="1500" b="1" dirty="0">
                <a:solidFill>
                  <a:srgbClr val="1F8A58"/>
                </a:solidFill>
                <a:latin typeface="Calibri" pitchFamily="34" charset="0"/>
                <a:ea typeface="Calibri" pitchFamily="34" charset="-122"/>
                <a:cs typeface="Calibri" pitchFamily="34" charset="-120"/>
              </a:rPr>
              <a:t>Algorithm: Weighted Shortest Processing Time (Smith's rule)</a:t>
            </a:r>
            <a:endParaRPr lang="en-US" sz="1500" dirty="0"/>
          </a:p>
        </p:txBody>
      </p:sp>
      <p:sp>
        <p:nvSpPr>
          <p:cNvPr id="8" name="Text 5"/>
          <p:cNvSpPr txBox="1"/>
          <p:nvPr/>
        </p:nvSpPr>
        <p:spPr>
          <a:xfrm>
            <a:off x="777240" y="5321808"/>
            <a:ext cx="7040880" cy="868680"/>
          </a:xfrm>
          <a:prstGeom prst="rect">
            <a:avLst/>
          </a:prstGeom>
          <a:noFill/>
          <a:ln/>
        </p:spPr>
        <p:txBody>
          <a:bodyPr wrap="square" lIns="0" tIns="0" rIns="0" bIns="0" rtlCol="0" anchor="ctr"/>
          <a:lstStyle/>
          <a:p>
            <a:pPr indent="0" marL="0">
              <a:buNone/>
            </a:pPr>
            <a:r>
              <a:rPr lang="en-US" sz="1250" dirty="0">
                <a:solidFill>
                  <a:srgbClr val="15231C"/>
                </a:solidFill>
                <a:latin typeface="Calibri" pitchFamily="34" charset="0"/>
                <a:ea typeface="Calibri" pitchFamily="34" charset="-122"/>
                <a:cs typeface="Calibri" pitchFamily="34" charset="-120"/>
              </a:rPr>
              <a:t>Priority = cane at risk (from the yield-loss model) ÷ pumping hours. Plots are packed into the power windows without exceeding the feeder limit. Pumps pause when power goes off and resume in the next window.</a:t>
            </a:r>
            <a:endParaRPr lang="en-US" sz="1250" dirty="0"/>
          </a:p>
        </p:txBody>
      </p:sp>
      <p:sp>
        <p:nvSpPr>
          <p:cNvPr id="9" name="Shape 6"/>
          <p:cNvSpPr/>
          <p:nvPr/>
        </p:nvSpPr>
        <p:spPr>
          <a:xfrm>
            <a:off x="8366760" y="1600200"/>
            <a:ext cx="3291840" cy="1371600"/>
          </a:xfrm>
          <a:prstGeom prst="roundRect">
            <a:avLst>
              <a:gd name="adj" fmla="val 8000"/>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8595360" y="1783080"/>
            <a:ext cx="2926080" cy="548640"/>
          </a:xfrm>
          <a:prstGeom prst="rect">
            <a:avLst/>
          </a:prstGeom>
          <a:noFill/>
          <a:ln/>
        </p:spPr>
        <p:txBody>
          <a:bodyPr wrap="square" lIns="0" tIns="0" rIns="0" bIns="0" rtlCol="0" anchor="ctr"/>
          <a:lstStyle/>
          <a:p>
            <a:pPr indent="0" marL="0">
              <a:buNone/>
            </a:pPr>
            <a:r>
              <a:rPr lang="en-US" sz="2800" b="1" dirty="0">
                <a:solidFill>
                  <a:srgbClr val="1F8A58"/>
                </a:solidFill>
                <a:latin typeface="Calibri" pitchFamily="34" charset="0"/>
                <a:ea typeface="Calibri" pitchFamily="34" charset="-122"/>
                <a:cs typeface="Calibri" pitchFamily="34" charset="-120"/>
              </a:rPr>
              <a:t>5.4 t</a:t>
            </a:r>
            <a:endParaRPr lang="en-US" sz="2800" dirty="0"/>
          </a:p>
        </p:txBody>
      </p:sp>
      <p:sp>
        <p:nvSpPr>
          <p:cNvPr id="11" name="Text 8"/>
          <p:cNvSpPr txBox="1"/>
          <p:nvPr/>
        </p:nvSpPr>
        <p:spPr>
          <a:xfrm>
            <a:off x="8595360" y="2377440"/>
            <a:ext cx="2926080" cy="45720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cane loss avoided vs a first-come rotation</a:t>
            </a:r>
            <a:endParaRPr lang="en-US" sz="1200" dirty="0"/>
          </a:p>
        </p:txBody>
      </p:sp>
      <p:sp>
        <p:nvSpPr>
          <p:cNvPr id="12" name="Shape 9"/>
          <p:cNvSpPr/>
          <p:nvPr/>
        </p:nvSpPr>
        <p:spPr>
          <a:xfrm>
            <a:off x="8366760" y="3200400"/>
            <a:ext cx="3291840" cy="1371600"/>
          </a:xfrm>
          <a:prstGeom prst="roundRect">
            <a:avLst>
              <a:gd name="adj" fmla="val 8000"/>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8595360" y="3383280"/>
            <a:ext cx="2926080" cy="548640"/>
          </a:xfrm>
          <a:prstGeom prst="rect">
            <a:avLst/>
          </a:prstGeom>
          <a:noFill/>
          <a:ln/>
        </p:spPr>
        <p:txBody>
          <a:bodyPr wrap="square" lIns="0" tIns="0" rIns="0" bIns="0" rtlCol="0" anchor="ctr"/>
          <a:lstStyle/>
          <a:p>
            <a:pPr indent="0" marL="0">
              <a:buNone/>
            </a:pPr>
            <a:r>
              <a:rPr lang="en-US" sz="2800" b="1" dirty="0">
                <a:solidFill>
                  <a:srgbClr val="2A78D6"/>
                </a:solidFill>
                <a:latin typeface="Calibri" pitchFamily="34" charset="0"/>
                <a:ea typeface="Calibri" pitchFamily="34" charset="-122"/>
                <a:cs typeface="Calibri" pitchFamily="34" charset="-120"/>
              </a:rPr>
              <a:t>7 / 14</a:t>
            </a:r>
            <a:endParaRPr lang="en-US" sz="2800" dirty="0"/>
          </a:p>
        </p:txBody>
      </p:sp>
      <p:sp>
        <p:nvSpPr>
          <p:cNvPr id="14" name="Text 11"/>
          <p:cNvSpPr txBox="1"/>
          <p:nvPr/>
        </p:nvSpPr>
        <p:spPr>
          <a:xfrm>
            <a:off x="8595360" y="3977640"/>
            <a:ext cx="2926080" cy="45720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high-stress plots served (rotation: 2 / 14)</a:t>
            </a:r>
            <a:endParaRPr lang="en-US" sz="1200" dirty="0"/>
          </a:p>
        </p:txBody>
      </p:sp>
      <p:sp>
        <p:nvSpPr>
          <p:cNvPr id="15" name="Shape 12"/>
          <p:cNvSpPr/>
          <p:nvPr/>
        </p:nvSpPr>
        <p:spPr>
          <a:xfrm>
            <a:off x="8366760" y="4800600"/>
            <a:ext cx="3291840" cy="1371600"/>
          </a:xfrm>
          <a:prstGeom prst="roundRect">
            <a:avLst>
              <a:gd name="adj" fmla="val 8000"/>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8595360" y="4983480"/>
            <a:ext cx="2926080" cy="548640"/>
          </a:xfrm>
          <a:prstGeom prst="rect">
            <a:avLst/>
          </a:prstGeom>
          <a:noFill/>
          <a:ln/>
        </p:spPr>
        <p:txBody>
          <a:bodyPr wrap="square" lIns="0" tIns="0" rIns="0" bIns="0" rtlCol="0" anchor="ctr"/>
          <a:lstStyle/>
          <a:p>
            <a:pPr indent="0" marL="0">
              <a:buNone/>
            </a:pPr>
            <a:r>
              <a:rPr lang="en-US" sz="2800" b="1" dirty="0">
                <a:solidFill>
                  <a:srgbClr val="EB6834"/>
                </a:solidFill>
                <a:latin typeface="Calibri" pitchFamily="34" charset="0"/>
                <a:ea typeface="Calibri" pitchFamily="34" charset="-122"/>
                <a:cs typeface="Calibri" pitchFamily="34" charset="-120"/>
              </a:rPr>
              <a:t>81 h vs 115 h</a:t>
            </a:r>
            <a:endParaRPr lang="en-US" sz="2800" dirty="0"/>
          </a:p>
        </p:txBody>
      </p:sp>
      <p:sp>
        <p:nvSpPr>
          <p:cNvPr id="17" name="Text 14"/>
          <p:cNvSpPr txBox="1"/>
          <p:nvPr/>
        </p:nvSpPr>
        <p:spPr>
          <a:xfrm>
            <a:off x="8595360" y="5577840"/>
            <a:ext cx="2926080" cy="45720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average finish time for high-stress plots</a:t>
            </a:r>
            <a:endParaRPr lang="en-US" sz="1200" dirty="0"/>
          </a:p>
        </p:txBody>
      </p:sp>
      <p:sp>
        <p:nvSpPr>
          <p:cNvPr id="18" name="Text 15"/>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F22"/>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Estimated impact across the 1,000 plots</a:t>
            </a:r>
            <a:endParaRPr lang="en-US" sz="3200" dirty="0"/>
          </a:p>
        </p:txBody>
      </p:sp>
      <p:sp>
        <p:nvSpPr>
          <p:cNvPr id="3" name="Text 1"/>
          <p:cNvSpPr txBox="1"/>
          <p:nvPr/>
        </p:nvSpPr>
        <p:spPr>
          <a:xfrm>
            <a:off x="548640" y="1051560"/>
            <a:ext cx="10972800" cy="365760"/>
          </a:xfrm>
          <a:prstGeom prst="rect">
            <a:avLst/>
          </a:prstGeom>
          <a:noFill/>
          <a:ln/>
        </p:spPr>
        <p:txBody>
          <a:bodyPr wrap="square" lIns="0" tIns="0" rIns="0" bIns="0" rtlCol="0" anchor="ctr"/>
          <a:lstStyle/>
          <a:p>
            <a:pPr indent="0" marL="0">
              <a:buNone/>
            </a:pPr>
            <a:r>
              <a:rPr lang="en-US" sz="1500" dirty="0">
                <a:solidFill>
                  <a:srgbClr val="9FC2AE"/>
                </a:solidFill>
                <a:latin typeface="Calibri" pitchFamily="34" charset="0"/>
                <a:ea typeface="Calibri" pitchFamily="34" charset="-122"/>
                <a:cs typeface="Calibri" pitchFamily="34" charset="-120"/>
              </a:rPr>
              <a:t>Model estimates vs farmers' fixed practice (≈70 mm every 8 days), satellite-snapshot conditions</a:t>
            </a:r>
            <a:endParaRPr lang="en-US" sz="1500" dirty="0"/>
          </a:p>
        </p:txBody>
      </p:sp>
      <p:sp>
        <p:nvSpPr>
          <p:cNvPr id="4" name="Shape 2"/>
          <p:cNvSpPr/>
          <p:nvPr/>
        </p:nvSpPr>
        <p:spPr>
          <a:xfrm>
            <a:off x="548640" y="1828800"/>
            <a:ext cx="2606040" cy="2926080"/>
          </a:xfrm>
          <a:prstGeom prst="roundRect">
            <a:avLst>
              <a:gd name="adj" fmla="val 4211"/>
            </a:avLst>
          </a:prstGeom>
          <a:solidFill>
            <a:srgbClr val="164232"/>
          </a:solidFill>
          <a:ln w="12700">
            <a:solidFill>
              <a:srgbClr val="2A5A45"/>
            </a:solidFill>
            <a:prstDash val="solid"/>
          </a:ln>
        </p:spPr>
      </p:sp>
      <p:pic>
        <p:nvPicPr>
          <p:cNvPr id="5" name="Image 0" descr="preencoded.png">    </p:cNvPr>
          <p:cNvPicPr>
            <a:picLocks noChangeAspect="1"/>
          </p:cNvPicPr>
          <p:nvPr/>
        </p:nvPicPr>
        <p:blipFill>
          <a:blip r:embed="rId1"/>
          <a:stretch>
            <a:fillRect/>
          </a:stretch>
        </p:blipFill>
        <p:spPr>
          <a:xfrm>
            <a:off x="822960" y="2103120"/>
            <a:ext cx="548640" cy="548640"/>
          </a:xfrm>
          <a:prstGeom prst="rect">
            <a:avLst/>
          </a:prstGeom>
        </p:spPr>
      </p:pic>
      <p:sp>
        <p:nvSpPr>
          <p:cNvPr id="6" name="Text 3"/>
          <p:cNvSpPr txBox="1"/>
          <p:nvPr/>
        </p:nvSpPr>
        <p:spPr>
          <a:xfrm>
            <a:off x="822960" y="2834640"/>
            <a:ext cx="224028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38%</a:t>
            </a:r>
            <a:endParaRPr lang="en-US" sz="4400" dirty="0"/>
          </a:p>
        </p:txBody>
      </p:sp>
      <p:sp>
        <p:nvSpPr>
          <p:cNvPr id="7" name="Text 4"/>
          <p:cNvSpPr txBox="1"/>
          <p:nvPr/>
        </p:nvSpPr>
        <p:spPr>
          <a:xfrm>
            <a:off x="822960" y="3749040"/>
            <a:ext cx="2194560" cy="822960"/>
          </a:xfrm>
          <a:prstGeom prst="rect">
            <a:avLst/>
          </a:prstGeom>
          <a:noFill/>
          <a:ln/>
        </p:spPr>
        <p:txBody>
          <a:bodyPr wrap="square" lIns="0" tIns="0" rIns="0" bIns="0" rtlCol="0" anchor="ctr"/>
          <a:lstStyle/>
          <a:p>
            <a:pPr indent="0" marL="0">
              <a:buNone/>
            </a:pPr>
            <a:r>
              <a:rPr lang="en-US" sz="1300" dirty="0">
                <a:solidFill>
                  <a:srgbClr val="D8EADF"/>
                </a:solidFill>
                <a:latin typeface="Calibri" pitchFamily="34" charset="0"/>
                <a:ea typeface="Calibri" pitchFamily="34" charset="-122"/>
                <a:cs typeface="Calibri" pitchFamily="34" charset="-120"/>
              </a:rPr>
              <a:t>less irrigation water with furrow irrigation</a:t>
            </a:r>
            <a:endParaRPr lang="en-US" sz="1300" dirty="0"/>
          </a:p>
        </p:txBody>
      </p:sp>
      <p:sp>
        <p:nvSpPr>
          <p:cNvPr id="8" name="Shape 5"/>
          <p:cNvSpPr/>
          <p:nvPr/>
        </p:nvSpPr>
        <p:spPr>
          <a:xfrm>
            <a:off x="3383280" y="1828800"/>
            <a:ext cx="2606040" cy="2926080"/>
          </a:xfrm>
          <a:prstGeom prst="roundRect">
            <a:avLst>
              <a:gd name="adj" fmla="val 4211"/>
            </a:avLst>
          </a:prstGeom>
          <a:solidFill>
            <a:srgbClr val="164232"/>
          </a:solidFill>
          <a:ln w="12700">
            <a:solidFill>
              <a:srgbClr val="2A5A45"/>
            </a:solidFill>
            <a:prstDash val="solid"/>
          </a:ln>
        </p:spPr>
      </p:sp>
      <p:pic>
        <p:nvPicPr>
          <p:cNvPr id="9" name="Image 1" descr="preencoded.png">    </p:cNvPr>
          <p:cNvPicPr>
            <a:picLocks noChangeAspect="1"/>
          </p:cNvPicPr>
          <p:nvPr/>
        </p:nvPicPr>
        <p:blipFill>
          <a:blip r:embed="rId2"/>
          <a:stretch>
            <a:fillRect/>
          </a:stretch>
        </p:blipFill>
        <p:spPr>
          <a:xfrm>
            <a:off x="3657600" y="2103120"/>
            <a:ext cx="548640" cy="548640"/>
          </a:xfrm>
          <a:prstGeom prst="rect">
            <a:avLst/>
          </a:prstGeom>
        </p:spPr>
      </p:pic>
      <p:sp>
        <p:nvSpPr>
          <p:cNvPr id="10" name="Text 6"/>
          <p:cNvSpPr txBox="1"/>
          <p:nvPr/>
        </p:nvSpPr>
        <p:spPr>
          <a:xfrm>
            <a:off x="3657600" y="2834640"/>
            <a:ext cx="224028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56%</a:t>
            </a:r>
            <a:endParaRPr lang="en-US" sz="4400" dirty="0"/>
          </a:p>
        </p:txBody>
      </p:sp>
      <p:sp>
        <p:nvSpPr>
          <p:cNvPr id="11" name="Text 7"/>
          <p:cNvSpPr txBox="1"/>
          <p:nvPr/>
        </p:nvSpPr>
        <p:spPr>
          <a:xfrm>
            <a:off x="3657600" y="3749040"/>
            <a:ext cx="2194560" cy="822960"/>
          </a:xfrm>
          <a:prstGeom prst="rect">
            <a:avLst/>
          </a:prstGeom>
          <a:noFill/>
          <a:ln/>
        </p:spPr>
        <p:txBody>
          <a:bodyPr wrap="square" lIns="0" tIns="0" rIns="0" bIns="0" rtlCol="0" anchor="ctr"/>
          <a:lstStyle/>
          <a:p>
            <a:pPr indent="0" marL="0">
              <a:buNone/>
            </a:pPr>
            <a:r>
              <a:rPr lang="en-US" sz="1300" dirty="0">
                <a:solidFill>
                  <a:srgbClr val="D8EADF"/>
                </a:solidFill>
                <a:latin typeface="Calibri" pitchFamily="34" charset="0"/>
                <a:ea typeface="Calibri" pitchFamily="34" charset="-122"/>
                <a:cs typeface="Calibri" pitchFamily="34" charset="-120"/>
              </a:rPr>
              <a:t>less water when combined with drip</a:t>
            </a:r>
            <a:endParaRPr lang="en-US" sz="1300" dirty="0"/>
          </a:p>
        </p:txBody>
      </p:sp>
      <p:sp>
        <p:nvSpPr>
          <p:cNvPr id="12" name="Shape 8"/>
          <p:cNvSpPr/>
          <p:nvPr/>
        </p:nvSpPr>
        <p:spPr>
          <a:xfrm>
            <a:off x="6217920" y="1828800"/>
            <a:ext cx="2606040" cy="2926080"/>
          </a:xfrm>
          <a:prstGeom prst="roundRect">
            <a:avLst>
              <a:gd name="adj" fmla="val 4211"/>
            </a:avLst>
          </a:prstGeom>
          <a:solidFill>
            <a:srgbClr val="164232"/>
          </a:solidFill>
          <a:ln w="12700">
            <a:solidFill>
              <a:srgbClr val="2A5A45"/>
            </a:solidFill>
            <a:prstDash val="solid"/>
          </a:ln>
        </p:spPr>
      </p:sp>
      <p:pic>
        <p:nvPicPr>
          <p:cNvPr id="13" name="Image 2" descr="preencoded.png">    </p:cNvPr>
          <p:cNvPicPr>
            <a:picLocks noChangeAspect="1"/>
          </p:cNvPicPr>
          <p:nvPr/>
        </p:nvPicPr>
        <p:blipFill>
          <a:blip r:embed="rId3"/>
          <a:stretch>
            <a:fillRect/>
          </a:stretch>
        </p:blipFill>
        <p:spPr>
          <a:xfrm>
            <a:off x="6492240" y="2103120"/>
            <a:ext cx="548640" cy="548640"/>
          </a:xfrm>
          <a:prstGeom prst="rect">
            <a:avLst/>
          </a:prstGeom>
        </p:spPr>
      </p:pic>
      <p:sp>
        <p:nvSpPr>
          <p:cNvPr id="14" name="Text 9"/>
          <p:cNvSpPr txBox="1"/>
          <p:nvPr/>
        </p:nvSpPr>
        <p:spPr>
          <a:xfrm>
            <a:off x="6492240" y="2834640"/>
            <a:ext cx="2240280" cy="82296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12.9k kWh</a:t>
            </a:r>
            <a:endParaRPr lang="en-US" sz="2700" dirty="0"/>
          </a:p>
        </p:txBody>
      </p:sp>
      <p:sp>
        <p:nvSpPr>
          <p:cNvPr id="15" name="Text 10"/>
          <p:cNvSpPr txBox="1"/>
          <p:nvPr/>
        </p:nvSpPr>
        <p:spPr>
          <a:xfrm>
            <a:off x="6492240" y="3749040"/>
            <a:ext cx="2194560" cy="822960"/>
          </a:xfrm>
          <a:prstGeom prst="rect">
            <a:avLst/>
          </a:prstGeom>
          <a:noFill/>
          <a:ln/>
        </p:spPr>
        <p:txBody>
          <a:bodyPr wrap="square" lIns="0" tIns="0" rIns="0" bIns="0" rtlCol="0" anchor="ctr"/>
          <a:lstStyle/>
          <a:p>
            <a:pPr indent="0" marL="0">
              <a:buNone/>
            </a:pPr>
            <a:r>
              <a:rPr lang="en-US" sz="1300" dirty="0">
                <a:solidFill>
                  <a:srgbClr val="D8EADF"/>
                </a:solidFill>
                <a:latin typeface="Calibri" pitchFamily="34" charset="0"/>
                <a:ea typeface="Calibri" pitchFamily="34" charset="-122"/>
                <a:cs typeface="Calibri" pitchFamily="34" charset="-120"/>
              </a:rPr>
              <a:t>pump energy saved per week</a:t>
            </a:r>
            <a:endParaRPr lang="en-US" sz="1300" dirty="0"/>
          </a:p>
        </p:txBody>
      </p:sp>
      <p:sp>
        <p:nvSpPr>
          <p:cNvPr id="16" name="Shape 11"/>
          <p:cNvSpPr/>
          <p:nvPr/>
        </p:nvSpPr>
        <p:spPr>
          <a:xfrm>
            <a:off x="9052560" y="1828800"/>
            <a:ext cx="2606040" cy="2926080"/>
          </a:xfrm>
          <a:prstGeom prst="roundRect">
            <a:avLst>
              <a:gd name="adj" fmla="val 4211"/>
            </a:avLst>
          </a:prstGeom>
          <a:solidFill>
            <a:srgbClr val="164232"/>
          </a:solidFill>
          <a:ln w="12700">
            <a:solidFill>
              <a:srgbClr val="2A5A45"/>
            </a:solidFill>
            <a:prstDash val="solid"/>
          </a:ln>
        </p:spPr>
      </p:sp>
      <p:pic>
        <p:nvPicPr>
          <p:cNvPr id="17" name="Image 3" descr="preencoded.png">    </p:cNvPr>
          <p:cNvPicPr>
            <a:picLocks noChangeAspect="1"/>
          </p:cNvPicPr>
          <p:nvPr/>
        </p:nvPicPr>
        <p:blipFill>
          <a:blip r:embed="rId4"/>
          <a:stretch>
            <a:fillRect/>
          </a:stretch>
        </p:blipFill>
        <p:spPr>
          <a:xfrm>
            <a:off x="9326880" y="2103120"/>
            <a:ext cx="548640" cy="548640"/>
          </a:xfrm>
          <a:prstGeom prst="rect">
            <a:avLst/>
          </a:prstGeom>
        </p:spPr>
      </p:pic>
      <p:sp>
        <p:nvSpPr>
          <p:cNvPr id="18" name="Text 12"/>
          <p:cNvSpPr txBox="1"/>
          <p:nvPr/>
        </p:nvSpPr>
        <p:spPr>
          <a:xfrm>
            <a:off x="9326880" y="2834640"/>
            <a:ext cx="224028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172k m³</a:t>
            </a:r>
            <a:endParaRPr lang="en-US" sz="3400" dirty="0"/>
          </a:p>
        </p:txBody>
      </p:sp>
      <p:sp>
        <p:nvSpPr>
          <p:cNvPr id="19" name="Text 13"/>
          <p:cNvSpPr txBox="1"/>
          <p:nvPr/>
        </p:nvSpPr>
        <p:spPr>
          <a:xfrm>
            <a:off x="9326880" y="3749040"/>
            <a:ext cx="2194560" cy="822960"/>
          </a:xfrm>
          <a:prstGeom prst="rect">
            <a:avLst/>
          </a:prstGeom>
          <a:noFill/>
          <a:ln/>
        </p:spPr>
        <p:txBody>
          <a:bodyPr wrap="square" lIns="0" tIns="0" rIns="0" bIns="0" rtlCol="0" anchor="ctr"/>
          <a:lstStyle/>
          <a:p>
            <a:pPr indent="0" marL="0">
              <a:buNone/>
            </a:pPr>
            <a:r>
              <a:rPr lang="en-US" sz="1300" dirty="0">
                <a:solidFill>
                  <a:srgbClr val="D8EADF"/>
                </a:solidFill>
                <a:latin typeface="Calibri" pitchFamily="34" charset="0"/>
                <a:ea typeface="Calibri" pitchFamily="34" charset="-122"/>
                <a:cs typeface="Calibri" pitchFamily="34" charset="-120"/>
              </a:rPr>
              <a:t>water saved per week, about 69 Olympic pools</a:t>
            </a:r>
            <a:endParaRPr lang="en-US" sz="1300" dirty="0"/>
          </a:p>
        </p:txBody>
      </p:sp>
      <p:sp>
        <p:nvSpPr>
          <p:cNvPr id="20" name="Text 14"/>
          <p:cNvSpPr txBox="1"/>
          <p:nvPr/>
        </p:nvSpPr>
        <p:spPr>
          <a:xfrm>
            <a:off x="548640" y="5120640"/>
            <a:ext cx="11064240" cy="731520"/>
          </a:xfrm>
          <a:prstGeom prst="rect">
            <a:avLst/>
          </a:prstGeom>
          <a:noFill/>
          <a:ln/>
        </p:spPr>
        <p:txBody>
          <a:bodyPr wrap="square" lIns="0" tIns="0" rIns="0" bIns="0" rtlCol="0" anchor="ctr"/>
          <a:lstStyle/>
          <a:p>
            <a:pPr indent="0" marL="0">
              <a:buNone/>
            </a:pPr>
            <a:r>
              <a:rPr lang="en-US" sz="1500" b="1" dirty="0">
                <a:solidFill>
                  <a:srgbClr val="5FD49A"/>
                </a:solidFill>
                <a:latin typeface="Calibri" pitchFamily="34" charset="0"/>
                <a:ea typeface="Calibri" pitchFamily="34" charset="-122"/>
                <a:cs typeface="Calibri" pitchFamily="34" charset="-120"/>
              </a:rPr>
              <a:t>Beyond water: </a:t>
            </a:r>
            <a:pPr indent="0" marL="0">
              <a:buNone/>
            </a:pPr>
            <a:r>
              <a:rPr lang="en-US" sz="1500" dirty="0">
                <a:solidFill>
                  <a:srgbClr val="D8EADF"/>
                </a:solidFill>
                <a:latin typeface="Calibri" pitchFamily="34" charset="0"/>
                <a:ea typeface="Calibri" pitchFamily="34" charset="-122"/>
                <a:cs typeface="Calibri" pitchFamily="34" charset="-120"/>
              </a:rPr>
              <a:t>earlier stress and disease alerts, rain-aware postponement, fair pump timetables, and a 14-day water demand forecast the sugar factory can plan with.</a:t>
            </a:r>
            <a:endParaRPr lang="en-US" sz="1500" dirty="0"/>
          </a:p>
        </p:txBody>
      </p:sp>
      <p:sp>
        <p:nvSpPr>
          <p:cNvPr id="21" name="Text 15"/>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Responsible, explainable, human-in-the-loop</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Designed around the governance section of the use case</a:t>
            </a:r>
            <a:endParaRPr lang="en-US" sz="1500" dirty="0"/>
          </a:p>
        </p:txBody>
      </p:sp>
      <p:sp>
        <p:nvSpPr>
          <p:cNvPr id="4" name="Shape 2"/>
          <p:cNvSpPr/>
          <p:nvPr/>
        </p:nvSpPr>
        <p:spPr>
          <a:xfrm>
            <a:off x="548640" y="1691640"/>
            <a:ext cx="35204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920240"/>
            <a:ext cx="640080" cy="640080"/>
          </a:xfrm>
          <a:prstGeom prst="ellipse">
            <a:avLst/>
          </a:prstGeom>
          <a:solidFill>
            <a:srgbClr val="1F8A58"/>
          </a:solidFill>
          <a:ln w="12700">
            <a:solidFill>
              <a:srgbClr val="1F8A58"/>
            </a:solidFill>
            <a:prstDash val="solid"/>
          </a:ln>
        </p:spPr>
      </p:sp>
      <p:pic>
        <p:nvPicPr>
          <p:cNvPr id="6" name="Image 0" descr="preencoded.png">    </p:cNvPr>
          <p:cNvPicPr>
            <a:picLocks noChangeAspect="1"/>
          </p:cNvPicPr>
          <p:nvPr/>
        </p:nvPicPr>
        <p:blipFill>
          <a:blip r:embed="rId1"/>
          <a:stretch>
            <a:fillRect/>
          </a:stretch>
        </p:blipFill>
        <p:spPr>
          <a:xfrm>
            <a:off x="918058" y="2061058"/>
            <a:ext cx="358445" cy="358445"/>
          </a:xfrm>
          <a:prstGeom prst="rect">
            <a:avLst/>
          </a:prstGeom>
        </p:spPr>
      </p:pic>
      <p:sp>
        <p:nvSpPr>
          <p:cNvPr id="7" name="Text 4"/>
          <p:cNvSpPr txBox="1"/>
          <p:nvPr/>
        </p:nvSpPr>
        <p:spPr>
          <a:xfrm>
            <a:off x="1572768" y="2039112"/>
            <a:ext cx="2377440" cy="411480"/>
          </a:xfrm>
          <a:prstGeom prst="rect">
            <a:avLst/>
          </a:prstGeom>
          <a:noFill/>
          <a:ln/>
        </p:spPr>
        <p:txBody>
          <a:bodyPr wrap="square" lIns="0" tIns="0" rIns="0" bIns="0" rtlCol="0" anchor="ctr"/>
          <a:lstStyle/>
          <a:p>
            <a:pPr indent="0" marL="0">
              <a:buNone/>
            </a:pPr>
            <a:r>
              <a:rPr lang="en-US" sz="1700" b="1" dirty="0">
                <a:solidFill>
                  <a:srgbClr val="15231C"/>
                </a:solidFill>
                <a:latin typeface="Calibri" pitchFamily="34" charset="0"/>
                <a:ea typeface="Calibri" pitchFamily="34" charset="-122"/>
                <a:cs typeface="Calibri" pitchFamily="34" charset="-120"/>
              </a:rPr>
              <a:t>Privacy (DPDP)</a:t>
            </a:r>
            <a:endParaRPr lang="en-US" sz="1700" dirty="0"/>
          </a:p>
        </p:txBody>
      </p:sp>
      <p:sp>
        <p:nvSpPr>
          <p:cNvPr id="8" name="Text 5"/>
          <p:cNvSpPr txBox="1"/>
          <p:nvPr/>
        </p:nvSpPr>
        <p:spPr>
          <a:xfrm>
            <a:off x="777240" y="2743200"/>
            <a:ext cx="3108960" cy="914400"/>
          </a:xfrm>
          <a:prstGeom prst="rect">
            <a:avLst/>
          </a:prstGeom>
          <a:noFill/>
          <a:ln/>
        </p:spPr>
        <p:txBody>
          <a:bodyPr wrap="square" lIns="0" tIns="0" rIns="0" bIns="0" rtlCol="0" anchor="ctr"/>
          <a:lstStyle/>
          <a:p>
            <a:pPr indent="0" marL="0">
              <a:buNone/>
            </a:pPr>
            <a:r>
              <a:rPr lang="en-US" sz="1250" dirty="0">
                <a:solidFill>
                  <a:srgbClr val="5E6B64"/>
                </a:solidFill>
                <a:latin typeface="Calibri" pitchFamily="34" charset="0"/>
                <a:ea typeface="Calibri" pitchFamily="34" charset="-122"/>
                <a:cs typeface="Calibri" pitchFamily="34" charset="-120"/>
              </a:rPr>
              <a:t>Anonymised plot IDs only; no farmer names or phone numbers stored; minimal feedback log</a:t>
            </a:r>
            <a:endParaRPr lang="en-US" sz="1250" dirty="0"/>
          </a:p>
        </p:txBody>
      </p:sp>
      <p:sp>
        <p:nvSpPr>
          <p:cNvPr id="9" name="Shape 6"/>
          <p:cNvSpPr/>
          <p:nvPr/>
        </p:nvSpPr>
        <p:spPr>
          <a:xfrm>
            <a:off x="4297680" y="1691640"/>
            <a:ext cx="35204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4526280" y="1920240"/>
            <a:ext cx="640080" cy="640080"/>
          </a:xfrm>
          <a:prstGeom prst="ellipse">
            <a:avLst/>
          </a:prstGeom>
          <a:solidFill>
            <a:srgbClr val="1F8A58"/>
          </a:solidFill>
          <a:ln w="12700">
            <a:solidFill>
              <a:srgbClr val="1F8A58"/>
            </a:solidFill>
            <a:prstDash val="solid"/>
          </a:ln>
        </p:spPr>
      </p:sp>
      <p:pic>
        <p:nvPicPr>
          <p:cNvPr id="11" name="Image 1" descr="preencoded.png">    </p:cNvPr>
          <p:cNvPicPr>
            <a:picLocks noChangeAspect="1"/>
          </p:cNvPicPr>
          <p:nvPr/>
        </p:nvPicPr>
        <p:blipFill>
          <a:blip r:embed="rId2"/>
          <a:stretch>
            <a:fillRect/>
          </a:stretch>
        </p:blipFill>
        <p:spPr>
          <a:xfrm>
            <a:off x="4667098" y="2061058"/>
            <a:ext cx="358445" cy="358445"/>
          </a:xfrm>
          <a:prstGeom prst="rect">
            <a:avLst/>
          </a:prstGeom>
        </p:spPr>
      </p:pic>
      <p:sp>
        <p:nvSpPr>
          <p:cNvPr id="12" name="Text 8"/>
          <p:cNvSpPr txBox="1"/>
          <p:nvPr/>
        </p:nvSpPr>
        <p:spPr>
          <a:xfrm>
            <a:off x="5321808" y="2039112"/>
            <a:ext cx="2377440" cy="411480"/>
          </a:xfrm>
          <a:prstGeom prst="rect">
            <a:avLst/>
          </a:prstGeom>
          <a:noFill/>
          <a:ln/>
        </p:spPr>
        <p:txBody>
          <a:bodyPr wrap="square" lIns="0" tIns="0" rIns="0" bIns="0" rtlCol="0" anchor="ctr"/>
          <a:lstStyle/>
          <a:p>
            <a:pPr indent="0" marL="0">
              <a:buNone/>
            </a:pPr>
            <a:r>
              <a:rPr lang="en-US" sz="1700" b="1" dirty="0">
                <a:solidFill>
                  <a:srgbClr val="15231C"/>
                </a:solidFill>
                <a:latin typeface="Calibri" pitchFamily="34" charset="0"/>
                <a:ea typeface="Calibri" pitchFamily="34" charset="-122"/>
                <a:cs typeface="Calibri" pitchFamily="34" charset="-120"/>
              </a:rPr>
              <a:t>Explainability</a:t>
            </a:r>
            <a:endParaRPr lang="en-US" sz="1700" dirty="0"/>
          </a:p>
        </p:txBody>
      </p:sp>
      <p:sp>
        <p:nvSpPr>
          <p:cNvPr id="13" name="Text 9"/>
          <p:cNvSpPr txBox="1"/>
          <p:nvPr/>
        </p:nvSpPr>
        <p:spPr>
          <a:xfrm>
            <a:off x="4526280" y="2743200"/>
            <a:ext cx="3108960" cy="914400"/>
          </a:xfrm>
          <a:prstGeom prst="rect">
            <a:avLst/>
          </a:prstGeom>
          <a:noFill/>
          <a:ln/>
        </p:spPr>
        <p:txBody>
          <a:bodyPr wrap="square" lIns="0" tIns="0" rIns="0" bIns="0" rtlCol="0" anchor="ctr"/>
          <a:lstStyle/>
          <a:p>
            <a:pPr indent="0" marL="0">
              <a:buNone/>
            </a:pPr>
            <a:r>
              <a:rPr lang="en-US" sz="1250" dirty="0">
                <a:solidFill>
                  <a:srgbClr val="5E6B64"/>
                </a:solidFill>
                <a:latin typeface="Calibri" pitchFamily="34" charset="0"/>
                <a:ea typeface="Calibri" pitchFamily="34" charset="-122"/>
                <a:cs typeface="Calibri" pitchFamily="34" charset="-120"/>
              </a:rPr>
              <a:t>Per-feature "why" vs regional median, probability bars, ± days uncertainty</a:t>
            </a:r>
            <a:endParaRPr lang="en-US" sz="1250" dirty="0"/>
          </a:p>
        </p:txBody>
      </p:sp>
      <p:sp>
        <p:nvSpPr>
          <p:cNvPr id="14" name="Shape 10"/>
          <p:cNvSpPr/>
          <p:nvPr/>
        </p:nvSpPr>
        <p:spPr>
          <a:xfrm>
            <a:off x="8046720" y="1691640"/>
            <a:ext cx="35204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8275320" y="1920240"/>
            <a:ext cx="640080" cy="640080"/>
          </a:xfrm>
          <a:prstGeom prst="ellipse">
            <a:avLst/>
          </a:prstGeom>
          <a:solidFill>
            <a:srgbClr val="1F8A58"/>
          </a:solidFill>
          <a:ln w="12700">
            <a:solidFill>
              <a:srgbClr val="1F8A58"/>
            </a:solidFill>
            <a:prstDash val="solid"/>
          </a:ln>
        </p:spPr>
      </p:sp>
      <p:pic>
        <p:nvPicPr>
          <p:cNvPr id="16" name="Image 2" descr="preencoded.png">    </p:cNvPr>
          <p:cNvPicPr>
            <a:picLocks noChangeAspect="1"/>
          </p:cNvPicPr>
          <p:nvPr/>
        </p:nvPicPr>
        <p:blipFill>
          <a:blip r:embed="rId3"/>
          <a:stretch>
            <a:fillRect/>
          </a:stretch>
        </p:blipFill>
        <p:spPr>
          <a:xfrm>
            <a:off x="8416138" y="2061058"/>
            <a:ext cx="358445" cy="358445"/>
          </a:xfrm>
          <a:prstGeom prst="rect">
            <a:avLst/>
          </a:prstGeom>
        </p:spPr>
      </p:pic>
      <p:sp>
        <p:nvSpPr>
          <p:cNvPr id="17" name="Text 12"/>
          <p:cNvSpPr txBox="1"/>
          <p:nvPr/>
        </p:nvSpPr>
        <p:spPr>
          <a:xfrm>
            <a:off x="9070848" y="2039112"/>
            <a:ext cx="2377440" cy="411480"/>
          </a:xfrm>
          <a:prstGeom prst="rect">
            <a:avLst/>
          </a:prstGeom>
          <a:noFill/>
          <a:ln/>
        </p:spPr>
        <p:txBody>
          <a:bodyPr wrap="square" lIns="0" tIns="0" rIns="0" bIns="0" rtlCol="0" anchor="ctr"/>
          <a:lstStyle/>
          <a:p>
            <a:pPr indent="0" marL="0">
              <a:buNone/>
            </a:pPr>
            <a:r>
              <a:rPr lang="en-US" sz="1700" b="1" dirty="0">
                <a:solidFill>
                  <a:srgbClr val="15231C"/>
                </a:solidFill>
                <a:latin typeface="Calibri" pitchFamily="34" charset="0"/>
                <a:ea typeface="Calibri" pitchFamily="34" charset="-122"/>
                <a:cs typeface="Calibri" pitchFamily="34" charset="-120"/>
              </a:rPr>
              <a:t>Human in the loop</a:t>
            </a:r>
            <a:endParaRPr lang="en-US" sz="1700" dirty="0"/>
          </a:p>
        </p:txBody>
      </p:sp>
      <p:sp>
        <p:nvSpPr>
          <p:cNvPr id="18" name="Text 13"/>
          <p:cNvSpPr txBox="1"/>
          <p:nvPr/>
        </p:nvSpPr>
        <p:spPr>
          <a:xfrm>
            <a:off x="8275320" y="2743200"/>
            <a:ext cx="3108960" cy="914400"/>
          </a:xfrm>
          <a:prstGeom prst="rect">
            <a:avLst/>
          </a:prstGeom>
          <a:noFill/>
          <a:ln/>
        </p:spPr>
        <p:txBody>
          <a:bodyPr wrap="square" lIns="0" tIns="0" rIns="0" bIns="0" rtlCol="0" anchor="ctr"/>
          <a:lstStyle/>
          <a:p>
            <a:pPr indent="0" marL="0">
              <a:buNone/>
            </a:pPr>
            <a:r>
              <a:rPr lang="en-US" sz="1250" dirty="0">
                <a:solidFill>
                  <a:srgbClr val="5E6B64"/>
                </a:solidFill>
                <a:latin typeface="Calibri" pitchFamily="34" charset="0"/>
                <a:ea typeface="Calibri" pitchFamily="34" charset="-122"/>
                <a:cs typeface="Calibri" pitchFamily="34" charset="-120"/>
              </a:rPr>
              <a:t>Accept / override on every advisory; overrides become retraining data</a:t>
            </a:r>
            <a:endParaRPr lang="en-US" sz="1250" dirty="0"/>
          </a:p>
        </p:txBody>
      </p:sp>
      <p:sp>
        <p:nvSpPr>
          <p:cNvPr id="19" name="Shape 14"/>
          <p:cNvSpPr/>
          <p:nvPr/>
        </p:nvSpPr>
        <p:spPr>
          <a:xfrm>
            <a:off x="548640" y="4023360"/>
            <a:ext cx="35204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777240" y="4251960"/>
            <a:ext cx="640080" cy="640080"/>
          </a:xfrm>
          <a:prstGeom prst="ellipse">
            <a:avLst/>
          </a:prstGeom>
          <a:solidFill>
            <a:srgbClr val="1F8A58"/>
          </a:solidFill>
          <a:ln w="12700">
            <a:solidFill>
              <a:srgbClr val="1F8A58"/>
            </a:solidFill>
            <a:prstDash val="solid"/>
          </a:ln>
        </p:spPr>
      </p:sp>
      <p:pic>
        <p:nvPicPr>
          <p:cNvPr id="21" name="Image 3" descr="preencoded.png">    </p:cNvPr>
          <p:cNvPicPr>
            <a:picLocks noChangeAspect="1"/>
          </p:cNvPicPr>
          <p:nvPr/>
        </p:nvPicPr>
        <p:blipFill>
          <a:blip r:embed="rId4"/>
          <a:stretch>
            <a:fillRect/>
          </a:stretch>
        </p:blipFill>
        <p:spPr>
          <a:xfrm>
            <a:off x="918058" y="4392778"/>
            <a:ext cx="358445" cy="358445"/>
          </a:xfrm>
          <a:prstGeom prst="rect">
            <a:avLst/>
          </a:prstGeom>
        </p:spPr>
      </p:pic>
      <p:sp>
        <p:nvSpPr>
          <p:cNvPr id="22" name="Text 16"/>
          <p:cNvSpPr txBox="1"/>
          <p:nvPr/>
        </p:nvSpPr>
        <p:spPr>
          <a:xfrm>
            <a:off x="1572768" y="4370832"/>
            <a:ext cx="2377440" cy="411480"/>
          </a:xfrm>
          <a:prstGeom prst="rect">
            <a:avLst/>
          </a:prstGeom>
          <a:noFill/>
          <a:ln/>
        </p:spPr>
        <p:txBody>
          <a:bodyPr wrap="square" lIns="0" tIns="0" rIns="0" bIns="0" rtlCol="0" anchor="ctr"/>
          <a:lstStyle/>
          <a:p>
            <a:pPr indent="0" marL="0">
              <a:buNone/>
            </a:pPr>
            <a:r>
              <a:rPr lang="en-US" sz="1700" b="1" dirty="0">
                <a:solidFill>
                  <a:srgbClr val="15231C"/>
                </a:solidFill>
                <a:latin typeface="Calibri" pitchFamily="34" charset="0"/>
                <a:ea typeface="Calibri" pitchFamily="34" charset="-122"/>
                <a:cs typeface="Calibri" pitchFamily="34" charset="-120"/>
              </a:rPr>
              <a:t>Fair evaluation</a:t>
            </a:r>
            <a:endParaRPr lang="en-US" sz="1700" dirty="0"/>
          </a:p>
        </p:txBody>
      </p:sp>
      <p:sp>
        <p:nvSpPr>
          <p:cNvPr id="23" name="Text 17"/>
          <p:cNvSpPr txBox="1"/>
          <p:nvPr/>
        </p:nvSpPr>
        <p:spPr>
          <a:xfrm>
            <a:off x="777240" y="5074920"/>
            <a:ext cx="3108960" cy="914400"/>
          </a:xfrm>
          <a:prstGeom prst="rect">
            <a:avLst/>
          </a:prstGeom>
          <a:noFill/>
          <a:ln/>
        </p:spPr>
        <p:txBody>
          <a:bodyPr wrap="square" lIns="0" tIns="0" rIns="0" bIns="0" rtlCol="0" anchor="ctr"/>
          <a:lstStyle/>
          <a:p>
            <a:pPr indent="0" marL="0">
              <a:buNone/>
            </a:pPr>
            <a:r>
              <a:rPr lang="en-US" sz="1250" dirty="0">
                <a:solidFill>
                  <a:srgbClr val="5E6B64"/>
                </a:solidFill>
                <a:latin typeface="Calibri" pitchFamily="34" charset="0"/>
                <a:ea typeface="Calibri" pitchFamily="34" charset="-122"/>
                <a:cs typeface="Calibri" pitchFamily="34" charset="-120"/>
              </a:rPr>
              <a:t>Tested on unseen plots across all 6 taluks; zones expose soil / climate differences</a:t>
            </a:r>
            <a:endParaRPr lang="en-US" sz="1250" dirty="0"/>
          </a:p>
        </p:txBody>
      </p:sp>
      <p:sp>
        <p:nvSpPr>
          <p:cNvPr id="24" name="Shape 18"/>
          <p:cNvSpPr/>
          <p:nvPr/>
        </p:nvSpPr>
        <p:spPr>
          <a:xfrm>
            <a:off x="4297680" y="4023360"/>
            <a:ext cx="35204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4526280" y="4251960"/>
            <a:ext cx="640080" cy="640080"/>
          </a:xfrm>
          <a:prstGeom prst="ellipse">
            <a:avLst/>
          </a:prstGeom>
          <a:solidFill>
            <a:srgbClr val="1F8A58"/>
          </a:solidFill>
          <a:ln w="12700">
            <a:solidFill>
              <a:srgbClr val="1F8A58"/>
            </a:solidFill>
            <a:prstDash val="solid"/>
          </a:ln>
        </p:spPr>
      </p:sp>
      <p:pic>
        <p:nvPicPr>
          <p:cNvPr id="26" name="Image 4" descr="preencoded.png">    </p:cNvPr>
          <p:cNvPicPr>
            <a:picLocks noChangeAspect="1"/>
          </p:cNvPicPr>
          <p:nvPr/>
        </p:nvPicPr>
        <p:blipFill>
          <a:blip r:embed="rId5"/>
          <a:stretch>
            <a:fillRect/>
          </a:stretch>
        </p:blipFill>
        <p:spPr>
          <a:xfrm>
            <a:off x="4667098" y="4392778"/>
            <a:ext cx="358445" cy="358445"/>
          </a:xfrm>
          <a:prstGeom prst="rect">
            <a:avLst/>
          </a:prstGeom>
        </p:spPr>
      </p:pic>
      <p:sp>
        <p:nvSpPr>
          <p:cNvPr id="27" name="Text 20"/>
          <p:cNvSpPr txBox="1"/>
          <p:nvPr/>
        </p:nvSpPr>
        <p:spPr>
          <a:xfrm>
            <a:off x="5321808" y="4370832"/>
            <a:ext cx="2377440" cy="411480"/>
          </a:xfrm>
          <a:prstGeom prst="rect">
            <a:avLst/>
          </a:prstGeom>
          <a:noFill/>
          <a:ln/>
        </p:spPr>
        <p:txBody>
          <a:bodyPr wrap="square" lIns="0" tIns="0" rIns="0" bIns="0" rtlCol="0" anchor="ctr"/>
          <a:lstStyle/>
          <a:p>
            <a:pPr indent="0" marL="0">
              <a:buNone/>
            </a:pPr>
            <a:r>
              <a:rPr lang="en-US" sz="1700" b="1" dirty="0">
                <a:solidFill>
                  <a:srgbClr val="15231C"/>
                </a:solidFill>
                <a:latin typeface="Calibri" pitchFamily="34" charset="0"/>
                <a:ea typeface="Calibri" pitchFamily="34" charset="-122"/>
                <a:cs typeface="Calibri" pitchFamily="34" charset="-120"/>
              </a:rPr>
              <a:t>Security</a:t>
            </a:r>
            <a:endParaRPr lang="en-US" sz="1700" dirty="0"/>
          </a:p>
        </p:txBody>
      </p:sp>
      <p:sp>
        <p:nvSpPr>
          <p:cNvPr id="28" name="Text 21"/>
          <p:cNvSpPr txBox="1"/>
          <p:nvPr/>
        </p:nvSpPr>
        <p:spPr>
          <a:xfrm>
            <a:off x="4526280" y="5074920"/>
            <a:ext cx="3108960" cy="914400"/>
          </a:xfrm>
          <a:prstGeom prst="rect">
            <a:avLst/>
          </a:prstGeom>
          <a:noFill/>
          <a:ln/>
        </p:spPr>
        <p:txBody>
          <a:bodyPr wrap="square" lIns="0" tIns="0" rIns="0" bIns="0" rtlCol="0" anchor="ctr"/>
          <a:lstStyle/>
          <a:p>
            <a:pPr indent="0" marL="0">
              <a:buNone/>
            </a:pPr>
            <a:r>
              <a:rPr lang="en-US" sz="1250" dirty="0">
                <a:solidFill>
                  <a:srgbClr val="5E6B64"/>
                </a:solidFill>
                <a:latin typeface="Calibri" pitchFamily="34" charset="0"/>
                <a:ea typeface="Calibri" pitchFamily="34" charset="-122"/>
                <a:cs typeface="Calibri" pitchFamily="34" charset="-120"/>
              </a:rPr>
              <a:t>Input validation and clamping on every API; no secrets in code; small attack surface</a:t>
            </a:r>
            <a:endParaRPr lang="en-US" sz="1250" dirty="0"/>
          </a:p>
        </p:txBody>
      </p:sp>
      <p:sp>
        <p:nvSpPr>
          <p:cNvPr id="29" name="Shape 22"/>
          <p:cNvSpPr/>
          <p:nvPr/>
        </p:nvSpPr>
        <p:spPr>
          <a:xfrm>
            <a:off x="8046720" y="4023360"/>
            <a:ext cx="3520440" cy="2103120"/>
          </a:xfrm>
          <a:prstGeom prst="roundRect">
            <a:avLst>
              <a:gd name="adj" fmla="val 5217"/>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30" name="Shape 23"/>
          <p:cNvSpPr/>
          <p:nvPr/>
        </p:nvSpPr>
        <p:spPr>
          <a:xfrm>
            <a:off x="8275320" y="4251960"/>
            <a:ext cx="640080" cy="640080"/>
          </a:xfrm>
          <a:prstGeom prst="ellipse">
            <a:avLst/>
          </a:prstGeom>
          <a:solidFill>
            <a:srgbClr val="1F8A58"/>
          </a:solidFill>
          <a:ln w="12700">
            <a:solidFill>
              <a:srgbClr val="1F8A58"/>
            </a:solidFill>
            <a:prstDash val="solid"/>
          </a:ln>
        </p:spPr>
      </p:sp>
      <p:pic>
        <p:nvPicPr>
          <p:cNvPr id="31" name="Image 5" descr="preencoded.png">    </p:cNvPr>
          <p:cNvPicPr>
            <a:picLocks noChangeAspect="1"/>
          </p:cNvPicPr>
          <p:nvPr/>
        </p:nvPicPr>
        <p:blipFill>
          <a:blip r:embed="rId6"/>
          <a:stretch>
            <a:fillRect/>
          </a:stretch>
        </p:blipFill>
        <p:spPr>
          <a:xfrm>
            <a:off x="8416138" y="4392778"/>
            <a:ext cx="358445" cy="358445"/>
          </a:xfrm>
          <a:prstGeom prst="rect">
            <a:avLst/>
          </a:prstGeom>
        </p:spPr>
      </p:pic>
      <p:sp>
        <p:nvSpPr>
          <p:cNvPr id="32" name="Text 24"/>
          <p:cNvSpPr txBox="1"/>
          <p:nvPr/>
        </p:nvSpPr>
        <p:spPr>
          <a:xfrm>
            <a:off x="9070848" y="4370832"/>
            <a:ext cx="2377440" cy="411480"/>
          </a:xfrm>
          <a:prstGeom prst="rect">
            <a:avLst/>
          </a:prstGeom>
          <a:noFill/>
          <a:ln/>
        </p:spPr>
        <p:txBody>
          <a:bodyPr wrap="square" lIns="0" tIns="0" rIns="0" bIns="0" rtlCol="0" anchor="ctr"/>
          <a:lstStyle/>
          <a:p>
            <a:pPr indent="0" marL="0">
              <a:buNone/>
            </a:pPr>
            <a:r>
              <a:rPr lang="en-US" sz="1700" b="1" dirty="0">
                <a:solidFill>
                  <a:srgbClr val="15231C"/>
                </a:solidFill>
                <a:latin typeface="Calibri" pitchFamily="34" charset="0"/>
                <a:ea typeface="Calibri" pitchFamily="34" charset="-122"/>
                <a:cs typeface="Calibri" pitchFamily="34" charset="-120"/>
              </a:rPr>
              <a:t>Honest limits</a:t>
            </a:r>
            <a:endParaRPr lang="en-US" sz="1700" dirty="0"/>
          </a:p>
        </p:txBody>
      </p:sp>
      <p:sp>
        <p:nvSpPr>
          <p:cNvPr id="33" name="Text 25"/>
          <p:cNvSpPr txBox="1"/>
          <p:nvPr/>
        </p:nvSpPr>
        <p:spPr>
          <a:xfrm>
            <a:off x="8275320" y="5074920"/>
            <a:ext cx="3108960" cy="914400"/>
          </a:xfrm>
          <a:prstGeom prst="rect">
            <a:avLst/>
          </a:prstGeom>
          <a:noFill/>
          <a:ln/>
        </p:spPr>
        <p:txBody>
          <a:bodyPr wrap="square" lIns="0" tIns="0" rIns="0" bIns="0" rtlCol="0" anchor="ctr"/>
          <a:lstStyle/>
          <a:p>
            <a:pPr indent="0" marL="0">
              <a:buNone/>
            </a:pPr>
            <a:r>
              <a:rPr lang="en-US" sz="1250" dirty="0">
                <a:solidFill>
                  <a:srgbClr val="5E6B64"/>
                </a:solidFill>
                <a:latin typeface="Calibri" pitchFamily="34" charset="0"/>
                <a:ea typeface="Calibri" pitchFamily="34" charset="-122"/>
                <a:cs typeface="Calibri" pitchFamily="34" charset="-120"/>
              </a:rPr>
              <a:t>Labels are agronomy-derived until real KIAAR data arrives, and we say so in the app</a:t>
            </a:r>
            <a:endParaRPr lang="en-US" sz="1250" dirty="0"/>
          </a:p>
        </p:txBody>
      </p:sp>
      <p:sp>
        <p:nvSpPr>
          <p:cNvPr id="34" name="Text 26"/>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Architecture &amp; tech stack</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Offline-first, one command to run: npm install &amp;&amp; npm start</a:t>
            </a:r>
            <a:endParaRPr lang="en-US" sz="1500" dirty="0"/>
          </a:p>
        </p:txBody>
      </p:sp>
      <p:sp>
        <p:nvSpPr>
          <p:cNvPr id="4" name="Shape 2"/>
          <p:cNvSpPr/>
          <p:nvPr/>
        </p:nvSpPr>
        <p:spPr>
          <a:xfrm>
            <a:off x="548640" y="1737360"/>
            <a:ext cx="2514600" cy="2377440"/>
          </a:xfrm>
          <a:prstGeom prst="roundRect">
            <a:avLst>
              <a:gd name="adj" fmla="val 4615"/>
            </a:avLst>
          </a:prstGeom>
          <a:solidFill>
            <a:srgbClr val="F3F7F4"/>
          </a:solidFill>
          <a:ln w="12700">
            <a:solidFill>
              <a:srgbClr val="DDE5E0"/>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77240" y="1965960"/>
            <a:ext cx="502920" cy="502920"/>
          </a:xfrm>
          <a:prstGeom prst="rect">
            <a:avLst/>
          </a:prstGeom>
        </p:spPr>
      </p:pic>
      <p:sp>
        <p:nvSpPr>
          <p:cNvPr id="6" name="Text 3"/>
          <p:cNvSpPr txBox="1"/>
          <p:nvPr/>
        </p:nvSpPr>
        <p:spPr>
          <a:xfrm>
            <a:off x="777240" y="2606040"/>
            <a:ext cx="2148840" cy="36576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Data</a:t>
            </a:r>
            <a:endParaRPr lang="en-US" sz="1600" dirty="0"/>
          </a:p>
        </p:txBody>
      </p:sp>
      <p:sp>
        <p:nvSpPr>
          <p:cNvPr id="7" name="Text 4"/>
          <p:cNvSpPr txBox="1"/>
          <p:nvPr/>
        </p:nvSpPr>
        <p:spPr>
          <a:xfrm>
            <a:off x="777240" y="3017520"/>
            <a:ext cx="2148840" cy="10058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IrrigationAdvisory</a:t>
            </a:r>
            <a:endParaRPr lang="en-US" sz="1200" dirty="0"/>
          </a:p>
          <a:p>
            <a:pPr indent="0" marL="0">
              <a:buNone/>
            </a:pPr>
            <a:r>
              <a:rPr lang="en-US" sz="1200" dirty="0">
                <a:solidFill>
                  <a:srgbClr val="5E6B64"/>
                </a:solidFill>
                <a:latin typeface="Calibri" pitchFamily="34" charset="0"/>
                <a:ea typeface="Calibri" pitchFamily="34" charset="-122"/>
                <a:cs typeface="Calibri" pitchFamily="34" charset="-120"/>
              </a:rPr>
              <a:t>Dataset.csv</a:t>
            </a:r>
            <a:endParaRPr lang="en-US" sz="1200" dirty="0"/>
          </a:p>
          <a:p>
            <a:pPr indent="0" marL="0">
              <a:buNone/>
            </a:pPr>
            <a:r>
              <a:rPr lang="en-US" sz="1200" dirty="0">
                <a:solidFill>
                  <a:srgbClr val="5E6B64"/>
                </a:solidFill>
                <a:latin typeface="Calibri" pitchFamily="34" charset="0"/>
                <a:ea typeface="Calibri" pitchFamily="34" charset="-122"/>
                <a:cs typeface="Calibri" pitchFamily="34" charset="-120"/>
              </a:rPr>
              <a:t>1,000 plots + polygons</a:t>
            </a:r>
            <a:endParaRPr lang="en-US" sz="1200" dirty="0"/>
          </a:p>
        </p:txBody>
      </p:sp>
      <p:sp>
        <p:nvSpPr>
          <p:cNvPr id="8" name="Text 5"/>
          <p:cNvSpPr txBox="1"/>
          <p:nvPr/>
        </p:nvSpPr>
        <p:spPr>
          <a:xfrm>
            <a:off x="3072384" y="2651760"/>
            <a:ext cx="310896" cy="548640"/>
          </a:xfrm>
          <a:prstGeom prst="rect">
            <a:avLst/>
          </a:prstGeom>
          <a:noFill/>
          <a:ln/>
        </p:spPr>
        <p:txBody>
          <a:bodyPr wrap="square" lIns="0" tIns="0" rIns="0" bIns="0" rtlCol="0" anchor="ctr"/>
          <a:lstStyle/>
          <a:p>
            <a:pPr algn="ctr" indent="0" marL="0">
              <a:buNone/>
            </a:pPr>
            <a:r>
              <a:rPr lang="en-US" sz="3000" b="1" dirty="0">
                <a:solidFill>
                  <a:srgbClr val="1F8A58"/>
                </a:solidFill>
                <a:latin typeface="Calibri" pitchFamily="34" charset="0"/>
                <a:ea typeface="Calibri" pitchFamily="34" charset="-122"/>
                <a:cs typeface="Calibri" pitchFamily="34" charset="-120"/>
              </a:rPr>
              <a:t>›</a:t>
            </a:r>
            <a:endParaRPr lang="en-US" sz="3000" dirty="0"/>
          </a:p>
        </p:txBody>
      </p:sp>
      <p:sp>
        <p:nvSpPr>
          <p:cNvPr id="9" name="Shape 6"/>
          <p:cNvSpPr/>
          <p:nvPr/>
        </p:nvSpPr>
        <p:spPr>
          <a:xfrm>
            <a:off x="3383280" y="1737360"/>
            <a:ext cx="2514600" cy="2377440"/>
          </a:xfrm>
          <a:prstGeom prst="roundRect">
            <a:avLst>
              <a:gd name="adj" fmla="val 4615"/>
            </a:avLst>
          </a:prstGeom>
          <a:solidFill>
            <a:srgbClr val="F3F7F4"/>
          </a:solidFill>
          <a:ln w="12700">
            <a:solidFill>
              <a:srgbClr val="DDE5E0"/>
            </a:solidFill>
            <a:prstDash val="solid"/>
          </a:ln>
          <a:effectLst>
            <a:outerShdw sx="100000" sy="100000" kx="0" ky="0" algn="bl" rotWithShape="0" blurRad="101600" dist="25400" dir="54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3611880" y="1965960"/>
            <a:ext cx="502920" cy="502920"/>
          </a:xfrm>
          <a:prstGeom prst="rect">
            <a:avLst/>
          </a:prstGeom>
        </p:spPr>
      </p:pic>
      <p:sp>
        <p:nvSpPr>
          <p:cNvPr id="11" name="Text 7"/>
          <p:cNvSpPr txBox="1"/>
          <p:nvPr/>
        </p:nvSpPr>
        <p:spPr>
          <a:xfrm>
            <a:off x="3611880" y="2606040"/>
            <a:ext cx="2148840" cy="365760"/>
          </a:xfrm>
          <a:prstGeom prst="rect">
            <a:avLst/>
          </a:prstGeom>
          <a:noFill/>
          <a:ln/>
        </p:spPr>
        <p:txBody>
          <a:bodyPr wrap="square" lIns="0" tIns="0" rIns="0" bIns="0" rtlCol="0" anchor="ctr"/>
          <a:lstStyle/>
          <a:p>
            <a:pPr indent="0" marL="0">
              <a:buNone/>
            </a:pPr>
            <a:r>
              <a:rPr lang="en-US" sz="1600" b="1" dirty="0">
                <a:solidFill>
                  <a:srgbClr val="15231C"/>
                </a:solidFill>
                <a:latin typeface="Calibri" pitchFamily="34" charset="0"/>
                <a:ea typeface="Calibri" pitchFamily="34" charset="-122"/>
                <a:cs typeface="Calibri" pitchFamily="34" charset="-120"/>
              </a:rPr>
              <a:t>Training (Python)</a:t>
            </a:r>
            <a:endParaRPr lang="en-US" sz="1600" dirty="0"/>
          </a:p>
        </p:txBody>
      </p:sp>
      <p:sp>
        <p:nvSpPr>
          <p:cNvPr id="12" name="Text 8"/>
          <p:cNvSpPr txBox="1"/>
          <p:nvPr/>
        </p:nvSpPr>
        <p:spPr>
          <a:xfrm>
            <a:off x="3611880" y="3017520"/>
            <a:ext cx="2148840" cy="10058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pandas · scikit-learn</a:t>
            </a:r>
            <a:endParaRPr lang="en-US" sz="1200" dirty="0"/>
          </a:p>
          <a:p>
            <a:pPr indent="0" marL="0">
              <a:buNone/>
            </a:pPr>
            <a:r>
              <a:rPr lang="en-US" sz="1200" dirty="0">
                <a:solidFill>
                  <a:srgbClr val="5E6B64"/>
                </a:solidFill>
                <a:latin typeface="Calibri" pitchFamily="34" charset="0"/>
                <a:ea typeface="Calibri" pitchFamily="34" charset="-122"/>
                <a:cs typeface="Calibri" pitchFamily="34" charset="-120"/>
              </a:rPr>
              <a:t>FAO-56 / FAO-33 labels</a:t>
            </a:r>
            <a:endParaRPr lang="en-US" sz="1200" dirty="0"/>
          </a:p>
          <a:p>
            <a:pPr indent="0" marL="0">
              <a:buNone/>
            </a:pPr>
            <a:r>
              <a:rPr lang="en-US" sz="1200" dirty="0">
                <a:solidFill>
                  <a:srgbClr val="5E6B64"/>
                </a:solidFill>
                <a:latin typeface="Calibri" pitchFamily="34" charset="0"/>
                <a:ea typeface="Calibri" pitchFamily="34" charset="-122"/>
                <a:cs typeface="Calibri" pitchFamily="34" charset="-120"/>
              </a:rPr>
              <a:t>→ models/*.json</a:t>
            </a:r>
            <a:endParaRPr lang="en-US" sz="1200" dirty="0"/>
          </a:p>
        </p:txBody>
      </p:sp>
      <p:sp>
        <p:nvSpPr>
          <p:cNvPr id="13" name="Text 9"/>
          <p:cNvSpPr txBox="1"/>
          <p:nvPr/>
        </p:nvSpPr>
        <p:spPr>
          <a:xfrm>
            <a:off x="5907024" y="2651760"/>
            <a:ext cx="310896" cy="548640"/>
          </a:xfrm>
          <a:prstGeom prst="rect">
            <a:avLst/>
          </a:prstGeom>
          <a:noFill/>
          <a:ln/>
        </p:spPr>
        <p:txBody>
          <a:bodyPr wrap="square" lIns="0" tIns="0" rIns="0" bIns="0" rtlCol="0" anchor="ctr"/>
          <a:lstStyle/>
          <a:p>
            <a:pPr algn="ctr" indent="0" marL="0">
              <a:buNone/>
            </a:pPr>
            <a:r>
              <a:rPr lang="en-US" sz="3000" b="1" dirty="0">
                <a:solidFill>
                  <a:srgbClr val="1F8A58"/>
                </a:solidFill>
                <a:latin typeface="Calibri" pitchFamily="34" charset="0"/>
                <a:ea typeface="Calibri" pitchFamily="34" charset="-122"/>
                <a:cs typeface="Calibri" pitchFamily="34" charset="-120"/>
              </a:rPr>
              <a:t>›</a:t>
            </a:r>
            <a:endParaRPr lang="en-US" sz="3000" dirty="0"/>
          </a:p>
        </p:txBody>
      </p:sp>
      <p:sp>
        <p:nvSpPr>
          <p:cNvPr id="14" name="Shape 10"/>
          <p:cNvSpPr/>
          <p:nvPr/>
        </p:nvSpPr>
        <p:spPr>
          <a:xfrm>
            <a:off x="6217920" y="1737360"/>
            <a:ext cx="2514600" cy="2377440"/>
          </a:xfrm>
          <a:prstGeom prst="roundRect">
            <a:avLst>
              <a:gd name="adj" fmla="val 4615"/>
            </a:avLst>
          </a:prstGeom>
          <a:solidFill>
            <a:srgbClr val="1F8A58"/>
          </a:solidFill>
          <a:ln w="12700">
            <a:solidFill>
              <a:srgbClr val="1F8A58"/>
            </a:solidFill>
            <a:prstDash val="solid"/>
          </a:ln>
          <a:effectLst>
            <a:outerShdw sx="100000" sy="100000" kx="0" ky="0" algn="bl" rotWithShape="0" blurRad="101600" dist="25400" dir="54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6446520" y="1965960"/>
            <a:ext cx="502920" cy="502920"/>
          </a:xfrm>
          <a:prstGeom prst="rect">
            <a:avLst/>
          </a:prstGeom>
        </p:spPr>
      </p:pic>
      <p:sp>
        <p:nvSpPr>
          <p:cNvPr id="16" name="Text 11"/>
          <p:cNvSpPr txBox="1"/>
          <p:nvPr/>
        </p:nvSpPr>
        <p:spPr>
          <a:xfrm>
            <a:off x="6446520" y="2606040"/>
            <a:ext cx="21488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Backend (Node.js)</a:t>
            </a:r>
            <a:endParaRPr lang="en-US" sz="1600" dirty="0"/>
          </a:p>
        </p:txBody>
      </p:sp>
      <p:sp>
        <p:nvSpPr>
          <p:cNvPr id="17" name="Text 12"/>
          <p:cNvSpPr txBox="1"/>
          <p:nvPr/>
        </p:nvSpPr>
        <p:spPr>
          <a:xfrm>
            <a:off x="6446520" y="3017520"/>
            <a:ext cx="2148840" cy="1005840"/>
          </a:xfrm>
          <a:prstGeom prst="rect">
            <a:avLst/>
          </a:prstGeom>
          <a:noFill/>
          <a:ln/>
        </p:spPr>
        <p:txBody>
          <a:bodyPr wrap="square" lIns="0" tIns="0" rIns="0" bIns="0" rtlCol="0" anchor="ctr"/>
          <a:lstStyle/>
          <a:p>
            <a:pPr indent="0" marL="0">
              <a:buNone/>
            </a:pPr>
            <a:r>
              <a:rPr lang="en-US" sz="1200" dirty="0">
                <a:solidFill>
                  <a:srgbClr val="E3F0E8"/>
                </a:solidFill>
                <a:latin typeface="Calibri" pitchFamily="34" charset="0"/>
                <a:ea typeface="Calibri" pitchFamily="34" charset="-122"/>
                <a:cs typeface="Calibri" pitchFamily="34" charset="-120"/>
              </a:rPr>
              <a:t>Express REST API</a:t>
            </a:r>
            <a:endParaRPr lang="en-US" sz="1200" dirty="0"/>
          </a:p>
          <a:p>
            <a:pPr indent="0" marL="0">
              <a:buNone/>
            </a:pPr>
            <a:r>
              <a:rPr lang="en-US" sz="1200" dirty="0">
                <a:solidFill>
                  <a:srgbClr val="E3F0E8"/>
                </a:solidFill>
                <a:latin typeface="Calibri" pitchFamily="34" charset="0"/>
                <a:ea typeface="Calibri" pitchFamily="34" charset="-122"/>
                <a:cs typeface="Calibri" pitchFamily="34" charset="-120"/>
              </a:rPr>
              <a:t>tree inference · advisory</a:t>
            </a:r>
            <a:endParaRPr lang="en-US" sz="1200" dirty="0"/>
          </a:p>
          <a:p>
            <a:pPr indent="0" marL="0">
              <a:buNone/>
            </a:pPr>
            <a:r>
              <a:rPr lang="en-US" sz="1200" dirty="0">
                <a:solidFill>
                  <a:srgbClr val="E3F0E8"/>
                </a:solidFill>
                <a:latin typeface="Calibri" pitchFamily="34" charset="0"/>
                <a:ea typeface="Calibri" pitchFamily="34" charset="-122"/>
                <a:cs typeface="Calibri" pitchFamily="34" charset="-120"/>
              </a:rPr>
              <a:t>scheduler · i18n · chat</a:t>
            </a:r>
            <a:endParaRPr lang="en-US" sz="1200" dirty="0"/>
          </a:p>
        </p:txBody>
      </p:sp>
      <p:sp>
        <p:nvSpPr>
          <p:cNvPr id="18" name="Text 13"/>
          <p:cNvSpPr txBox="1"/>
          <p:nvPr/>
        </p:nvSpPr>
        <p:spPr>
          <a:xfrm>
            <a:off x="8741664" y="2651760"/>
            <a:ext cx="310896" cy="548640"/>
          </a:xfrm>
          <a:prstGeom prst="rect">
            <a:avLst/>
          </a:prstGeom>
          <a:noFill/>
          <a:ln/>
        </p:spPr>
        <p:txBody>
          <a:bodyPr wrap="square" lIns="0" tIns="0" rIns="0" bIns="0" rtlCol="0" anchor="ctr"/>
          <a:lstStyle/>
          <a:p>
            <a:pPr algn="ctr" indent="0" marL="0">
              <a:buNone/>
            </a:pPr>
            <a:r>
              <a:rPr lang="en-US" sz="3000" b="1" dirty="0">
                <a:solidFill>
                  <a:srgbClr val="1F8A58"/>
                </a:solidFill>
                <a:latin typeface="Calibri" pitchFamily="34" charset="0"/>
                <a:ea typeface="Calibri" pitchFamily="34" charset="-122"/>
                <a:cs typeface="Calibri" pitchFamily="34" charset="-120"/>
              </a:rPr>
              <a:t>›</a:t>
            </a:r>
            <a:endParaRPr lang="en-US" sz="3000" dirty="0"/>
          </a:p>
        </p:txBody>
      </p:sp>
      <p:sp>
        <p:nvSpPr>
          <p:cNvPr id="19" name="Shape 14"/>
          <p:cNvSpPr/>
          <p:nvPr/>
        </p:nvSpPr>
        <p:spPr>
          <a:xfrm>
            <a:off x="9052560" y="1737360"/>
            <a:ext cx="2514600" cy="2377440"/>
          </a:xfrm>
          <a:prstGeom prst="roundRect">
            <a:avLst>
              <a:gd name="adj" fmla="val 4615"/>
            </a:avLst>
          </a:prstGeom>
          <a:solidFill>
            <a:srgbClr val="0F2F22"/>
          </a:solidFill>
          <a:ln w="12700">
            <a:solidFill>
              <a:srgbClr val="0F2F22"/>
            </a:solidFill>
            <a:prstDash val="solid"/>
          </a:ln>
          <a:effectLst>
            <a:outerShdw sx="100000" sy="100000" kx="0" ky="0" algn="bl" rotWithShape="0" blurRad="101600" dist="25400" dir="54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9281160" y="1965960"/>
            <a:ext cx="502920" cy="502920"/>
          </a:xfrm>
          <a:prstGeom prst="rect">
            <a:avLst/>
          </a:prstGeom>
        </p:spPr>
      </p:pic>
      <p:sp>
        <p:nvSpPr>
          <p:cNvPr id="21" name="Text 15"/>
          <p:cNvSpPr txBox="1"/>
          <p:nvPr/>
        </p:nvSpPr>
        <p:spPr>
          <a:xfrm>
            <a:off x="9281160" y="2606040"/>
            <a:ext cx="21488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Frontend</a:t>
            </a:r>
            <a:endParaRPr lang="en-US" sz="1600" dirty="0"/>
          </a:p>
        </p:txBody>
      </p:sp>
      <p:sp>
        <p:nvSpPr>
          <p:cNvPr id="22" name="Text 16"/>
          <p:cNvSpPr txBox="1"/>
          <p:nvPr/>
        </p:nvSpPr>
        <p:spPr>
          <a:xfrm>
            <a:off x="9281160" y="3017520"/>
            <a:ext cx="2148840" cy="1005840"/>
          </a:xfrm>
          <a:prstGeom prst="rect">
            <a:avLst/>
          </a:prstGeom>
          <a:noFill/>
          <a:ln/>
        </p:spPr>
        <p:txBody>
          <a:bodyPr wrap="square" lIns="0" tIns="0" rIns="0" bIns="0" rtlCol="0" anchor="ctr"/>
          <a:lstStyle/>
          <a:p>
            <a:pPr indent="0" marL="0">
              <a:buNone/>
            </a:pPr>
            <a:r>
              <a:rPr lang="en-US" sz="1200" dirty="0">
                <a:solidFill>
                  <a:srgbClr val="E3F0E8"/>
                </a:solidFill>
                <a:latin typeface="Calibri" pitchFamily="34" charset="0"/>
                <a:ea typeface="Calibri" pitchFamily="34" charset="-122"/>
                <a:cs typeface="Calibri" pitchFamily="34" charset="-120"/>
              </a:rPr>
              <a:t>Vanilla JS SPA</a:t>
            </a:r>
            <a:endParaRPr lang="en-US" sz="1200" dirty="0"/>
          </a:p>
          <a:p>
            <a:pPr indent="0" marL="0">
              <a:buNone/>
            </a:pPr>
            <a:r>
              <a:rPr lang="en-US" sz="1200" dirty="0">
                <a:solidFill>
                  <a:srgbClr val="E3F0E8"/>
                </a:solidFill>
                <a:latin typeface="Calibri" pitchFamily="34" charset="0"/>
                <a:ea typeface="Calibri" pitchFamily="34" charset="-122"/>
                <a:cs typeface="Calibri" pitchFamily="34" charset="-120"/>
              </a:rPr>
              <a:t>Chart.js · Leaflet maps</a:t>
            </a:r>
            <a:endParaRPr lang="en-US" sz="1200" dirty="0"/>
          </a:p>
          <a:p>
            <a:pPr indent="0" marL="0">
              <a:buNone/>
            </a:pPr>
            <a:r>
              <a:rPr lang="en-US" sz="1200" dirty="0">
                <a:solidFill>
                  <a:srgbClr val="E3F0E8"/>
                </a:solidFill>
                <a:latin typeface="Calibri" pitchFamily="34" charset="0"/>
                <a:ea typeface="Calibri" pitchFamily="34" charset="-122"/>
                <a:cs typeface="Calibri" pitchFamily="34" charset="-120"/>
              </a:rPr>
              <a:t>light / dark, mobile</a:t>
            </a:r>
            <a:endParaRPr lang="en-US" sz="1200" dirty="0"/>
          </a:p>
        </p:txBody>
      </p:sp>
      <p:sp>
        <p:nvSpPr>
          <p:cNvPr id="23" name="Shape 17"/>
          <p:cNvSpPr/>
          <p:nvPr/>
        </p:nvSpPr>
        <p:spPr>
          <a:xfrm>
            <a:off x="548640" y="4434840"/>
            <a:ext cx="5486400" cy="1874520"/>
          </a:xfrm>
          <a:prstGeom prst="roundRect">
            <a:avLst>
              <a:gd name="adj" fmla="val 5854"/>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4" name="Text 18"/>
          <p:cNvSpPr txBox="1"/>
          <p:nvPr/>
        </p:nvSpPr>
        <p:spPr>
          <a:xfrm>
            <a:off x="777240" y="4572000"/>
            <a:ext cx="5120640" cy="320040"/>
          </a:xfrm>
          <a:prstGeom prst="rect">
            <a:avLst/>
          </a:prstGeom>
          <a:noFill/>
          <a:ln/>
        </p:spPr>
        <p:txBody>
          <a:bodyPr wrap="square" lIns="0" tIns="0" rIns="0" bIns="0" rtlCol="0" anchor="ctr"/>
          <a:lstStyle/>
          <a:p>
            <a:pPr indent="0" marL="0">
              <a:buNone/>
            </a:pPr>
            <a:r>
              <a:rPr lang="en-US" sz="1400" b="1" dirty="0">
                <a:solidFill>
                  <a:srgbClr val="15231C"/>
                </a:solidFill>
                <a:latin typeface="Calibri" pitchFamily="34" charset="0"/>
                <a:ea typeface="Calibri" pitchFamily="34" charset="-122"/>
                <a:cs typeface="Calibri" pitchFamily="34" charset="-120"/>
              </a:rPr>
              <a:t>REST API (integrates with STEPS / mobile apps)</a:t>
            </a:r>
            <a:endParaRPr lang="en-US" sz="1400" dirty="0"/>
          </a:p>
        </p:txBody>
      </p:sp>
      <p:sp>
        <p:nvSpPr>
          <p:cNvPr id="25" name="Text 19"/>
          <p:cNvSpPr txBox="1"/>
          <p:nvPr/>
        </p:nvSpPr>
        <p:spPr>
          <a:xfrm>
            <a:off x="777240" y="4983480"/>
            <a:ext cx="2560320" cy="292608"/>
          </a:xfrm>
          <a:prstGeom prst="rect">
            <a:avLst/>
          </a:prstGeom>
          <a:noFill/>
          <a:ln/>
        </p:spPr>
        <p:txBody>
          <a:bodyPr wrap="square" lIns="0" tIns="0" rIns="0" bIns="0" rtlCol="0" anchor="ctr"/>
          <a:lstStyle/>
          <a:p>
            <a:pPr indent="0" marL="0">
              <a:buNone/>
            </a:pPr>
            <a:r>
              <a:rPr lang="en-US" sz="1150" dirty="0">
                <a:solidFill>
                  <a:srgbClr val="1F8A58"/>
                </a:solidFill>
                <a:latin typeface="Courier New" pitchFamily="34" charset="0"/>
                <a:ea typeface="Courier New" pitchFamily="34" charset="-122"/>
                <a:cs typeface="Courier New" pitchFamily="34" charset="-120"/>
              </a:rPr>
              <a:t>GET /api/farms</a:t>
            </a:r>
            <a:endParaRPr lang="en-US" sz="1150" dirty="0"/>
          </a:p>
        </p:txBody>
      </p:sp>
      <p:sp>
        <p:nvSpPr>
          <p:cNvPr id="26" name="Text 20"/>
          <p:cNvSpPr txBox="1"/>
          <p:nvPr/>
        </p:nvSpPr>
        <p:spPr>
          <a:xfrm>
            <a:off x="3383280" y="4983480"/>
            <a:ext cx="2560320" cy="292608"/>
          </a:xfrm>
          <a:prstGeom prst="rect">
            <a:avLst/>
          </a:prstGeom>
          <a:noFill/>
          <a:ln/>
        </p:spPr>
        <p:txBody>
          <a:bodyPr wrap="square" lIns="0" tIns="0" rIns="0" bIns="0" rtlCol="0" anchor="ctr"/>
          <a:lstStyle/>
          <a:p>
            <a:pPr indent="0" marL="0">
              <a:buNone/>
            </a:pPr>
            <a:r>
              <a:rPr lang="en-US" sz="1150" dirty="0">
                <a:solidFill>
                  <a:srgbClr val="1F8A58"/>
                </a:solidFill>
                <a:latin typeface="Courier New" pitchFamily="34" charset="0"/>
                <a:ea typeface="Courier New" pitchFamily="34" charset="-122"/>
                <a:cs typeface="Courier New" pitchFamily="34" charset="-120"/>
              </a:rPr>
              <a:t>GET /api/farms/:id?lang=kn</a:t>
            </a:r>
            <a:endParaRPr lang="en-US" sz="1150" dirty="0"/>
          </a:p>
        </p:txBody>
      </p:sp>
      <p:sp>
        <p:nvSpPr>
          <p:cNvPr id="27" name="Text 21"/>
          <p:cNvSpPr txBox="1"/>
          <p:nvPr/>
        </p:nvSpPr>
        <p:spPr>
          <a:xfrm>
            <a:off x="777240" y="5303520"/>
            <a:ext cx="2560320" cy="292608"/>
          </a:xfrm>
          <a:prstGeom prst="rect">
            <a:avLst/>
          </a:prstGeom>
          <a:noFill/>
          <a:ln/>
        </p:spPr>
        <p:txBody>
          <a:bodyPr wrap="square" lIns="0" tIns="0" rIns="0" bIns="0" rtlCol="0" anchor="ctr"/>
          <a:lstStyle/>
          <a:p>
            <a:pPr indent="0" marL="0">
              <a:buNone/>
            </a:pPr>
            <a:r>
              <a:rPr lang="en-US" sz="1150" dirty="0">
                <a:solidFill>
                  <a:srgbClr val="1F8A58"/>
                </a:solidFill>
                <a:latin typeface="Courier New" pitchFamily="34" charset="0"/>
                <a:ea typeface="Courier New" pitchFamily="34" charset="-122"/>
                <a:cs typeface="Courier New" pitchFamily="34" charset="-120"/>
              </a:rPr>
              <a:t>POST /api/predict</a:t>
            </a:r>
            <a:endParaRPr lang="en-US" sz="1150" dirty="0"/>
          </a:p>
        </p:txBody>
      </p:sp>
      <p:sp>
        <p:nvSpPr>
          <p:cNvPr id="28" name="Text 22"/>
          <p:cNvSpPr txBox="1"/>
          <p:nvPr/>
        </p:nvSpPr>
        <p:spPr>
          <a:xfrm>
            <a:off x="3383280" y="5303520"/>
            <a:ext cx="2560320" cy="292608"/>
          </a:xfrm>
          <a:prstGeom prst="rect">
            <a:avLst/>
          </a:prstGeom>
          <a:noFill/>
          <a:ln/>
        </p:spPr>
        <p:txBody>
          <a:bodyPr wrap="square" lIns="0" tIns="0" rIns="0" bIns="0" rtlCol="0" anchor="ctr"/>
          <a:lstStyle/>
          <a:p>
            <a:pPr indent="0" marL="0">
              <a:buNone/>
            </a:pPr>
            <a:r>
              <a:rPr lang="en-US" sz="1150" dirty="0">
                <a:solidFill>
                  <a:srgbClr val="1F8A58"/>
                </a:solidFill>
                <a:latin typeface="Courier New" pitchFamily="34" charset="0"/>
                <a:ea typeface="Courier New" pitchFamily="34" charset="-122"/>
                <a:cs typeface="Courier New" pitchFamily="34" charset="-120"/>
              </a:rPr>
              <a:t>POST /api/schedule</a:t>
            </a:r>
            <a:endParaRPr lang="en-US" sz="1150" dirty="0"/>
          </a:p>
        </p:txBody>
      </p:sp>
      <p:sp>
        <p:nvSpPr>
          <p:cNvPr id="29" name="Text 23"/>
          <p:cNvSpPr txBox="1"/>
          <p:nvPr/>
        </p:nvSpPr>
        <p:spPr>
          <a:xfrm>
            <a:off x="777240" y="5623560"/>
            <a:ext cx="2560320" cy="292608"/>
          </a:xfrm>
          <a:prstGeom prst="rect">
            <a:avLst/>
          </a:prstGeom>
          <a:noFill/>
          <a:ln/>
        </p:spPr>
        <p:txBody>
          <a:bodyPr wrap="square" lIns="0" tIns="0" rIns="0" bIns="0" rtlCol="0" anchor="ctr"/>
          <a:lstStyle/>
          <a:p>
            <a:pPr indent="0" marL="0">
              <a:buNone/>
            </a:pPr>
            <a:r>
              <a:rPr lang="en-US" sz="1150" dirty="0">
                <a:solidFill>
                  <a:srgbClr val="1F8A58"/>
                </a:solidFill>
                <a:latin typeface="Courier New" pitchFamily="34" charset="0"/>
                <a:ea typeface="Courier New" pitchFamily="34" charset="-122"/>
                <a:cs typeface="Courier New" pitchFamily="34" charset="-120"/>
              </a:rPr>
              <a:t>GET /api/insights</a:t>
            </a:r>
            <a:endParaRPr lang="en-US" sz="1150" dirty="0"/>
          </a:p>
        </p:txBody>
      </p:sp>
      <p:sp>
        <p:nvSpPr>
          <p:cNvPr id="30" name="Text 24"/>
          <p:cNvSpPr txBox="1"/>
          <p:nvPr/>
        </p:nvSpPr>
        <p:spPr>
          <a:xfrm>
            <a:off x="3383280" y="5623560"/>
            <a:ext cx="2560320" cy="292608"/>
          </a:xfrm>
          <a:prstGeom prst="rect">
            <a:avLst/>
          </a:prstGeom>
          <a:noFill/>
          <a:ln/>
        </p:spPr>
        <p:txBody>
          <a:bodyPr wrap="square" lIns="0" tIns="0" rIns="0" bIns="0" rtlCol="0" anchor="ctr"/>
          <a:lstStyle/>
          <a:p>
            <a:pPr indent="0" marL="0">
              <a:buNone/>
            </a:pPr>
            <a:r>
              <a:rPr lang="en-US" sz="1150" dirty="0">
                <a:solidFill>
                  <a:srgbClr val="1F8A58"/>
                </a:solidFill>
                <a:latin typeface="Courier New" pitchFamily="34" charset="0"/>
                <a:ea typeface="Courier New" pitchFamily="34" charset="-122"/>
                <a:cs typeface="Courier New" pitchFamily="34" charset="-120"/>
              </a:rPr>
              <a:t>GET /api/models</a:t>
            </a:r>
            <a:endParaRPr lang="en-US" sz="1150" dirty="0"/>
          </a:p>
        </p:txBody>
      </p:sp>
      <p:sp>
        <p:nvSpPr>
          <p:cNvPr id="31" name="Text 25"/>
          <p:cNvSpPr txBox="1"/>
          <p:nvPr/>
        </p:nvSpPr>
        <p:spPr>
          <a:xfrm>
            <a:off x="777240" y="5943600"/>
            <a:ext cx="2560320" cy="292608"/>
          </a:xfrm>
          <a:prstGeom prst="rect">
            <a:avLst/>
          </a:prstGeom>
          <a:noFill/>
          <a:ln/>
        </p:spPr>
        <p:txBody>
          <a:bodyPr wrap="square" lIns="0" tIns="0" rIns="0" bIns="0" rtlCol="0" anchor="ctr"/>
          <a:lstStyle/>
          <a:p>
            <a:pPr indent="0" marL="0">
              <a:buNone/>
            </a:pPr>
            <a:r>
              <a:rPr lang="en-US" sz="1150" dirty="0">
                <a:solidFill>
                  <a:srgbClr val="1F8A58"/>
                </a:solidFill>
                <a:latin typeface="Courier New" pitchFamily="34" charset="0"/>
                <a:ea typeface="Courier New" pitchFamily="34" charset="-122"/>
                <a:cs typeface="Courier New" pitchFamily="34" charset="-120"/>
              </a:rPr>
              <a:t>POST /api/chat</a:t>
            </a:r>
            <a:endParaRPr lang="en-US" sz="1150" dirty="0"/>
          </a:p>
        </p:txBody>
      </p:sp>
      <p:sp>
        <p:nvSpPr>
          <p:cNvPr id="32" name="Text 26"/>
          <p:cNvSpPr txBox="1"/>
          <p:nvPr/>
        </p:nvSpPr>
        <p:spPr>
          <a:xfrm>
            <a:off x="3383280" y="5943600"/>
            <a:ext cx="2560320" cy="292608"/>
          </a:xfrm>
          <a:prstGeom prst="rect">
            <a:avLst/>
          </a:prstGeom>
          <a:noFill/>
          <a:ln/>
        </p:spPr>
        <p:txBody>
          <a:bodyPr wrap="square" lIns="0" tIns="0" rIns="0" bIns="0" rtlCol="0" anchor="ctr"/>
          <a:lstStyle/>
          <a:p>
            <a:pPr indent="0" marL="0">
              <a:buNone/>
            </a:pPr>
            <a:r>
              <a:rPr lang="en-US" sz="1150" dirty="0">
                <a:solidFill>
                  <a:srgbClr val="1F8A58"/>
                </a:solidFill>
                <a:latin typeface="Courier New" pitchFamily="34" charset="0"/>
                <a:ea typeface="Courier New" pitchFamily="34" charset="-122"/>
                <a:cs typeface="Courier New" pitchFamily="34" charset="-120"/>
              </a:rPr>
              <a:t>POST /api/feedback</a:t>
            </a:r>
            <a:endParaRPr lang="en-US" sz="1150" dirty="0"/>
          </a:p>
        </p:txBody>
      </p:sp>
      <p:sp>
        <p:nvSpPr>
          <p:cNvPr id="33" name="Shape 27"/>
          <p:cNvSpPr/>
          <p:nvPr/>
        </p:nvSpPr>
        <p:spPr>
          <a:xfrm>
            <a:off x="6263640" y="4434840"/>
            <a:ext cx="5394960" cy="1874520"/>
          </a:xfrm>
          <a:prstGeom prst="roundRect">
            <a:avLst>
              <a:gd name="adj" fmla="val 5854"/>
            </a:avLst>
          </a:prstGeom>
          <a:solidFill>
            <a:srgbClr val="E6F4EC"/>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34" name="Text 28"/>
          <p:cNvSpPr txBox="1"/>
          <p:nvPr/>
        </p:nvSpPr>
        <p:spPr>
          <a:xfrm>
            <a:off x="6492240" y="4572000"/>
            <a:ext cx="4937760" cy="320040"/>
          </a:xfrm>
          <a:prstGeom prst="rect">
            <a:avLst/>
          </a:prstGeom>
          <a:noFill/>
          <a:ln/>
        </p:spPr>
        <p:txBody>
          <a:bodyPr wrap="square" lIns="0" tIns="0" rIns="0" bIns="0" rtlCol="0" anchor="ctr"/>
          <a:lstStyle/>
          <a:p>
            <a:pPr indent="0" marL="0">
              <a:buNone/>
            </a:pPr>
            <a:r>
              <a:rPr lang="en-US" sz="1400" b="1" dirty="0">
                <a:solidFill>
                  <a:srgbClr val="15231C"/>
                </a:solidFill>
                <a:latin typeface="Calibri" pitchFamily="34" charset="0"/>
                <a:ea typeface="Calibri" pitchFamily="34" charset="-122"/>
                <a:cs typeface="Calibri" pitchFamily="34" charset="-120"/>
              </a:rPr>
              <a:t>Quality</a:t>
            </a:r>
            <a:endParaRPr lang="en-US" sz="1400" dirty="0"/>
          </a:p>
        </p:txBody>
      </p:sp>
      <p:sp>
        <p:nvSpPr>
          <p:cNvPr id="35" name="Text 29"/>
          <p:cNvSpPr txBox="1"/>
          <p:nvPr/>
        </p:nvSpPr>
        <p:spPr>
          <a:xfrm>
            <a:off x="6492240" y="4937760"/>
            <a:ext cx="4937760" cy="1280160"/>
          </a:xfrm>
          <a:prstGeom prst="rect">
            <a:avLst/>
          </a:prstGeom>
          <a:noFill/>
          <a:ln/>
        </p:spPr>
        <p:txBody>
          <a:bodyPr wrap="square" lIns="0" tIns="0" rIns="0" bIns="0" rtlCol="0" anchor="ctr"/>
          <a:lstStyle/>
          <a:p>
            <a:pPr marL="342900" indent="-342900">
              <a:spcAft>
                <a:spcPts val="200"/>
              </a:spcAft>
              <a:buSzPct val="100000"/>
              <a:buChar char="•"/>
            </a:pPr>
            <a:r>
              <a:rPr lang="en-US" sz="1250" dirty="0">
                <a:solidFill>
                  <a:srgbClr val="15231C"/>
                </a:solidFill>
                <a:latin typeface="Calibri" pitchFamily="34" charset="0"/>
                <a:ea typeface="Calibri" pitchFamily="34" charset="-122"/>
                <a:cs typeface="Calibri" pitchFamily="34" charset="-120"/>
              </a:rPr>
              <a:t>23 automated tests (models, engine, API)</a:t>
            </a:r>
            <a:endParaRPr lang="en-US" sz="1250" dirty="0"/>
          </a:p>
          <a:p>
            <a:pPr marL="342900" indent="-342900">
              <a:spcAft>
                <a:spcPts val="200"/>
              </a:spcAft>
              <a:buSzPct val="100000"/>
              <a:buChar char="•"/>
            </a:pPr>
            <a:r>
              <a:rPr lang="en-US" sz="1250" dirty="0">
                <a:solidFill>
                  <a:srgbClr val="15231C"/>
                </a:solidFill>
                <a:latin typeface="Calibri" pitchFamily="34" charset="0"/>
                <a:ea typeface="Calibri" pitchFamily="34" charset="-122"/>
                <a:cs typeface="Calibri" pitchFamily="34" charset="-120"/>
              </a:rPr>
              <a:t>Python ↔ JavaScript prediction parity verified</a:t>
            </a:r>
            <a:endParaRPr lang="en-US" sz="1250" dirty="0"/>
          </a:p>
          <a:p>
            <a:pPr marL="342900" indent="-342900">
              <a:spcAft>
                <a:spcPts val="200"/>
              </a:spcAft>
              <a:buSzPct val="100000"/>
              <a:buChar char="•"/>
            </a:pPr>
            <a:r>
              <a:rPr lang="en-US" sz="1250" dirty="0">
                <a:solidFill>
                  <a:srgbClr val="15231C"/>
                </a:solidFill>
                <a:latin typeface="Calibri" pitchFamily="34" charset="0"/>
                <a:ea typeface="Calibri" pitchFamily="34" charset="-122"/>
                <a:cs typeface="Calibri" pitchFamily="34" charset="-120"/>
              </a:rPr>
              <a:t>1,000 plots scored in &lt; 0.3 s on a laptop</a:t>
            </a:r>
            <a:endParaRPr lang="en-US" sz="1250" dirty="0"/>
          </a:p>
          <a:p>
            <a:pPr marL="342900" indent="-342900">
              <a:spcAft>
                <a:spcPts val="200"/>
              </a:spcAft>
              <a:buSzPct val="100000"/>
              <a:buChar char="•"/>
            </a:pPr>
            <a:r>
              <a:rPr lang="en-US" sz="1250" dirty="0">
                <a:solidFill>
                  <a:srgbClr val="15231C"/>
                </a:solidFill>
                <a:latin typeface="Calibri" pitchFamily="34" charset="0"/>
                <a:ea typeface="Calibri" pitchFamily="34" charset="-122"/>
                <a:cs typeface="Calibri" pitchFamily="34" charset="-120"/>
              </a:rPr>
              <a:t>Retrain on real data: npm run train</a:t>
            </a:r>
            <a:endParaRPr lang="en-US" sz="1250" dirty="0"/>
          </a:p>
        </p:txBody>
      </p:sp>
      <p:sp>
        <p:nvSpPr>
          <p:cNvPr id="36" name="Text 30"/>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200" b="1" dirty="0">
                <a:solidFill>
                  <a:srgbClr val="15231C"/>
                </a:solidFill>
                <a:latin typeface="Calibri" pitchFamily="34" charset="0"/>
                <a:ea typeface="Calibri" pitchFamily="34" charset="-122"/>
                <a:cs typeface="Calibri" pitchFamily="34" charset="-120"/>
              </a:rPr>
              <a:t>Limitations &amp; roadmap</a:t>
            </a:r>
            <a:endParaRPr lang="en-US" sz="32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5E6B64"/>
                </a:solidFill>
                <a:latin typeface="Calibri" pitchFamily="34" charset="0"/>
                <a:ea typeface="Calibri" pitchFamily="34" charset="-122"/>
                <a:cs typeface="Calibri" pitchFamily="34" charset="-120"/>
              </a:rPr>
              <a:t>What a real deployment with KIAAR and GBL would add</a:t>
            </a:r>
            <a:endParaRPr lang="en-US" sz="1500" dirty="0"/>
          </a:p>
        </p:txBody>
      </p:sp>
      <p:sp>
        <p:nvSpPr>
          <p:cNvPr id="4" name="Shape 2"/>
          <p:cNvSpPr/>
          <p:nvPr/>
        </p:nvSpPr>
        <p:spPr>
          <a:xfrm>
            <a:off x="548640" y="1645920"/>
            <a:ext cx="4754880" cy="4663440"/>
          </a:xfrm>
          <a:prstGeom prst="roundRect">
            <a:avLst>
              <a:gd name="adj" fmla="val 2353"/>
            </a:avLst>
          </a:prstGeom>
          <a:solidFill>
            <a:srgbClr val="FDF3F2"/>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874520"/>
            <a:ext cx="548640" cy="548640"/>
          </a:xfrm>
          <a:prstGeom prst="ellipse">
            <a:avLst/>
          </a:prstGeom>
          <a:solidFill>
            <a:srgbClr val="D03B3B"/>
          </a:solidFill>
          <a:ln w="12700">
            <a:solidFill>
              <a:srgbClr val="D03B3B"/>
            </a:solidFill>
            <a:prstDash val="solid"/>
          </a:ln>
        </p:spPr>
      </p:sp>
      <p:pic>
        <p:nvPicPr>
          <p:cNvPr id="6" name="Image 0" descr="preencoded.png">    </p:cNvPr>
          <p:cNvPicPr>
            <a:picLocks noChangeAspect="1"/>
          </p:cNvPicPr>
          <p:nvPr/>
        </p:nvPicPr>
        <p:blipFill>
          <a:blip r:embed="rId1"/>
          <a:stretch>
            <a:fillRect/>
          </a:stretch>
        </p:blipFill>
        <p:spPr>
          <a:xfrm>
            <a:off x="897941" y="1995221"/>
            <a:ext cx="307238" cy="307238"/>
          </a:xfrm>
          <a:prstGeom prst="rect">
            <a:avLst/>
          </a:prstGeom>
        </p:spPr>
      </p:pic>
      <p:sp>
        <p:nvSpPr>
          <p:cNvPr id="7" name="Text 4"/>
          <p:cNvSpPr txBox="1"/>
          <p:nvPr/>
        </p:nvSpPr>
        <p:spPr>
          <a:xfrm>
            <a:off x="1463040" y="1938528"/>
            <a:ext cx="3657600" cy="411480"/>
          </a:xfrm>
          <a:prstGeom prst="rect">
            <a:avLst/>
          </a:prstGeom>
          <a:noFill/>
          <a:ln/>
        </p:spPr>
        <p:txBody>
          <a:bodyPr wrap="square" lIns="0" tIns="0" rIns="0" bIns="0" rtlCol="0" anchor="ctr"/>
          <a:lstStyle/>
          <a:p>
            <a:pPr indent="0" marL="0">
              <a:buNone/>
            </a:pPr>
            <a:r>
              <a:rPr lang="en-US" sz="1800" b="1" dirty="0">
                <a:solidFill>
                  <a:srgbClr val="15231C"/>
                </a:solidFill>
                <a:latin typeface="Calibri" pitchFamily="34" charset="0"/>
                <a:ea typeface="Calibri" pitchFamily="34" charset="-122"/>
                <a:cs typeface="Calibri" pitchFamily="34" charset="-120"/>
              </a:rPr>
              <a:t>Current limitations</a:t>
            </a:r>
            <a:endParaRPr lang="en-US" sz="1800" dirty="0"/>
          </a:p>
        </p:txBody>
      </p:sp>
      <p:sp>
        <p:nvSpPr>
          <p:cNvPr id="8" name="Text 5"/>
          <p:cNvSpPr txBox="1"/>
          <p:nvPr/>
        </p:nvSpPr>
        <p:spPr>
          <a:xfrm>
            <a:off x="822960" y="2606040"/>
            <a:ext cx="4297680" cy="34747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5231C"/>
                </a:solidFill>
                <a:latin typeface="Calibri" pitchFamily="34" charset="0"/>
                <a:ea typeface="Calibri" pitchFamily="34" charset="-122"/>
                <a:cs typeface="Calibri" pitchFamily="34" charset="-120"/>
              </a:rPr>
              <a:t>Labels come from FAO agronomy, not field records</a:t>
            </a:r>
            <a:endParaRPr lang="en-US" sz="1350" dirty="0"/>
          </a:p>
          <a:p>
            <a:pPr marL="342900" indent="-342900">
              <a:spcAft>
                <a:spcPts val="800"/>
              </a:spcAft>
              <a:buSzPct val="100000"/>
              <a:buChar char="•"/>
            </a:pPr>
            <a:r>
              <a:rPr lang="en-US" sz="1350" dirty="0">
                <a:solidFill>
                  <a:srgbClr val="15231C"/>
                </a:solidFill>
                <a:latin typeface="Calibri" pitchFamily="34" charset="0"/>
                <a:ea typeface="Calibri" pitchFamily="34" charset="-122"/>
                <a:cs typeface="Calibri" pitchFamily="34" charset="-120"/>
              </a:rPr>
              <a:t>Crop age is estimated (STEPS has the real planting dates)</a:t>
            </a:r>
            <a:endParaRPr lang="en-US" sz="1350" dirty="0"/>
          </a:p>
          <a:p>
            <a:pPr marL="342900" indent="-342900">
              <a:spcAft>
                <a:spcPts val="800"/>
              </a:spcAft>
              <a:buSzPct val="100000"/>
              <a:buChar char="•"/>
            </a:pPr>
            <a:r>
              <a:rPr lang="en-US" sz="1350" dirty="0">
                <a:solidFill>
                  <a:srgbClr val="15231C"/>
                </a:solidFill>
                <a:latin typeface="Calibri" pitchFamily="34" charset="0"/>
                <a:ea typeface="Calibri" pitchFamily="34" charset="-122"/>
                <a:cs typeface="Calibri" pitchFamily="34" charset="-120"/>
              </a:rPr>
              <a:t>One satellite snapshot; no daily time series yet</a:t>
            </a:r>
            <a:endParaRPr lang="en-US" sz="1350" dirty="0"/>
          </a:p>
          <a:p>
            <a:pPr marL="342900" indent="-342900">
              <a:spcAft>
                <a:spcPts val="800"/>
              </a:spcAft>
              <a:buSzPct val="100000"/>
              <a:buChar char="•"/>
            </a:pPr>
            <a:r>
              <a:rPr lang="en-US" sz="1350" dirty="0">
                <a:solidFill>
                  <a:srgbClr val="15231C"/>
                </a:solidFill>
                <a:latin typeface="Calibri" pitchFamily="34" charset="0"/>
                <a:ea typeface="Calibri" pitchFamily="34" charset="-122"/>
                <a:cs typeface="Calibri" pitchFamily="34" charset="-120"/>
              </a:rPr>
              <a:t>Translations are templates and need native-speaker review</a:t>
            </a:r>
            <a:endParaRPr lang="en-US" sz="1350" dirty="0"/>
          </a:p>
          <a:p>
            <a:pPr marL="342900" indent="-342900">
              <a:spcAft>
                <a:spcPts val="800"/>
              </a:spcAft>
              <a:buSzPct val="100000"/>
              <a:buChar char="•"/>
            </a:pPr>
            <a:r>
              <a:rPr lang="en-US" sz="1350" dirty="0">
                <a:solidFill>
                  <a:srgbClr val="15231C"/>
                </a:solidFill>
                <a:latin typeface="Calibri" pitchFamily="34" charset="0"/>
                <a:ea typeface="Calibri" pitchFamily="34" charset="-122"/>
                <a:cs typeface="Calibri" pitchFamily="34" charset="-120"/>
              </a:rPr>
              <a:t>Savings are estimates until validated in the field</a:t>
            </a:r>
            <a:endParaRPr lang="en-US" sz="1350" dirty="0"/>
          </a:p>
        </p:txBody>
      </p:sp>
      <p:sp>
        <p:nvSpPr>
          <p:cNvPr id="9" name="Shape 6"/>
          <p:cNvSpPr/>
          <p:nvPr/>
        </p:nvSpPr>
        <p:spPr>
          <a:xfrm>
            <a:off x="5577840" y="1645920"/>
            <a:ext cx="6080760" cy="804672"/>
          </a:xfrm>
          <a:prstGeom prst="roundRect">
            <a:avLst>
              <a:gd name="adj" fmla="val 13636"/>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5742432" y="1773936"/>
            <a:ext cx="548640" cy="548640"/>
          </a:xfrm>
          <a:prstGeom prst="ellipse">
            <a:avLst/>
          </a:prstGeom>
          <a:solidFill>
            <a:srgbClr val="1F8A58"/>
          </a:solidFill>
          <a:ln w="12700">
            <a:solidFill>
              <a:srgbClr val="1F8A58"/>
            </a:solidFill>
            <a:prstDash val="solid"/>
          </a:ln>
        </p:spPr>
      </p:sp>
      <p:pic>
        <p:nvPicPr>
          <p:cNvPr id="11" name="Image 1" descr="preencoded.png">    </p:cNvPr>
          <p:cNvPicPr>
            <a:picLocks noChangeAspect="1"/>
          </p:cNvPicPr>
          <p:nvPr/>
        </p:nvPicPr>
        <p:blipFill>
          <a:blip r:embed="rId2"/>
          <a:stretch>
            <a:fillRect/>
          </a:stretch>
        </p:blipFill>
        <p:spPr>
          <a:xfrm>
            <a:off x="5863133" y="1894637"/>
            <a:ext cx="307238" cy="307238"/>
          </a:xfrm>
          <a:prstGeom prst="rect">
            <a:avLst/>
          </a:prstGeom>
        </p:spPr>
      </p:pic>
      <p:sp>
        <p:nvSpPr>
          <p:cNvPr id="12" name="Text 8"/>
          <p:cNvSpPr txBox="1"/>
          <p:nvPr/>
        </p:nvSpPr>
        <p:spPr>
          <a:xfrm>
            <a:off x="6446520" y="1737360"/>
            <a:ext cx="502920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IoT soil sensors + real irrigation logs</a:t>
            </a:r>
            <a:endParaRPr lang="en-US" sz="1450" dirty="0"/>
          </a:p>
        </p:txBody>
      </p:sp>
      <p:sp>
        <p:nvSpPr>
          <p:cNvPr id="13" name="Text 9"/>
          <p:cNvSpPr txBox="1"/>
          <p:nvPr/>
        </p:nvSpPr>
        <p:spPr>
          <a:xfrm>
            <a:off x="6446520" y="2075688"/>
            <a:ext cx="5029200" cy="27432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retrain the same pipeline on ground truth</a:t>
            </a:r>
            <a:endParaRPr lang="en-US" sz="1200" dirty="0"/>
          </a:p>
        </p:txBody>
      </p:sp>
      <p:sp>
        <p:nvSpPr>
          <p:cNvPr id="14" name="Shape 10"/>
          <p:cNvSpPr/>
          <p:nvPr/>
        </p:nvSpPr>
        <p:spPr>
          <a:xfrm>
            <a:off x="5577840" y="2587752"/>
            <a:ext cx="6080760" cy="804672"/>
          </a:xfrm>
          <a:prstGeom prst="roundRect">
            <a:avLst>
              <a:gd name="adj" fmla="val 13636"/>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5742432" y="2715768"/>
            <a:ext cx="548640" cy="548640"/>
          </a:xfrm>
          <a:prstGeom prst="ellipse">
            <a:avLst/>
          </a:prstGeom>
          <a:solidFill>
            <a:srgbClr val="1F8A58"/>
          </a:solidFill>
          <a:ln w="12700">
            <a:solidFill>
              <a:srgbClr val="1F8A58"/>
            </a:solidFill>
            <a:prstDash val="solid"/>
          </a:ln>
        </p:spPr>
      </p:sp>
      <p:pic>
        <p:nvPicPr>
          <p:cNvPr id="16" name="Image 2" descr="preencoded.png">    </p:cNvPr>
          <p:cNvPicPr>
            <a:picLocks noChangeAspect="1"/>
          </p:cNvPicPr>
          <p:nvPr/>
        </p:nvPicPr>
        <p:blipFill>
          <a:blip r:embed="rId3"/>
          <a:stretch>
            <a:fillRect/>
          </a:stretch>
        </p:blipFill>
        <p:spPr>
          <a:xfrm>
            <a:off x="5863133" y="2836469"/>
            <a:ext cx="307238" cy="307238"/>
          </a:xfrm>
          <a:prstGeom prst="rect">
            <a:avLst/>
          </a:prstGeom>
        </p:spPr>
      </p:pic>
      <p:sp>
        <p:nvSpPr>
          <p:cNvPr id="17" name="Text 12"/>
          <p:cNvSpPr txBox="1"/>
          <p:nvPr/>
        </p:nvSpPr>
        <p:spPr>
          <a:xfrm>
            <a:off x="6446520" y="2679192"/>
            <a:ext cx="502920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IMD forecast &amp; Sentinel-2 feeds</a:t>
            </a:r>
            <a:endParaRPr lang="en-US" sz="1450" dirty="0"/>
          </a:p>
        </p:txBody>
      </p:sp>
      <p:sp>
        <p:nvSpPr>
          <p:cNvPr id="18" name="Text 13"/>
          <p:cNvSpPr txBox="1"/>
          <p:nvPr/>
        </p:nvSpPr>
        <p:spPr>
          <a:xfrm>
            <a:off x="6446520" y="3017520"/>
            <a:ext cx="5029200" cy="27432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daily automatic updates for every plot</a:t>
            </a:r>
            <a:endParaRPr lang="en-US" sz="1200" dirty="0"/>
          </a:p>
        </p:txBody>
      </p:sp>
      <p:sp>
        <p:nvSpPr>
          <p:cNvPr id="19" name="Shape 14"/>
          <p:cNvSpPr/>
          <p:nvPr/>
        </p:nvSpPr>
        <p:spPr>
          <a:xfrm>
            <a:off x="5577840" y="3529584"/>
            <a:ext cx="6080760" cy="804672"/>
          </a:xfrm>
          <a:prstGeom prst="roundRect">
            <a:avLst>
              <a:gd name="adj" fmla="val 13636"/>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5742432" y="3657600"/>
            <a:ext cx="548640" cy="548640"/>
          </a:xfrm>
          <a:prstGeom prst="ellipse">
            <a:avLst/>
          </a:prstGeom>
          <a:solidFill>
            <a:srgbClr val="1F8A58"/>
          </a:solidFill>
          <a:ln w="12700">
            <a:solidFill>
              <a:srgbClr val="1F8A58"/>
            </a:solidFill>
            <a:prstDash val="solid"/>
          </a:ln>
        </p:spPr>
      </p:sp>
      <p:pic>
        <p:nvPicPr>
          <p:cNvPr id="21" name="Image 3" descr="preencoded.png">    </p:cNvPr>
          <p:cNvPicPr>
            <a:picLocks noChangeAspect="1"/>
          </p:cNvPicPr>
          <p:nvPr/>
        </p:nvPicPr>
        <p:blipFill>
          <a:blip r:embed="rId4"/>
          <a:stretch>
            <a:fillRect/>
          </a:stretch>
        </p:blipFill>
        <p:spPr>
          <a:xfrm>
            <a:off x="5863133" y="3778301"/>
            <a:ext cx="307238" cy="307238"/>
          </a:xfrm>
          <a:prstGeom prst="rect">
            <a:avLst/>
          </a:prstGeom>
        </p:spPr>
      </p:pic>
      <p:sp>
        <p:nvSpPr>
          <p:cNvPr id="22" name="Text 16"/>
          <p:cNvSpPr txBox="1"/>
          <p:nvPr/>
        </p:nvSpPr>
        <p:spPr>
          <a:xfrm>
            <a:off x="6446520" y="3621024"/>
            <a:ext cx="502920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LLM + WhatsApp / IVR advisory</a:t>
            </a:r>
            <a:endParaRPr lang="en-US" sz="1450" dirty="0"/>
          </a:p>
        </p:txBody>
      </p:sp>
      <p:sp>
        <p:nvSpPr>
          <p:cNvPr id="23" name="Text 17"/>
          <p:cNvSpPr txBox="1"/>
          <p:nvPr/>
        </p:nvSpPr>
        <p:spPr>
          <a:xfrm>
            <a:off x="6446520" y="3959352"/>
            <a:ext cx="5029200" cy="27432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free-form questions in local languages</a:t>
            </a:r>
            <a:endParaRPr lang="en-US" sz="1200" dirty="0"/>
          </a:p>
        </p:txBody>
      </p:sp>
      <p:sp>
        <p:nvSpPr>
          <p:cNvPr id="24" name="Shape 18"/>
          <p:cNvSpPr/>
          <p:nvPr/>
        </p:nvSpPr>
        <p:spPr>
          <a:xfrm>
            <a:off x="5577840" y="4471416"/>
            <a:ext cx="6080760" cy="804672"/>
          </a:xfrm>
          <a:prstGeom prst="roundRect">
            <a:avLst>
              <a:gd name="adj" fmla="val 13636"/>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5742432" y="4599432"/>
            <a:ext cx="548640" cy="548640"/>
          </a:xfrm>
          <a:prstGeom prst="ellipse">
            <a:avLst/>
          </a:prstGeom>
          <a:solidFill>
            <a:srgbClr val="1F8A58"/>
          </a:solidFill>
          <a:ln w="12700">
            <a:solidFill>
              <a:srgbClr val="1F8A58"/>
            </a:solidFill>
            <a:prstDash val="solid"/>
          </a:ln>
        </p:spPr>
      </p:sp>
      <p:pic>
        <p:nvPicPr>
          <p:cNvPr id="26" name="Image 4" descr="preencoded.png">    </p:cNvPr>
          <p:cNvPicPr>
            <a:picLocks noChangeAspect="1"/>
          </p:cNvPicPr>
          <p:nvPr/>
        </p:nvPicPr>
        <p:blipFill>
          <a:blip r:embed="rId5"/>
          <a:stretch>
            <a:fillRect/>
          </a:stretch>
        </p:blipFill>
        <p:spPr>
          <a:xfrm>
            <a:off x="5863133" y="4720133"/>
            <a:ext cx="307238" cy="307238"/>
          </a:xfrm>
          <a:prstGeom prst="rect">
            <a:avLst/>
          </a:prstGeom>
        </p:spPr>
      </p:pic>
      <p:sp>
        <p:nvSpPr>
          <p:cNvPr id="27" name="Text 20"/>
          <p:cNvSpPr txBox="1"/>
          <p:nvPr/>
        </p:nvSpPr>
        <p:spPr>
          <a:xfrm>
            <a:off x="6446520" y="4562856"/>
            <a:ext cx="502920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Mobile app + STEPS integration</a:t>
            </a:r>
            <a:endParaRPr lang="en-US" sz="1450" dirty="0"/>
          </a:p>
        </p:txBody>
      </p:sp>
      <p:sp>
        <p:nvSpPr>
          <p:cNvPr id="28" name="Text 21"/>
          <p:cNvSpPr txBox="1"/>
          <p:nvPr/>
        </p:nvSpPr>
        <p:spPr>
          <a:xfrm>
            <a:off x="6446520" y="4901184"/>
            <a:ext cx="5029200" cy="27432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field staff and farmers on one platform</a:t>
            </a:r>
            <a:endParaRPr lang="en-US" sz="1200" dirty="0"/>
          </a:p>
        </p:txBody>
      </p:sp>
      <p:sp>
        <p:nvSpPr>
          <p:cNvPr id="29" name="Shape 22"/>
          <p:cNvSpPr/>
          <p:nvPr/>
        </p:nvSpPr>
        <p:spPr>
          <a:xfrm>
            <a:off x="5577840" y="5413248"/>
            <a:ext cx="6080760" cy="804672"/>
          </a:xfrm>
          <a:prstGeom prst="roundRect">
            <a:avLst>
              <a:gd name="adj" fmla="val 13636"/>
            </a:avLst>
          </a:prstGeom>
          <a:solidFill>
            <a:srgbClr val="FFFFFF"/>
          </a:solidFill>
          <a:ln w="9525">
            <a:solidFill>
              <a:srgbClr val="DDE5E0"/>
            </a:solidFill>
            <a:prstDash val="solid"/>
          </a:ln>
          <a:effectLst>
            <a:outerShdw sx="100000" sy="100000" kx="0" ky="0" algn="bl" rotWithShape="0" blurRad="101600" dist="25400" dir="5400000">
              <a:srgbClr val="000000">
                <a:alpha val="12000"/>
              </a:srgbClr>
            </a:outerShdw>
          </a:effectLst>
        </p:spPr>
      </p:sp>
      <p:sp>
        <p:nvSpPr>
          <p:cNvPr id="30" name="Shape 23"/>
          <p:cNvSpPr/>
          <p:nvPr/>
        </p:nvSpPr>
        <p:spPr>
          <a:xfrm>
            <a:off x="5742432" y="5541264"/>
            <a:ext cx="548640" cy="548640"/>
          </a:xfrm>
          <a:prstGeom prst="ellipse">
            <a:avLst/>
          </a:prstGeom>
          <a:solidFill>
            <a:srgbClr val="1F8A58"/>
          </a:solidFill>
          <a:ln w="12700">
            <a:solidFill>
              <a:srgbClr val="1F8A58"/>
            </a:solidFill>
            <a:prstDash val="solid"/>
          </a:ln>
        </p:spPr>
      </p:sp>
      <p:pic>
        <p:nvPicPr>
          <p:cNvPr id="31" name="Image 5" descr="preencoded.png">    </p:cNvPr>
          <p:cNvPicPr>
            <a:picLocks noChangeAspect="1"/>
          </p:cNvPicPr>
          <p:nvPr/>
        </p:nvPicPr>
        <p:blipFill>
          <a:blip r:embed="rId6"/>
          <a:stretch>
            <a:fillRect/>
          </a:stretch>
        </p:blipFill>
        <p:spPr>
          <a:xfrm>
            <a:off x="5863133" y="5661965"/>
            <a:ext cx="307238" cy="307238"/>
          </a:xfrm>
          <a:prstGeom prst="rect">
            <a:avLst/>
          </a:prstGeom>
        </p:spPr>
      </p:pic>
      <p:sp>
        <p:nvSpPr>
          <p:cNvPr id="32" name="Text 24"/>
          <p:cNvSpPr txBox="1"/>
          <p:nvPr/>
        </p:nvSpPr>
        <p:spPr>
          <a:xfrm>
            <a:off x="6446520" y="5504688"/>
            <a:ext cx="5029200" cy="329184"/>
          </a:xfrm>
          <a:prstGeom prst="rect">
            <a:avLst/>
          </a:prstGeom>
          <a:noFill/>
          <a:ln/>
        </p:spPr>
        <p:txBody>
          <a:bodyPr wrap="square" lIns="0" tIns="0" rIns="0" bIns="0" rtlCol="0" anchor="ctr"/>
          <a:lstStyle/>
          <a:p>
            <a:pPr indent="0" marL="0">
              <a:buNone/>
            </a:pPr>
            <a:r>
              <a:rPr lang="en-US" sz="1450" b="1" dirty="0">
                <a:solidFill>
                  <a:srgbClr val="15231C"/>
                </a:solidFill>
                <a:latin typeface="Calibri" pitchFamily="34" charset="0"/>
                <a:ea typeface="Calibri" pitchFamily="34" charset="-122"/>
                <a:cs typeface="Calibri" pitchFamily="34" charset="-120"/>
              </a:rPr>
              <a:t>Smart pump control</a:t>
            </a:r>
            <a:endParaRPr lang="en-US" sz="1450" dirty="0"/>
          </a:p>
        </p:txBody>
      </p:sp>
      <p:sp>
        <p:nvSpPr>
          <p:cNvPr id="33" name="Text 25"/>
          <p:cNvSpPr txBox="1"/>
          <p:nvPr/>
        </p:nvSpPr>
        <p:spPr>
          <a:xfrm>
            <a:off x="6446520" y="5843016"/>
            <a:ext cx="5029200" cy="27432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auto-start pumps inside the optimised windows</a:t>
            </a:r>
            <a:endParaRPr lang="en-US" sz="1200" dirty="0"/>
          </a:p>
        </p:txBody>
      </p:sp>
      <p:sp>
        <p:nvSpPr>
          <p:cNvPr id="34" name="Text 26"/>
          <p:cNvSpPr txBox="1"/>
          <p:nvPr/>
        </p:nvSpPr>
        <p:spPr>
          <a:xfrm>
            <a:off x="548640" y="6473952"/>
            <a:ext cx="11064240" cy="228600"/>
          </a:xfrm>
          <a:prstGeom prst="rect">
            <a:avLst/>
          </a:prstGeom>
          <a:noFill/>
          <a:ln/>
        </p:spPr>
        <p:txBody>
          <a:bodyPr wrap="square" lIns="0" tIns="0" rIns="0" bIns="0" rtlCol="0" anchor="ctr"/>
          <a:lstStyle/>
          <a:p>
            <a:pPr algn="r" indent="0" marL="0">
              <a:buNone/>
            </a:pPr>
            <a:r>
              <a:rPr lang="en-US" sz="950" dirty="0">
                <a:solidFill>
                  <a:srgbClr val="8A948F"/>
                </a:solidFill>
                <a:latin typeface="Calibri" pitchFamily="34" charset="0"/>
                <a:ea typeface="Calibri" pitchFamily="34" charset="-122"/>
                <a:cs typeface="Calibri" pitchFamily="34" charset="-120"/>
              </a:rPr>
              <a:t>SMA · Smart Moisture Advisor   |   Kartik Verma · Kushal Soni   |   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F22"/>
        </a:solidFill>
      </p:bgPr>
    </p:bg>
    <p:spTree>
      <p:nvGrpSpPr>
        <p:cNvPr id="1" name=""/>
        <p:cNvGrpSpPr/>
        <p:nvPr/>
      </p:nvGrpSpPr>
      <p:grpSpPr>
        <a:xfrm>
          <a:off x="0" y="0"/>
          <a:ext cx="0" cy="0"/>
          <a:chOff x="0" y="0"/>
          <a:chExt cx="0" cy="0"/>
        </a:xfrm>
      </p:grpSpPr>
      <p:sp>
        <p:nvSpPr>
          <p:cNvPr id="2" name="Shape 0"/>
          <p:cNvSpPr/>
          <p:nvPr/>
        </p:nvSpPr>
        <p:spPr>
          <a:xfrm>
            <a:off x="640080" y="731520"/>
            <a:ext cx="822960" cy="822960"/>
          </a:xfrm>
          <a:prstGeom prst="ellipse">
            <a:avLst/>
          </a:prstGeom>
          <a:solidFill>
            <a:srgbClr val="5FD49A"/>
          </a:solidFill>
          <a:ln w="12700">
            <a:solidFill>
              <a:srgbClr val="5FD49A"/>
            </a:solidFill>
            <a:prstDash val="solid"/>
          </a:ln>
        </p:spPr>
      </p:sp>
      <p:pic>
        <p:nvPicPr>
          <p:cNvPr id="3" name="Image 0" descr="preencoded.png">    </p:cNvPr>
          <p:cNvPicPr>
            <a:picLocks noChangeAspect="1"/>
          </p:cNvPicPr>
          <p:nvPr/>
        </p:nvPicPr>
        <p:blipFill>
          <a:blip r:embed="rId1"/>
          <a:stretch>
            <a:fillRect/>
          </a:stretch>
        </p:blipFill>
        <p:spPr>
          <a:xfrm>
            <a:off x="821131" y="912571"/>
            <a:ext cx="460858" cy="460858"/>
          </a:xfrm>
          <a:prstGeom prst="rect">
            <a:avLst/>
          </a:prstGeom>
        </p:spPr>
      </p:pic>
      <p:sp>
        <p:nvSpPr>
          <p:cNvPr id="4" name="Text 1"/>
          <p:cNvSpPr txBox="1"/>
          <p:nvPr/>
        </p:nvSpPr>
        <p:spPr>
          <a:xfrm>
            <a:off x="640080" y="1828800"/>
            <a:ext cx="6400800" cy="100584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Text 2"/>
          <p:cNvSpPr txBox="1"/>
          <p:nvPr/>
        </p:nvSpPr>
        <p:spPr>
          <a:xfrm>
            <a:off x="640080" y="2834640"/>
            <a:ext cx="6400800" cy="548640"/>
          </a:xfrm>
          <a:prstGeom prst="rect">
            <a:avLst/>
          </a:prstGeom>
          <a:noFill/>
          <a:ln/>
        </p:spPr>
        <p:txBody>
          <a:bodyPr wrap="square" lIns="0" tIns="0" rIns="0" bIns="0" rtlCol="0" anchor="ctr"/>
          <a:lstStyle/>
          <a:p>
            <a:pPr indent="0" marL="0">
              <a:buNone/>
            </a:pPr>
            <a:r>
              <a:rPr lang="en-US" sz="2400" i="1" dirty="0">
                <a:solidFill>
                  <a:srgbClr val="5FD49A"/>
                </a:solidFill>
                <a:latin typeface="Calibri" pitchFamily="34" charset="0"/>
                <a:ea typeface="Calibri" pitchFamily="34" charset="-122"/>
                <a:cs typeface="Calibri" pitchFamily="34" charset="-120"/>
              </a:rPr>
              <a:t>Right water, right time, right plot.</a:t>
            </a:r>
            <a:endParaRPr lang="en-US" sz="2400" dirty="0"/>
          </a:p>
        </p:txBody>
      </p:sp>
      <p:sp>
        <p:nvSpPr>
          <p:cNvPr id="6" name="Text 3"/>
          <p:cNvSpPr txBox="1"/>
          <p:nvPr/>
        </p:nvSpPr>
        <p:spPr>
          <a:xfrm>
            <a:off x="640080" y="3931920"/>
            <a:ext cx="6400800" cy="8229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Kartik Verma  ·  Kushal Soni</a:t>
            </a:r>
            <a:endParaRPr lang="en-US" sz="2000" dirty="0"/>
          </a:p>
          <a:p>
            <a:pPr indent="0" marL="0">
              <a:buNone/>
            </a:pPr>
            <a:r>
              <a:rPr lang="en-US" sz="1300" dirty="0">
                <a:solidFill>
                  <a:srgbClr val="9FC2AE"/>
                </a:solidFill>
                <a:latin typeface="Calibri" pitchFamily="34" charset="0"/>
                <a:ea typeface="Calibri" pitchFamily="34" charset="-122"/>
                <a:cs typeface="Calibri" pitchFamily="34" charset="-120"/>
              </a:rPr>
              <a:t>Use case KJS-AGR-01 · K J Somaiya Institute of Technology</a:t>
            </a:r>
            <a:endParaRPr lang="en-US" sz="2000" dirty="0"/>
          </a:p>
        </p:txBody>
      </p:sp>
      <p:sp>
        <p:nvSpPr>
          <p:cNvPr id="7" name="Shape 4"/>
          <p:cNvSpPr/>
          <p:nvPr/>
        </p:nvSpPr>
        <p:spPr>
          <a:xfrm>
            <a:off x="7589520" y="1737360"/>
            <a:ext cx="4023360" cy="3291840"/>
          </a:xfrm>
          <a:prstGeom prst="roundRect">
            <a:avLst>
              <a:gd name="adj" fmla="val 3333"/>
            </a:avLst>
          </a:prstGeom>
          <a:solidFill>
            <a:srgbClr val="164232"/>
          </a:solidFill>
          <a:ln w="12700">
            <a:solidFill>
              <a:srgbClr val="2A5A45"/>
            </a:solidFill>
            <a:prstDash val="solid"/>
          </a:ln>
        </p:spPr>
      </p:sp>
      <p:sp>
        <p:nvSpPr>
          <p:cNvPr id="8" name="Text 5"/>
          <p:cNvSpPr txBox="1"/>
          <p:nvPr/>
        </p:nvSpPr>
        <p:spPr>
          <a:xfrm>
            <a:off x="7863840" y="1965960"/>
            <a:ext cx="3566160" cy="411480"/>
          </a:xfrm>
          <a:prstGeom prst="rect">
            <a:avLst/>
          </a:prstGeom>
          <a:noFill/>
          <a:ln/>
        </p:spPr>
        <p:txBody>
          <a:bodyPr wrap="square" lIns="0" tIns="0" rIns="0" bIns="0" rtlCol="0" anchor="ctr"/>
          <a:lstStyle/>
          <a:p>
            <a:pPr indent="0" marL="0">
              <a:buNone/>
            </a:pPr>
            <a:r>
              <a:rPr lang="en-US" sz="1800" b="1" dirty="0">
                <a:solidFill>
                  <a:srgbClr val="5FD49A"/>
                </a:solidFill>
                <a:latin typeface="Calibri" pitchFamily="34" charset="0"/>
                <a:ea typeface="Calibri" pitchFamily="34" charset="-122"/>
                <a:cs typeface="Calibri" pitchFamily="34" charset="-120"/>
              </a:rPr>
              <a:t>Run the demo</a:t>
            </a:r>
            <a:endParaRPr lang="en-US" sz="1800" dirty="0"/>
          </a:p>
        </p:txBody>
      </p:sp>
      <p:sp>
        <p:nvSpPr>
          <p:cNvPr id="9" name="Text 6"/>
          <p:cNvSpPr txBox="1"/>
          <p:nvPr/>
        </p:nvSpPr>
        <p:spPr>
          <a:xfrm>
            <a:off x="7863840" y="2468880"/>
            <a:ext cx="3566160" cy="109728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npm install</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npm start</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http://localhost:3000</a:t>
            </a:r>
            <a:endParaRPr lang="en-US" sz="1500" dirty="0"/>
          </a:p>
        </p:txBody>
      </p:sp>
      <p:sp>
        <p:nvSpPr>
          <p:cNvPr id="10" name="Text 7"/>
          <p:cNvSpPr txBox="1"/>
          <p:nvPr/>
        </p:nvSpPr>
        <p:spPr>
          <a:xfrm>
            <a:off x="7863840" y="3749040"/>
            <a:ext cx="3566160" cy="914400"/>
          </a:xfrm>
          <a:prstGeom prst="rect">
            <a:avLst/>
          </a:prstGeom>
          <a:noFill/>
          <a:ln/>
        </p:spPr>
        <p:txBody>
          <a:bodyPr wrap="square" lIns="0" tIns="0" rIns="0" bIns="0" rtlCol="0" anchor="ctr"/>
          <a:lstStyle/>
          <a:p>
            <a:pPr indent="0" marL="0">
              <a:buNone/>
            </a:pPr>
            <a:r>
              <a:rPr lang="en-US" sz="1300" dirty="0">
                <a:solidFill>
                  <a:srgbClr val="D8EADF"/>
                </a:solidFill>
                <a:latin typeface="Calibri" pitchFamily="34" charset="0"/>
                <a:ea typeface="Calibri" pitchFamily="34" charset="-122"/>
                <a:cs typeface="Calibri" pitchFamily="34" charset="-120"/>
              </a:rPr>
              <a:t>Questions welcome - we would love to try SMA on real KIAAR field data.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K J Somaiya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 - Smart Moisture Advisor</dc:title>
  <dc:subject>PptxGenJS Presentation</dc:subject>
  <dc:creator>Kartik Verma, Kushal Soni</dc:creator>
  <cp:lastModifiedBy>Kartik Verma, Kushal Soni</cp:lastModifiedBy>
  <cp:revision>1</cp:revision>
  <dcterms:created xsi:type="dcterms:W3CDTF">2026-09-30T11:54:08Z</dcterms:created>
  <dcterms:modified xsi:type="dcterms:W3CDTF">2026-09-30T11:54:08Z</dcterms:modified>
</cp:coreProperties>
</file>